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80F1F"/>
              </a:gs>
              <a:gs pos="100000">
                <a:srgbClr val="1E293B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49640" y="1234440"/>
            <a:ext cx="4389120" cy="4389120"/>
          </a:xfrm>
          <a:prstGeom prst="ellipse">
            <a:avLst/>
          </a:prstGeom>
          <a:noFill/>
          <a:ln w="12700">
            <a:solidFill>
              <a:srgbClr val="265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46920" y="2331720"/>
            <a:ext cx="2194560" cy="2194560"/>
          </a:xfrm>
          <a:prstGeom prst="ellipse">
            <a:avLst/>
          </a:prstGeom>
          <a:noFill/>
          <a:ln w="12700">
            <a:solidFill>
              <a:srgbClr val="433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566928"/>
            <a:ext cx="4206240" cy="365760"/>
          </a:xfrm>
          <a:prstGeom prst="roundRect">
            <a:avLst>
              <a:gd name="adj" fmla="val 40000"/>
            </a:avLst>
          </a:prstGeom>
          <a:solidFill>
            <a:srgbClr val="0632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Arial"/>
                <a:ea typeface="PingFang SC"/>
              </a:rPr>
              <a:t>PERSONAL PORTFOLIO · DATA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03504"/>
            <a:ext cx="363931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4A3B8"/>
                </a:solidFill>
                <a:latin typeface="Arial"/>
                <a:ea typeface="PingFang SC"/>
              </a:rPr>
              <a:t>Jiayu Yan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91640"/>
            <a:ext cx="978408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  <a:ea typeface="PingFang SC"/>
              </a:rPr>
              <a:t>China’s New Energy Vehicle Transition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401568"/>
            <a:ext cx="1463040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639312"/>
            <a:ext cx="905256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  <a:ea typeface="PingFang SC"/>
              </a:rPr>
              <a:t>From public data to reproducible industry analysis and sustainability storytelling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870448"/>
            <a:ext cx="2834640" cy="402336"/>
          </a:xfrm>
          <a:prstGeom prst="roundRect">
            <a:avLst>
              <a:gd name="adj" fmla="val 40000"/>
            </a:avLst>
          </a:prstGeom>
          <a:solidFill>
            <a:srgbClr val="07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6044184"/>
            <a:ext cx="82296" cy="82296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5870448"/>
            <a:ext cx="2322576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PingFang SC"/>
              </a:rPr>
              <a:t>Data Governance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21024" y="5870448"/>
            <a:ext cx="2523744" cy="402336"/>
          </a:xfrm>
          <a:prstGeom prst="roundRect">
            <a:avLst>
              <a:gd name="adj" fmla="val 40000"/>
            </a:avLst>
          </a:prstGeom>
          <a:solidFill>
            <a:srgbClr val="252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840480" y="6044184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5870448"/>
            <a:ext cx="2011679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PingFang SC"/>
              </a:rPr>
              <a:t>Visualization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5870448"/>
            <a:ext cx="2679192" cy="402336"/>
          </a:xfrm>
          <a:prstGeom prst="roundRect">
            <a:avLst>
              <a:gd name="adj" fmla="val 40000"/>
            </a:avLst>
          </a:prstGeom>
          <a:solidFill>
            <a:srgbClr val="0A3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2240" y="6044184"/>
            <a:ext cx="82296" cy="822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5870448"/>
            <a:ext cx="2167128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PingFang SC"/>
              </a:rPr>
              <a:t>Sustainability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9992" y="5870448"/>
            <a:ext cx="1435608" cy="402336"/>
          </a:xfrm>
          <a:prstGeom prst="roundRect">
            <a:avLst>
              <a:gd name="adj" fmla="val 40000"/>
            </a:avLst>
          </a:prstGeom>
          <a:solidFill>
            <a:srgbClr val="3C2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9448" y="6044184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82328" y="5870448"/>
            <a:ext cx="923544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PingFang SC"/>
              </a:rPr>
              <a:t>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7396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284C7"/>
                </a:solidFill>
                <a:latin typeface="Arial"/>
                <a:ea typeface="PingFang SC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73968" cy="713232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Arial"/>
                <a:ea typeface="PingFang SC"/>
              </a:rPr>
              <a:t>I rebuilt a course project into a four-layer evidence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051560" cy="32004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4480" y="1124712"/>
            <a:ext cx="10122408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112264"/>
            <a:ext cx="11173968" cy="530352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12264"/>
            <a:ext cx="54864" cy="530352"/>
          </a:xfrm>
          <a:prstGeom prst="roundRect">
            <a:avLst>
              <a:gd name="adj" fmla="val 4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2185416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18541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075688"/>
            <a:ext cx="6492240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Arial"/>
                <a:ea typeface="PingFang SC"/>
              </a:rPr>
              <a:t>Research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075688"/>
            <a:ext cx="3657600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Arial"/>
                <a:ea typeface="PingFang SC"/>
              </a:rPr>
              <a:t>Moving from growth to transition quality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34056"/>
            <a:ext cx="11173968" cy="530352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734056"/>
            <a:ext cx="54864" cy="530352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" y="2807208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80720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PingFang S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2697480"/>
            <a:ext cx="6492240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Arial"/>
                <a:ea typeface="PingFang SC"/>
              </a:rPr>
              <a:t>Data and method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697480"/>
            <a:ext cx="3657600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Arial"/>
                <a:ea typeface="PingFang SC"/>
              </a:rPr>
              <a:t>Aligning definitions before interpreting results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355848"/>
            <a:ext cx="11173968" cy="530352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355848"/>
            <a:ext cx="54864" cy="530352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3429000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42900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PingFang S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319272"/>
            <a:ext cx="6492240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Arial"/>
                <a:ea typeface="PingFang SC"/>
              </a:rPr>
              <a:t>Findings and interpretation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319272"/>
            <a:ext cx="3657600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Arial"/>
                <a:ea typeface="PingFang SC"/>
              </a:rPr>
              <a:t>Turning trends into structural judgments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977640"/>
            <a:ext cx="11173968" cy="530352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3977640"/>
            <a:ext cx="54864" cy="530352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3232" y="4050792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05079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PingFang SC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3941064"/>
            <a:ext cx="6492240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Arial"/>
                <a:ea typeface="PingFang SC"/>
              </a:rPr>
              <a:t>Reflection and extension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941064"/>
            <a:ext cx="3657600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Arial"/>
                <a:ea typeface="PingFang SC"/>
              </a:rPr>
              <a:t>Making assumptions and next steps explicit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199632"/>
            <a:ext cx="11173968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291072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rial"/>
                <a:ea typeface="PingFang SC"/>
              </a:rPr>
              <a:t>Personal portfolio project · Data through Dec 2025 · Public statistics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1320" y="6291072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rial"/>
                <a:ea typeface="PingFang SC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80F1F"/>
              </a:gs>
              <a:gs pos="100000">
                <a:srgbClr val="1E293B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49640" y="1234440"/>
            <a:ext cx="4389120" cy="4389120"/>
          </a:xfrm>
          <a:prstGeom prst="ellipse">
            <a:avLst/>
          </a:prstGeom>
          <a:noFill/>
          <a:ln w="12700">
            <a:solidFill>
              <a:srgbClr val="265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46920" y="2331720"/>
            <a:ext cx="2194560" cy="2194560"/>
          </a:xfrm>
          <a:prstGeom prst="ellipse">
            <a:avLst/>
          </a:prstGeom>
          <a:noFill/>
          <a:ln w="12700">
            <a:solidFill>
              <a:srgbClr val="433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969264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400" b="1">
                <a:solidFill>
                  <a:srgbClr val="2C7AA3"/>
                </a:solidFill>
                <a:latin typeface="Arial"/>
                <a:ea typeface="PingFang SC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926080"/>
            <a:ext cx="1463040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182112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  <a:ea typeface="PingFang SC"/>
              </a:rPr>
              <a:t>Research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526280"/>
            <a:ext cx="89611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4A3B8"/>
                </a:solidFill>
                <a:latin typeface="Arial"/>
                <a:ea typeface="PingFang SC"/>
              </a:rPr>
              <a:t>Moving from industry growth to transition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7396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284C7"/>
                </a:solidFill>
                <a:latin typeface="Arial"/>
                <a:ea typeface="PingFang SC"/>
              </a:rPr>
              <a:t>01 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73968" cy="713232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Arial"/>
                <a:ea typeface="PingFang SC"/>
              </a:rPr>
              <a:t>This is not a collection of growth charts; it is a framework linking scale, infrastructure, technology and emissions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051560" cy="32004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4480" y="1124712"/>
            <a:ext cx="10122408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40763"/>
            <a:ext cx="5477256" cy="27432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40763"/>
            <a:ext cx="5477256" cy="54864"/>
          </a:xfrm>
          <a:prstGeom prst="rect">
            <a:avLst/>
          </a:prstGeom>
          <a:gradFill rotWithShape="1">
            <a:gsLst>
              <a:gs pos="0">
                <a:srgbClr val="94A3B8"/>
              </a:gs>
              <a:gs pos="100000">
                <a:srgbClr val="CAD1DC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0664" y="1796795"/>
            <a:ext cx="2377440" cy="365760"/>
          </a:xfrm>
          <a:prstGeom prst="roundRect">
            <a:avLst>
              <a:gd name="adj" fmla="val 40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796795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Arial"/>
                <a:ea typeface="PingFang SC"/>
              </a:rPr>
              <a:t>ORIGINAL 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290570"/>
            <a:ext cx="500176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75569"/>
                </a:solidFill>
                <a:latin typeface="Arial"/>
                <a:ea typeface="PingFang SC"/>
              </a:rPr>
              <a:t>New energy vehicles are growing fast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" y="3012947"/>
            <a:ext cx="292608" cy="292608"/>
          </a:xfrm>
          <a:prstGeom prst="roundRect">
            <a:avLst>
              <a:gd name="adj" fmla="val 40000"/>
            </a:avLst>
          </a:prstGeom>
          <a:solidFill>
            <a:srgbClr val="E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3012947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Arial"/>
                <a:ea typeface="PingFang SC"/>
              </a:rPr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967227"/>
            <a:ext cx="4562856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Arial"/>
                <a:ea typeface="PingFang SC"/>
              </a:rPr>
              <a:t>Shows rising sales without explaining structural change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" y="3396994"/>
            <a:ext cx="292608" cy="292608"/>
          </a:xfrm>
          <a:prstGeom prst="roundRect">
            <a:avLst>
              <a:gd name="adj" fmla="val 40000"/>
            </a:avLst>
          </a:prstGeom>
          <a:solidFill>
            <a:srgbClr val="E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339699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Arial"/>
                <a:ea typeface="PingFang SC"/>
              </a:rPr>
              <a:t>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351275"/>
            <a:ext cx="4562856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Arial"/>
                <a:ea typeface="PingFang SC"/>
              </a:rPr>
              <a:t>Places indicators side by side without connecting the questions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" y="3781042"/>
            <a:ext cx="292608" cy="292608"/>
          </a:xfrm>
          <a:prstGeom prst="roundRect">
            <a:avLst>
              <a:gd name="adj" fmla="val 40000"/>
            </a:avLst>
          </a:prstGeom>
          <a:solidFill>
            <a:srgbClr val="E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378104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Arial"/>
                <a:ea typeface="PingFang SC"/>
              </a:rPr>
              <a:t>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35323"/>
            <a:ext cx="4562856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Arial"/>
                <a:ea typeface="PingFang SC"/>
              </a:rPr>
              <a:t>Risks turning correlation into an unsupported causal claim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1540763"/>
            <a:ext cx="5477256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1540763"/>
            <a:ext cx="5477256" cy="54864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0C2E3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37376" y="1796795"/>
            <a:ext cx="2377440" cy="365760"/>
          </a:xfrm>
          <a:prstGeom prst="roundRect">
            <a:avLst>
              <a:gd name="adj" fmla="val 40000"/>
            </a:avLst>
          </a:prstGeom>
          <a:solidFill>
            <a:srgbClr val="DC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1796795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284C7"/>
                </a:solidFill>
                <a:latin typeface="Arial"/>
                <a:ea typeface="PingFang SC"/>
              </a:rPr>
              <a:t>REBUILT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2290570"/>
            <a:ext cx="500176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Arial"/>
                <a:ea typeface="PingFang SC"/>
              </a:rPr>
              <a:t>Is industrial expansion becoming system capability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37376" y="3012947"/>
            <a:ext cx="292608" cy="292608"/>
          </a:xfrm>
          <a:prstGeom prst="roundRect">
            <a:avLst>
              <a:gd name="adj" fmla="val 40000"/>
            </a:avLst>
          </a:prstGeom>
          <a:solidFill>
            <a:srgbClr val="CC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3012947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284C7"/>
                </a:solidFill>
                <a:latin typeface="Arial"/>
                <a:ea typeface="PingFang SC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2967227"/>
            <a:ext cx="4562856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Arial"/>
                <a:ea typeface="PingFang SC"/>
              </a:rPr>
              <a:t>Use penetration to identify the shift from niche to mainstream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37376" y="3396994"/>
            <a:ext cx="292608" cy="292608"/>
          </a:xfrm>
          <a:prstGeom prst="roundRect">
            <a:avLst>
              <a:gd name="adj" fmla="val 40000"/>
            </a:avLst>
          </a:prstGeom>
          <a:solidFill>
            <a:srgbClr val="CC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339699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284C7"/>
                </a:solidFill>
                <a:latin typeface="Arial"/>
                <a:ea typeface="PingFang SC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3351275"/>
            <a:ext cx="4562856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Arial"/>
                <a:ea typeface="PingFang SC"/>
              </a:rPr>
              <a:t>Use vehicle-to-charger ratios and charger mix to assess support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37376" y="3781042"/>
            <a:ext cx="292608" cy="292608"/>
          </a:xfrm>
          <a:prstGeom prst="roundRect">
            <a:avLst>
              <a:gd name="adj" fmla="val 40000"/>
            </a:avLst>
          </a:prstGeom>
          <a:solidFill>
            <a:srgbClr val="CC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378104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284C7"/>
                </a:solidFill>
                <a:latin typeface="Arial"/>
                <a:ea typeface="PingFang SC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3735323"/>
            <a:ext cx="4562856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Arial"/>
                <a:ea typeface="PingFang SC"/>
              </a:rPr>
              <a:t>Connect batteries, powertrains, exports and emissions as one system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411978"/>
            <a:ext cx="11173968" cy="123444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080F1F"/>
              </a:gs>
              <a:gs pos="100000">
                <a:srgbClr val="1E293B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4411978"/>
            <a:ext cx="91440" cy="123444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8B5CF6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4539994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rial"/>
                <a:ea typeface="PingFang SC"/>
              </a:rPr>
              <a:t>SO WHAT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4777739"/>
            <a:ext cx="10515600" cy="758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PingFang SC"/>
              </a:rPr>
              <a:t>The portfolio demonstrates how I turn an open topic into measurable, explainable and reproducible analytical tasks—not simply how I make charts.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199632"/>
            <a:ext cx="11173968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291072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rial"/>
                <a:ea typeface="PingFang SC"/>
              </a:rPr>
              <a:t>Personal portfolio project · Data through Dec 2025 · Public statistics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61320" y="6291072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rial"/>
                <a:ea typeface="PingFang SC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7396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284C7"/>
                </a:solidFill>
                <a:latin typeface="Arial"/>
                <a:ea typeface="PingFang SC"/>
              </a:rPr>
              <a:t>01 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73968" cy="713232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Arial"/>
                <a:ea typeface="PingFang SC"/>
              </a:rPr>
              <a:t>Four questions turn a macro industry story into testable indicators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051560" cy="32004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4480" y="1124712"/>
            <a:ext cx="10122408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822960" cy="9921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5BAFDB"/>
                </a:solidFill>
                <a:latin typeface="Arial"/>
                <a:ea typeface="PingFang SC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98448" y="1389888"/>
            <a:ext cx="27432" cy="809244"/>
          </a:xfrm>
          <a:prstGeom prst="rect">
            <a:avLst/>
          </a:prstGeom>
          <a:solidFill>
            <a:srgbClr val="9AC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36192" y="1353312"/>
            <a:ext cx="10140696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Arial"/>
                <a:ea typeface="PingFang SC"/>
              </a:rPr>
              <a:t>When does scale cross a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1682495"/>
            <a:ext cx="10140696" cy="5349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Arial"/>
                <a:ea typeface="PingFang SC"/>
              </a:rPr>
              <a:t>Use sales and new-car penetration together to identify the shift from policy demonstration to mass-market adoption.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00300"/>
            <a:ext cx="822960" cy="9921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B495F9"/>
                </a:solidFill>
                <a:latin typeface="Arial"/>
                <a:ea typeface="PingFang SC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98448" y="2491740"/>
            <a:ext cx="27432" cy="809244"/>
          </a:xfrm>
          <a:prstGeom prst="rect">
            <a:avLst/>
          </a:prstGeom>
          <a:solidFill>
            <a:srgbClr val="D1B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36192" y="2455164"/>
            <a:ext cx="10140696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Arial"/>
                <a:ea typeface="PingFang SC"/>
              </a:rPr>
              <a:t>Does infrastructure keep 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2784348"/>
            <a:ext cx="10140696" cy="5349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Arial"/>
                <a:ea typeface="PingFang SC"/>
              </a:rPr>
              <a:t>Compare vehicle stock, charger inventory and the vehicle-to-charger ratio to assess charging support.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02152"/>
            <a:ext cx="822960" cy="9921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4D2AD"/>
                </a:solidFill>
                <a:latin typeface="Arial"/>
                <a:ea typeface="PingFang SC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98448" y="3593592"/>
            <a:ext cx="27432" cy="809244"/>
          </a:xfrm>
          <a:prstGeom prst="rect">
            <a:avLst/>
          </a:prstGeom>
          <a:solidFill>
            <a:srgbClr val="9FE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36192" y="3557016"/>
            <a:ext cx="10140696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Arial"/>
                <a:ea typeface="PingFang SC"/>
              </a:rPr>
              <a:t>How are technologies reallocated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886200"/>
            <a:ext cx="10140696" cy="5349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Arial"/>
                <a:ea typeface="PingFang SC"/>
              </a:rPr>
              <a:t>Compare LFP versus NCM batteries and BEV versus PHEV powertrains instead of looking only at totals.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04004"/>
            <a:ext cx="822960" cy="9921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8C060"/>
                </a:solidFill>
                <a:latin typeface="Arial"/>
                <a:ea typeface="PingFang SC"/>
              </a:rPr>
              <a:t>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98448" y="4695444"/>
            <a:ext cx="27432" cy="809244"/>
          </a:xfrm>
          <a:prstGeom prst="rect">
            <a:avLst/>
          </a:prstGeom>
          <a:solidFill>
            <a:srgbClr val="FBD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36192" y="4658868"/>
            <a:ext cx="10140696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Arial"/>
                <a:ea typeface="PingFang SC"/>
              </a:rPr>
              <a:t>How does growth connect to climate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6192" y="4988052"/>
            <a:ext cx="10140696" cy="5349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Arial"/>
                <a:ea typeface="PingFang SC"/>
              </a:rPr>
              <a:t>Present official statistics and scenario estimates side by side, separating facts, inference and assumptions.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199632"/>
            <a:ext cx="11173968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291072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rial"/>
                <a:ea typeface="PingFang SC"/>
              </a:rPr>
              <a:t>Personal portfolio project · Data through Dec 2025 · Public statistics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1320" y="6291072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rial"/>
                <a:ea typeface="PingFang SC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7396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284C7"/>
                </a:solidFill>
                <a:latin typeface="Arial"/>
                <a:ea typeface="PingFang SC"/>
              </a:rPr>
              <a:t>01 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73968" cy="713232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Arial"/>
                <a:ea typeface="PingFang SC"/>
              </a:rPr>
              <a:t>The project’s main contribution is a traceable chain from fragmented annual statistics to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051560" cy="32004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4480" y="1124712"/>
            <a:ext cx="10122408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075688"/>
            <a:ext cx="2587752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75688"/>
            <a:ext cx="2587752" cy="54864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0C2E3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276856"/>
            <a:ext cx="2258568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284C7"/>
                </a:solidFill>
                <a:latin typeface="Arial"/>
                <a:ea typeface="PingFang SC"/>
              </a:rPr>
              <a:t>STAGE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569464"/>
            <a:ext cx="225856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Arial"/>
                <a:ea typeface="PingFang SC"/>
              </a:rPr>
              <a:t>Frame the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063240"/>
            <a:ext cx="2258568" cy="7955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Arial"/>
                <a:ea typeface="PingFang SC"/>
              </a:rPr>
              <a:t>Decompose the transition into scale, infrastructure, technology, globalization and low-carbon impact.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3895343"/>
            <a:ext cx="2258568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986784"/>
            <a:ext cx="225856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284C7"/>
                </a:solidFill>
                <a:latin typeface="Arial"/>
                <a:ea typeface="PingFang SC"/>
              </a:rPr>
              <a:t>5 dimensions</a:t>
            </a:r>
          </a:p>
        </p:txBody>
      </p:sp>
      <p:sp>
        <p:nvSpPr>
          <p:cNvPr id="14" name="Chevron 13"/>
          <p:cNvSpPr/>
          <p:nvPr/>
        </p:nvSpPr>
        <p:spPr>
          <a:xfrm>
            <a:off x="3136391" y="3140964"/>
            <a:ext cx="182879" cy="201168"/>
          </a:xfrm>
          <a:prstGeom prst="chevron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64991" y="2075688"/>
            <a:ext cx="2587752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64991" y="2075688"/>
            <a:ext cx="2587752" cy="54864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C5AEF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276856"/>
            <a:ext cx="2258568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B5CF6"/>
                </a:solidFill>
                <a:latin typeface="Arial"/>
                <a:ea typeface="PingFang SC"/>
              </a:rPr>
              <a:t>STAGE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2569464"/>
            <a:ext cx="225856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Arial"/>
                <a:ea typeface="PingFang SC"/>
              </a:rPr>
              <a:t>Assemble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3063240"/>
            <a:ext cx="2258568" cy="7955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Arial"/>
                <a:ea typeface="PingFang SC"/>
              </a:rPr>
              <a:t>Compile public statistics from CAAM, MPS, EVCIPA, the battery alliance and customs sources.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9584" y="3895343"/>
            <a:ext cx="2258568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9584" y="3986784"/>
            <a:ext cx="225856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B5CF6"/>
                </a:solidFill>
                <a:latin typeface="Arial"/>
                <a:ea typeface="PingFang SC"/>
              </a:rPr>
              <a:t>7 datasets</a:t>
            </a:r>
          </a:p>
        </p:txBody>
      </p:sp>
      <p:sp>
        <p:nvSpPr>
          <p:cNvPr id="22" name="Chevron 21"/>
          <p:cNvSpPr/>
          <p:nvPr/>
        </p:nvSpPr>
        <p:spPr>
          <a:xfrm>
            <a:off x="5998464" y="3140964"/>
            <a:ext cx="182879" cy="201168"/>
          </a:xfrm>
          <a:prstGeom prst="chevron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27064" y="2075688"/>
            <a:ext cx="2587752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27064" y="2075688"/>
            <a:ext cx="2587752" cy="54864"/>
          </a:xfrm>
          <a:prstGeom prst="rect">
            <a:avLst/>
          </a:prstGeom>
          <a:gradFill rotWithShape="1">
            <a:gsLst>
              <a:gs pos="0">
                <a:srgbClr val="10B981"/>
              </a:gs>
              <a:gs pos="100000">
                <a:srgbClr val="88DCC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1655" y="2276856"/>
            <a:ext cx="2258568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  <a:ea typeface="PingFang SC"/>
              </a:rPr>
              <a:t>STAGE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5" y="2569464"/>
            <a:ext cx="225856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Arial"/>
                <a:ea typeface="PingFang SC"/>
              </a:rPr>
              <a:t>Build indicators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5" y="3063240"/>
            <a:ext cx="2258568" cy="7955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Arial"/>
                <a:ea typeface="PingFang SC"/>
              </a:rPr>
              <a:t>Calculate penetration, vehicle-to-charger ratios, composition shares, export shares and scenario reductions.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91655" y="3895343"/>
            <a:ext cx="2258568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5" y="3986784"/>
            <a:ext cx="225856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  <a:ea typeface="PingFang SC"/>
              </a:rPr>
              <a:t>Recomputable metrics</a:t>
            </a:r>
          </a:p>
        </p:txBody>
      </p:sp>
      <p:sp>
        <p:nvSpPr>
          <p:cNvPr id="30" name="Chevron 29"/>
          <p:cNvSpPr/>
          <p:nvPr/>
        </p:nvSpPr>
        <p:spPr>
          <a:xfrm>
            <a:off x="8860536" y="3140964"/>
            <a:ext cx="182879" cy="201168"/>
          </a:xfrm>
          <a:prstGeom prst="chevron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89136" y="2075688"/>
            <a:ext cx="2587752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89136" y="2075688"/>
            <a:ext cx="2587752" cy="54864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FACE8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53728" y="2276856"/>
            <a:ext cx="2258568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  <a:ea typeface="PingFang SC"/>
              </a:rPr>
              <a:t>STAGE 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3728" y="2569464"/>
            <a:ext cx="225856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Arial"/>
                <a:ea typeface="PingFang SC"/>
              </a:rPr>
              <a:t>Communicate 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3063240"/>
            <a:ext cx="2258568" cy="7955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Arial"/>
                <a:ea typeface="PingFang SC"/>
              </a:rPr>
              <a:t>Deliver consistent charts, annotations, source notes and explicit interpretation boundaries.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53728" y="3895343"/>
            <a:ext cx="2258568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53728" y="3986784"/>
            <a:ext cx="225856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  <a:ea typeface="PingFang SC"/>
              </a:rPr>
              <a:t>8 charts at 300 dpi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199632"/>
            <a:ext cx="11173968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291072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rial"/>
                <a:ea typeface="PingFang SC"/>
              </a:rPr>
              <a:t>Personal portfolio project · Data through Dec 2025 · Public statistics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1320" y="6291072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rial"/>
                <a:ea typeface="PingFang SC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80F1F"/>
              </a:gs>
              <a:gs pos="100000">
                <a:srgbClr val="1E293B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49640" y="1234440"/>
            <a:ext cx="4389120" cy="4389120"/>
          </a:xfrm>
          <a:prstGeom prst="ellipse">
            <a:avLst/>
          </a:prstGeom>
          <a:noFill/>
          <a:ln w="12700">
            <a:solidFill>
              <a:srgbClr val="265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46920" y="2331720"/>
            <a:ext cx="2194560" cy="2194560"/>
          </a:xfrm>
          <a:prstGeom prst="ellipse">
            <a:avLst/>
          </a:prstGeom>
          <a:noFill/>
          <a:ln w="12700">
            <a:solidFill>
              <a:srgbClr val="433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969264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400" b="1">
                <a:solidFill>
                  <a:srgbClr val="2C7AA3"/>
                </a:solidFill>
                <a:latin typeface="Arial"/>
                <a:ea typeface="PingFang SC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926080"/>
            <a:ext cx="1463040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182112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  <a:ea typeface="PingFang SC"/>
              </a:rPr>
              <a:t>Data and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526280"/>
            <a:ext cx="89611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4A3B8"/>
                </a:solidFill>
                <a:latin typeface="Arial"/>
                <a:ea typeface="PingFang SC"/>
              </a:rPr>
              <a:t>Align definitions before discussing conclusions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7396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284C7"/>
                </a:solidFill>
                <a:latin typeface="Arial"/>
                <a:ea typeface="PingFang SC"/>
              </a:rPr>
              <a:t>02  DATA &amp;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73968" cy="713232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Arial"/>
                <a:ea typeface="PingFang SC"/>
              </a:rPr>
              <a:t>Seven datasets cover key parts of the value chain, but their windows and definitions are not naturally identical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051560" cy="32004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4480" y="1124712"/>
            <a:ext cx="10122408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11173968" cy="145694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26464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75569"/>
                </a:solidFill>
                <a:latin typeface="Arial"/>
                <a:ea typeface="PingFang SC"/>
              </a:rPr>
              <a:t>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645919"/>
            <a:ext cx="1298448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  <a:ea typeface="PingFang SC"/>
              </a:rPr>
              <a:t>Market Outcomes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1743455"/>
            <a:ext cx="312115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39112" y="1798320"/>
            <a:ext cx="2974848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Arial"/>
                <a:ea typeface="PingFang SC"/>
              </a:rPr>
              <a:t>Sales and penetration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2036064"/>
            <a:ext cx="297484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Arial"/>
                <a:ea typeface="PingFang SC"/>
              </a:rPr>
              <a:t>2015–2025, identifying the market turning point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78552" y="1743455"/>
            <a:ext cx="312115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1704" y="1798320"/>
            <a:ext cx="2974848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Arial"/>
                <a:ea typeface="PingFang SC"/>
              </a:rPr>
              <a:t>Vehicle stock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1704" y="2036064"/>
            <a:ext cx="297484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Arial"/>
                <a:ea typeface="PingFang SC"/>
              </a:rPr>
              <a:t>2015–2025, measuring installed-base growth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91144" y="1743455"/>
            <a:ext cx="312115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4296" y="1798320"/>
            <a:ext cx="2974848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Arial"/>
                <a:ea typeface="PingFang SC"/>
              </a:rPr>
              <a:t>Exports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4296" y="2036064"/>
            <a:ext cx="297484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Arial"/>
                <a:ea typeface="PingFang SC"/>
              </a:rPr>
              <a:t>2020–2025, tracking globalization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71032" y="2773679"/>
            <a:ext cx="237744" cy="164592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938271"/>
            <a:ext cx="11173968" cy="1456943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8B5CF6"/>
              </a:gs>
              <a:gs pos="100000">
                <a:srgbClr val="543C9C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066287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EEF8"/>
                </a:solidFill>
                <a:latin typeface="Arial"/>
                <a:ea typeface="PingFang SC"/>
              </a:rPr>
              <a:t>ENABLERS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3285743"/>
            <a:ext cx="1298448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PingFang SC"/>
              </a:rPr>
              <a:t>System Enablers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65960" y="3383279"/>
            <a:ext cx="312115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39112" y="3438143"/>
            <a:ext cx="2974848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Arial"/>
                <a:ea typeface="PingFang SC"/>
              </a:rPr>
              <a:t>Charging infrastructure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39112" y="3675887"/>
            <a:ext cx="297484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Arial"/>
                <a:ea typeface="PingFang SC"/>
              </a:rPr>
              <a:t>2020–2025, public and private structure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78552" y="3383279"/>
            <a:ext cx="312115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1704" y="3438143"/>
            <a:ext cx="2974848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Arial"/>
                <a:ea typeface="PingFang SC"/>
              </a:rPr>
              <a:t>Power batteries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1704" y="3675887"/>
            <a:ext cx="297484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Arial"/>
                <a:ea typeface="PingFang SC"/>
              </a:rPr>
              <a:t>2018–2025, volume and chemistry mix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91144" y="3383279"/>
            <a:ext cx="312115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4296" y="3438143"/>
            <a:ext cx="2974848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Arial"/>
                <a:ea typeface="PingFang SC"/>
              </a:rPr>
              <a:t>Powertrain mix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4296" y="3675887"/>
            <a:ext cx="297484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Arial"/>
                <a:ea typeface="PingFang SC"/>
              </a:rPr>
              <a:t>2021–2025, BEV and PHEV roles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971032" y="4413503"/>
            <a:ext cx="237744" cy="164592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2920" y="4578095"/>
            <a:ext cx="11173968" cy="1456943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284C7"/>
              </a:gs>
              <a:gs pos="100000">
                <a:srgbClr val="05538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4706111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EEF8"/>
                </a:solidFill>
                <a:latin typeface="Arial"/>
                <a:ea typeface="PingFang SC"/>
              </a:rPr>
              <a:t>IMPACT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4925567"/>
            <a:ext cx="1298448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PingFang SC"/>
              </a:rPr>
              <a:t>Impact Scenario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65960" y="5023103"/>
            <a:ext cx="472744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39112" y="5077967"/>
            <a:ext cx="4581144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Arial"/>
                <a:ea typeface="PingFang SC"/>
              </a:rPr>
              <a:t>Annual reduction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39112" y="5315711"/>
            <a:ext cx="4581144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Arial"/>
                <a:ea typeface="PingFang SC"/>
              </a:rPr>
              <a:t>Scenario estimate based on stock and per-vehicle factor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84848" y="5023103"/>
            <a:ext cx="472744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5077967"/>
            <a:ext cx="4581144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Arial"/>
                <a:ea typeface="PingFang SC"/>
              </a:rPr>
              <a:t>Cumulative reduction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315711"/>
            <a:ext cx="4581144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Arial"/>
                <a:ea typeface="PingFang SC"/>
              </a:rPr>
              <a:t>Trend indicator, not a substitute for life-cycle accounting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6089903"/>
            <a:ext cx="1117396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2920" y="6089903"/>
            <a:ext cx="64008" cy="822960"/>
          </a:xfrm>
          <a:prstGeom prst="roundRect">
            <a:avLst>
              <a:gd name="adj" fmla="val 4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49808" y="6263639"/>
            <a:ext cx="475488" cy="475488"/>
          </a:xfrm>
          <a:prstGeom prst="roundRect">
            <a:avLst>
              <a:gd name="adj" fmla="val 26000"/>
            </a:avLst>
          </a:prstGeom>
          <a:solidFill>
            <a:srgbClr val="DC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" y="6263639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284C7"/>
                </a:solidFill>
                <a:latin typeface="Arial"/>
                <a:ea typeface="PingFang SC"/>
              </a:rPr>
              <a:t>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89888" y="6236207"/>
            <a:ext cx="101498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Arial"/>
                <a:ea typeface="PingFang SC"/>
              </a:rPr>
              <a:t>Definition discipline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89888" y="6601967"/>
            <a:ext cx="101498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Arial"/>
                <a:ea typeface="PingFang SC"/>
              </a:rPr>
              <a:t>Charging infrastructure starts in 2020 because the public/private/total reporting boundary becomes consistent from that year.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7022591"/>
            <a:ext cx="1117396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02920" y="7022591"/>
            <a:ext cx="64008" cy="82296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49808" y="7196327"/>
            <a:ext cx="475488" cy="475488"/>
          </a:xfrm>
          <a:prstGeom prst="roundRect">
            <a:avLst>
              <a:gd name="adj" fmla="val 26000"/>
            </a:avLst>
          </a:prstGeom>
          <a:solidFill>
            <a:srgbClr val="EFE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" y="7196327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B5CF6"/>
                </a:solidFill>
                <a:latin typeface="Arial"/>
                <a:ea typeface="PingFang SC"/>
              </a:rPr>
              <a:t>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89888" y="7168895"/>
            <a:ext cx="101498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Arial"/>
                <a:ea typeface="PingFang SC"/>
              </a:rPr>
              <a:t>Source discipline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89888" y="7534655"/>
            <a:ext cx="101498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Arial"/>
                <a:ea typeface="PingFang SC"/>
              </a:rPr>
              <a:t>Official statistics, association data and project estimates are separately identified in notes and footers.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6199632"/>
            <a:ext cx="11173968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6291072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rial"/>
                <a:ea typeface="PingFang SC"/>
              </a:rPr>
              <a:t>Personal portfolio project · Data through Dec 2025 · Public statistics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61320" y="6291072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rial"/>
                <a:ea typeface="PingFang SC"/>
              </a:rPr>
              <a:t>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7396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284C7"/>
                </a:solidFill>
                <a:latin typeface="Arial"/>
                <a:ea typeface="PingFang SC"/>
              </a:rPr>
              <a:t>02  DATA &amp;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73968" cy="713232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Arial"/>
                <a:ea typeface="PingFang SC"/>
              </a:rPr>
              <a:t>The hard part of cleaning is not filling cells; it is making every derived metric reproducible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051560" cy="32004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4480" y="1124712"/>
            <a:ext cx="10122408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22576"/>
            <a:ext cx="10625328" cy="27432"/>
          </a:xfrm>
          <a:prstGeom prst="rect">
            <a:avLst/>
          </a:prstGeom>
          <a:gradFill rotWithShape="1">
            <a:gsLst>
              <a:gs pos="0">
                <a:srgbClr val="8DC8E6"/>
              </a:gs>
              <a:gs pos="100000">
                <a:srgbClr val="CBB6FB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72844" y="2002535"/>
            <a:ext cx="694944" cy="694944"/>
          </a:xfrm>
          <a:prstGeom prst="ellipse">
            <a:avLst/>
          </a:prstGeom>
          <a:solidFill>
            <a:srgbClr val="D9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5996" y="2075688"/>
            <a:ext cx="548640" cy="5486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5996" y="207568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862071"/>
            <a:ext cx="2088489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Arial"/>
                <a:ea typeface="PingFang SC"/>
              </a:rPr>
              <a:t>Align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3337560"/>
            <a:ext cx="1978761" cy="16916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Arial"/>
                <a:ea typeface="PingFang SC"/>
              </a:rPr>
              <a:t>Keep independent windows for each indicator instead of forcing unavailable historical values.</a:t>
            </a:r>
          </a:p>
        </p:txBody>
      </p:sp>
      <p:sp>
        <p:nvSpPr>
          <p:cNvPr id="13" name="Oval 12"/>
          <p:cNvSpPr/>
          <p:nvPr/>
        </p:nvSpPr>
        <p:spPr>
          <a:xfrm>
            <a:off x="3507638" y="2002535"/>
            <a:ext cx="694944" cy="694944"/>
          </a:xfrm>
          <a:prstGeom prst="ellipse">
            <a:avLst/>
          </a:prstGeom>
          <a:solidFill>
            <a:srgbClr val="EEE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80790" y="2075688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0790" y="207568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PingFang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0865" y="2862071"/>
            <a:ext cx="2088489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Arial"/>
                <a:ea typeface="PingFang SC"/>
              </a:rPr>
              <a:t>Align definitions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5729" y="3337560"/>
            <a:ext cx="1978761" cy="16916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Arial"/>
                <a:ea typeface="PingFang SC"/>
              </a:rPr>
              <a:t>Document domestic new-car penetration, complete-vehicle exports and charger boundaries.</a:t>
            </a:r>
          </a:p>
        </p:txBody>
      </p:sp>
      <p:sp>
        <p:nvSpPr>
          <p:cNvPr id="18" name="Oval 17"/>
          <p:cNvSpPr/>
          <p:nvPr/>
        </p:nvSpPr>
        <p:spPr>
          <a:xfrm>
            <a:off x="5742432" y="2002535"/>
            <a:ext cx="694944" cy="694944"/>
          </a:xfrm>
          <a:prstGeom prst="ellipse">
            <a:avLst/>
          </a:prstGeom>
          <a:solidFill>
            <a:srgbClr val="DB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15584" y="207568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15584" y="207568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5659" y="2862071"/>
            <a:ext cx="2088489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Arial"/>
                <a:ea typeface="PingFang SC"/>
              </a:rPr>
              <a:t>Calculate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0523" y="3337560"/>
            <a:ext cx="1978761" cy="16916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Arial"/>
                <a:ea typeface="PingFang SC"/>
              </a:rPr>
              <a:t>Derive shares, vehicle-to-charger ratios and scenario reductions from raw fields.</a:t>
            </a:r>
          </a:p>
        </p:txBody>
      </p:sp>
      <p:sp>
        <p:nvSpPr>
          <p:cNvPr id="23" name="Oval 22"/>
          <p:cNvSpPr/>
          <p:nvPr/>
        </p:nvSpPr>
        <p:spPr>
          <a:xfrm>
            <a:off x="7977225" y="2002535"/>
            <a:ext cx="694944" cy="694944"/>
          </a:xfrm>
          <a:prstGeom prst="ellipse">
            <a:avLst/>
          </a:prstGeom>
          <a:solidFill>
            <a:srgbClr val="FEF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50377" y="207568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50377" y="207568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PingFang S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0452" y="2862071"/>
            <a:ext cx="2088489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Arial"/>
                <a:ea typeface="PingFang SC"/>
              </a:rPr>
              <a:t>Cross-check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5316" y="3337560"/>
            <a:ext cx="1978761" cy="16916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Arial"/>
                <a:ea typeface="PingFang SC"/>
              </a:rPr>
              <a:t>Reconcile totals, composition shares and key-year values across available sources.</a:t>
            </a:r>
          </a:p>
        </p:txBody>
      </p:sp>
      <p:sp>
        <p:nvSpPr>
          <p:cNvPr id="28" name="Oval 27"/>
          <p:cNvSpPr/>
          <p:nvPr/>
        </p:nvSpPr>
        <p:spPr>
          <a:xfrm>
            <a:off x="10212019" y="2002535"/>
            <a:ext cx="694944" cy="694944"/>
          </a:xfrm>
          <a:prstGeom prst="ellipse">
            <a:avLst/>
          </a:prstGeom>
          <a:solidFill>
            <a:srgbClr val="D9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85171" y="2075688"/>
            <a:ext cx="548640" cy="5486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85171" y="207568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PingFang SC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15246" y="2862071"/>
            <a:ext cx="2088489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Arial"/>
                <a:ea typeface="PingFang SC"/>
              </a:rPr>
              <a:t>Audit outputs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0110" y="3337560"/>
            <a:ext cx="1978761" cy="16916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Arial"/>
                <a:ea typeface="PingFang SC"/>
              </a:rPr>
              <a:t>Export UTF-8 CSV files, 300 dpi charts and documentation of sources and assumptions.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199632"/>
            <a:ext cx="11173968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291072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rial"/>
                <a:ea typeface="PingFang SC"/>
              </a:rPr>
              <a:t>Personal portfolio project · Data through Dec 2025 · Public statistics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1320" y="6291072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rial"/>
                <a:ea typeface="PingFang SC"/>
              </a:rPr>
              <a:t>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7396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284C7"/>
                </a:solidFill>
                <a:latin typeface="Arial"/>
                <a:ea typeface="PingFang SC"/>
              </a:rPr>
              <a:t>02  DATA &amp;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73968" cy="713232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Arial"/>
                <a:ea typeface="PingFang SC"/>
              </a:rPr>
              <a:t>A reproducible Python script connects data, metrics, charts and documentation into an updateable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051560" cy="32004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4480" y="1124712"/>
            <a:ext cx="10122408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46502"/>
            <a:ext cx="32004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46502"/>
            <a:ext cx="54864" cy="1234440"/>
          </a:xfrm>
          <a:prstGeom prst="roundRect">
            <a:avLst>
              <a:gd name="adj" fmla="val 4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892806"/>
            <a:ext cx="276148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  <a:ea typeface="PingFang SC"/>
              </a:rPr>
              <a:t>Data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203702"/>
            <a:ext cx="2761488" cy="649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Arial"/>
                <a:ea typeface="PingFang SC"/>
              </a:rPr>
              <a:t>Seven arrays and CSV outputs preserve source fields alongside calculated fields.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2354579"/>
            <a:ext cx="539496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7096" y="2318002"/>
            <a:ext cx="91440" cy="914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76488" y="1746502"/>
            <a:ext cx="32004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622024" y="1746502"/>
            <a:ext cx="54864" cy="123444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95944" y="1892806"/>
            <a:ext cx="276148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  <a:ea typeface="PingFang SC"/>
              </a:rPr>
              <a:t>Metric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95944" y="2203702"/>
            <a:ext cx="2761488" cy="649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Arial"/>
                <a:ea typeface="PingFang SC"/>
              </a:rPr>
              <a:t>Penetration, vehicle-to-charger ratios, composition shares and cumulative reductions are calculated in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36992" y="2354579"/>
            <a:ext cx="53949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91271" y="2318002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3127246"/>
            <a:ext cx="32004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127246"/>
            <a:ext cx="54864" cy="1234440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" y="3273551"/>
            <a:ext cx="276148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  <a:ea typeface="PingFang SC"/>
              </a:rPr>
              <a:t>Visualization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3584446"/>
            <a:ext cx="2761488" cy="649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Arial"/>
                <a:ea typeface="PingFang SC"/>
              </a:rPr>
              <a:t>Fonts, semantic colors, axes and 300 dpi export are standardized across charts.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3320" y="3735322"/>
            <a:ext cx="539496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97096" y="3698746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76488" y="3127246"/>
            <a:ext cx="32004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622024" y="3127246"/>
            <a:ext cx="54864" cy="123444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95944" y="3273551"/>
            <a:ext cx="276148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  <a:ea typeface="PingFang SC"/>
              </a:rPr>
              <a:t>Documentation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95944" y="3584446"/>
            <a:ext cx="2761488" cy="649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Arial"/>
                <a:ea typeface="PingFang SC"/>
              </a:rPr>
              <a:t>The source note records definitions, links, assumptions and usage cautions.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36992" y="3735322"/>
            <a:ext cx="53949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3698746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33672" y="2354579"/>
            <a:ext cx="18288" cy="138074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42816" y="3044951"/>
            <a:ext cx="384048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27848" y="2354579"/>
            <a:ext cx="18288" cy="138074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52944" y="3044951"/>
            <a:ext cx="384048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2253995"/>
            <a:ext cx="2926080" cy="1600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080F1F"/>
              </a:gs>
              <a:gs pos="100000">
                <a:srgbClr val="1E293B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26864" y="2253995"/>
            <a:ext cx="2926080" cy="54864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64608" y="2510027"/>
            <a:ext cx="245059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rial"/>
                <a:ea typeface="PingFang SC"/>
              </a:rPr>
              <a:t>REPRODUCIBLE PIPELINE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64608" y="2802635"/>
            <a:ext cx="2450592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PingFang SC"/>
              </a:rPr>
              <a:t>Python analysis script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64608" y="3259835"/>
            <a:ext cx="2450592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Arial"/>
                <a:ea typeface="PingFang SC"/>
              </a:rPr>
              <a:t>The script contains the data layer, derived metrics, CSV exports and eight chart functions; it can be rerun in any environment with pandas, NumPy and Matplotlib.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645151"/>
            <a:ext cx="1847088" cy="420624"/>
          </a:xfrm>
          <a:prstGeom prst="roundRect">
            <a:avLst>
              <a:gd name="adj" fmla="val 40000"/>
            </a:avLst>
          </a:prstGeom>
          <a:solidFill>
            <a:srgbClr val="E6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04088" y="4814315"/>
            <a:ext cx="82296" cy="82296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4645151"/>
            <a:ext cx="1389888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Arial"/>
                <a:ea typeface="PingFang SC"/>
              </a:rPr>
              <a:t>Python 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59736" y="4645151"/>
            <a:ext cx="1536192" cy="420624"/>
          </a:xfrm>
          <a:prstGeom prst="roundRect">
            <a:avLst>
              <a:gd name="adj" fmla="val 40000"/>
            </a:avLst>
          </a:prstGeom>
          <a:solidFill>
            <a:srgbClr val="F3E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660904" y="4814315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25496" y="4645151"/>
            <a:ext cx="10789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Arial"/>
                <a:ea typeface="PingFang SC"/>
              </a:rPr>
              <a:t>pandas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05656" y="4645151"/>
            <a:ext cx="1380744" cy="420624"/>
          </a:xfrm>
          <a:prstGeom prst="roundRect">
            <a:avLst>
              <a:gd name="adj" fmla="val 40000"/>
            </a:avLst>
          </a:prstGeom>
          <a:solidFill>
            <a:srgbClr val="E7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306824" y="4814315"/>
            <a:ext cx="82296" cy="822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71416" y="4645151"/>
            <a:ext cx="923544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Arial"/>
                <a:ea typeface="PingFang SC"/>
              </a:rPr>
              <a:t>NumPy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96128" y="4645151"/>
            <a:ext cx="2157984" cy="420624"/>
          </a:xfrm>
          <a:prstGeom prst="roundRect">
            <a:avLst>
              <a:gd name="adj" fmla="val 40000"/>
            </a:avLst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797296" y="4814315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61888" y="4645151"/>
            <a:ext cx="1700784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Arial"/>
                <a:ea typeface="PingFang SC"/>
              </a:rPr>
              <a:t>Matplotlib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63840" y="4645151"/>
            <a:ext cx="1188720" cy="420624"/>
          </a:xfrm>
          <a:prstGeom prst="roundRect">
            <a:avLst>
              <a:gd name="adj" fmla="val 40000"/>
            </a:avLst>
          </a:prstGeom>
          <a:solidFill>
            <a:srgbClr val="E6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065008" y="4814315"/>
            <a:ext cx="82296" cy="82296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0" y="4645151"/>
            <a:ext cx="73152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Arial"/>
                <a:ea typeface="PingFang SC"/>
              </a:rPr>
              <a:t>CSV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62288" y="4645151"/>
            <a:ext cx="1691640" cy="420624"/>
          </a:xfrm>
          <a:prstGeom prst="roundRect">
            <a:avLst>
              <a:gd name="adj" fmla="val 40000"/>
            </a:avLst>
          </a:prstGeom>
          <a:solidFill>
            <a:srgbClr val="F3E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363456" y="4814315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28048" y="4645151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Arial"/>
                <a:ea typeface="PingFang SC"/>
              </a:rPr>
              <a:t>300 dpi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" y="5175503"/>
            <a:ext cx="1380744" cy="420624"/>
          </a:xfrm>
          <a:prstGeom prst="roundRect">
            <a:avLst>
              <a:gd name="adj" fmla="val 40000"/>
            </a:avLst>
          </a:prstGeom>
          <a:solidFill>
            <a:srgbClr val="E7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04088" y="5344667"/>
            <a:ext cx="82296" cy="822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8680" y="5175503"/>
            <a:ext cx="923544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Arial"/>
                <a:ea typeface="PingFang SC"/>
              </a:rPr>
              <a:t>UTF-8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6199632"/>
            <a:ext cx="11173968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" y="6291072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rial"/>
                <a:ea typeface="PingFang SC"/>
              </a:rPr>
              <a:t>Personal portfolio project · Data through Dec 2025 · Public statistics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61320" y="6291072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rial"/>
                <a:ea typeface="PingFang SC"/>
              </a:rPr>
              <a:t>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80F1F"/>
              </a:gs>
              <a:gs pos="100000">
                <a:srgbClr val="1E293B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49640" y="1234440"/>
            <a:ext cx="4389120" cy="4389120"/>
          </a:xfrm>
          <a:prstGeom prst="ellipse">
            <a:avLst/>
          </a:prstGeom>
          <a:noFill/>
          <a:ln w="12700">
            <a:solidFill>
              <a:srgbClr val="265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46920" y="2331720"/>
            <a:ext cx="2194560" cy="2194560"/>
          </a:xfrm>
          <a:prstGeom prst="ellipse">
            <a:avLst/>
          </a:prstGeom>
          <a:noFill/>
          <a:ln w="12700">
            <a:solidFill>
              <a:srgbClr val="433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969264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400" b="1">
                <a:solidFill>
                  <a:srgbClr val="2C7AA3"/>
                </a:solidFill>
                <a:latin typeface="Arial"/>
                <a:ea typeface="PingFang SC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926080"/>
            <a:ext cx="1463040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182112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  <a:ea typeface="PingFang SC"/>
              </a:rPr>
              <a:t>Findings and 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526280"/>
            <a:ext cx="89611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4A3B8"/>
                </a:solidFill>
                <a:latin typeface="Arial"/>
                <a:ea typeface="PingFang SC"/>
              </a:rPr>
              <a:t>Structural change beneath the growth curve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7396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284C7"/>
                </a:solidFill>
                <a:latin typeface="Arial"/>
                <a:ea typeface="PingFang SC"/>
              </a:rPr>
              <a:t>03 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73968" cy="713232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Arial"/>
                <a:ea typeface="PingFang SC"/>
              </a:rPr>
              <a:t>2021 marks a visible transition from policy demonstration to market expansion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051560" cy="32004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4480" y="1124712"/>
            <a:ext cx="10122408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075688"/>
            <a:ext cx="2670048" cy="15727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" y="2075688"/>
            <a:ext cx="801014" cy="45720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74BBE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2276856"/>
            <a:ext cx="2286000" cy="713232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284C7"/>
                </a:solidFill>
                <a:latin typeface="Arial"/>
                <a:ea typeface="PingFang SC"/>
              </a:rPr>
              <a:t>33.1→1649.0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302666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Arial"/>
                <a:ea typeface="PingFang SC"/>
              </a:rPr>
              <a:t>NEV sales, 10k vehicles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32826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rial"/>
                <a:ea typeface="PingFang SC"/>
              </a:rPr>
              <a:t>2015–2025, approximately 50× growth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075688"/>
            <a:ext cx="2670048" cy="15727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57016" y="2075688"/>
            <a:ext cx="801014" cy="4572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BFA5F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2276856"/>
            <a:ext cx="2286000" cy="713232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8B5CF6"/>
                </a:solidFill>
                <a:latin typeface="Arial"/>
                <a:ea typeface="PingFang SC"/>
              </a:rPr>
              <a:t>1.3%→47.9%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302666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Arial"/>
                <a:ea typeface="PingFang SC"/>
              </a:rPr>
              <a:t>New-car penetration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32826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rial"/>
                <a:ea typeface="PingFang SC"/>
              </a:rPr>
              <a:t>Domestic new-car definition, 2025 annual figure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075688"/>
            <a:ext cx="2670048" cy="15727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91656" y="2075688"/>
            <a:ext cx="801014" cy="45720"/>
          </a:xfrm>
          <a:prstGeom prst="rect">
            <a:avLst/>
          </a:prstGeom>
          <a:gradFill rotWithShape="1">
            <a:gsLst>
              <a:gs pos="0">
                <a:srgbClr val="10B981"/>
              </a:gs>
              <a:gs pos="100000">
                <a:srgbClr val="7CD8B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2276856"/>
            <a:ext cx="2286000" cy="713232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0B981"/>
                </a:solidFill>
                <a:latin typeface="Arial"/>
                <a:ea typeface="PingFang SC"/>
              </a:rPr>
              <a:t>13.4%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302666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Arial"/>
                <a:ea typeface="PingFang SC"/>
              </a:rPr>
              <a:t>Penetration in 2021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32826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rial"/>
                <a:ea typeface="PingFang SC"/>
              </a:rPr>
              <a:t>First clear crossing of the 10% threshold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2075688"/>
            <a:ext cx="2670048" cy="15727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26296" y="2075688"/>
            <a:ext cx="801014" cy="45720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FACA7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6296" y="2276856"/>
            <a:ext cx="2286000" cy="713232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59E0B"/>
                </a:solidFill>
                <a:latin typeface="Arial"/>
                <a:ea typeface="PingFang SC"/>
              </a:rPr>
              <a:t>+28.2%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302666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Arial"/>
                <a:ea typeface="PingFang SC"/>
              </a:rPr>
              <a:t>2025 annual sales growth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6296" y="32826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rial"/>
                <a:ea typeface="PingFang SC"/>
              </a:rPr>
              <a:t>Faster than the overall auto market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813048"/>
            <a:ext cx="11173968" cy="123444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080F1F"/>
              </a:gs>
              <a:gs pos="100000">
                <a:srgbClr val="1E293B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3813048"/>
            <a:ext cx="91440" cy="123444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8B5CF6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3941064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rial"/>
                <a:ea typeface="PingFang SC"/>
              </a:rPr>
              <a:t>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178808"/>
            <a:ext cx="10515600" cy="758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PingFang SC"/>
              </a:rPr>
              <a:t>The key change is not only selling more vehicles; demand, supply and infrastructure began reinforcing one another after 2021.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199632"/>
            <a:ext cx="11173968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291072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rial"/>
                <a:ea typeface="PingFang SC"/>
              </a:rPr>
              <a:t>Personal portfolio project · Data through Dec 2025 · Public statistics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1320" y="6291072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rial"/>
                <a:ea typeface="PingFang SC"/>
              </a:rPr>
              <a:t>08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7396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284C7"/>
                </a:solidFill>
                <a:latin typeface="Arial"/>
                <a:ea typeface="PingFang SC"/>
              </a:rPr>
              <a:t>03 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73968" cy="713232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Arial"/>
                <a:ea typeface="PingFang SC"/>
              </a:rPr>
              <a:t>Charging is shifting from public-infrastructure led growth toward public–private coordination, while access remains an open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051560" cy="32004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4480" y="1124712"/>
            <a:ext cx="10122408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40763"/>
            <a:ext cx="5477256" cy="27432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40763"/>
            <a:ext cx="5477256" cy="54864"/>
          </a:xfrm>
          <a:prstGeom prst="rect">
            <a:avLst/>
          </a:prstGeom>
          <a:gradFill rotWithShape="1">
            <a:gsLst>
              <a:gs pos="0">
                <a:srgbClr val="94A3B8"/>
              </a:gs>
              <a:gs pos="100000">
                <a:srgbClr val="CAD1DC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0664" y="1796795"/>
            <a:ext cx="1179576" cy="365760"/>
          </a:xfrm>
          <a:prstGeom prst="roundRect">
            <a:avLst>
              <a:gd name="adj" fmla="val 40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796795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Arial"/>
                <a:ea typeface="PingFang SC"/>
              </a:rPr>
              <a:t>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290570"/>
            <a:ext cx="500176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75569"/>
                </a:solidFill>
                <a:latin typeface="Arial"/>
                <a:ea typeface="PingFang SC"/>
              </a:rPr>
              <a:t>Supply is catching up with the installed 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" y="3012947"/>
            <a:ext cx="292608" cy="292608"/>
          </a:xfrm>
          <a:prstGeom prst="roundRect">
            <a:avLst>
              <a:gd name="adj" fmla="val 40000"/>
            </a:avLst>
          </a:prstGeom>
          <a:solidFill>
            <a:srgbClr val="E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3012947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Arial"/>
                <a:ea typeface="PingFang SC"/>
              </a:rPr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967227"/>
            <a:ext cx="4562856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Arial"/>
                <a:ea typeface="PingFang SC"/>
              </a:rPr>
              <a:t>NEV stock grew from 4.92 million to 43.97 million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" y="3396994"/>
            <a:ext cx="292608" cy="292608"/>
          </a:xfrm>
          <a:prstGeom prst="roundRect">
            <a:avLst>
              <a:gd name="adj" fmla="val 40000"/>
            </a:avLst>
          </a:prstGeom>
          <a:solidFill>
            <a:srgbClr val="E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339699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Arial"/>
                <a:ea typeface="PingFang SC"/>
              </a:rPr>
              <a:t>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351275"/>
            <a:ext cx="4562856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Arial"/>
                <a:ea typeface="PingFang SC"/>
              </a:rPr>
              <a:t>Chargers grew from 1.681 million to 20.092 million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" y="3781042"/>
            <a:ext cx="292608" cy="292608"/>
          </a:xfrm>
          <a:prstGeom prst="roundRect">
            <a:avLst>
              <a:gd name="adj" fmla="val 40000"/>
            </a:avLst>
          </a:prstGeom>
          <a:solidFill>
            <a:srgbClr val="E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378104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Arial"/>
                <a:ea typeface="PingFang SC"/>
              </a:rPr>
              <a:t>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35323"/>
            <a:ext cx="4562856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Arial"/>
                <a:ea typeface="PingFang SC"/>
              </a:rPr>
              <a:t>The vehicle-to-charger ratio fell from 2.93:1 to 2.19:1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1540763"/>
            <a:ext cx="5477256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1540763"/>
            <a:ext cx="5477256" cy="54864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0C2E3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37376" y="1796795"/>
            <a:ext cx="1874519" cy="365760"/>
          </a:xfrm>
          <a:prstGeom prst="roundRect">
            <a:avLst>
              <a:gd name="adj" fmla="val 40000"/>
            </a:avLst>
          </a:prstGeom>
          <a:solidFill>
            <a:srgbClr val="DC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1796795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284C7"/>
                </a:solidFill>
                <a:latin typeface="Arial"/>
                <a:ea typeface="PingFang SC"/>
              </a:rPr>
              <a:t>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2290570"/>
            <a:ext cx="500176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Arial"/>
                <a:ea typeface="PingFang SC"/>
              </a:rPr>
              <a:t>Private charging now carries everyday demand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37376" y="3012947"/>
            <a:ext cx="292608" cy="292608"/>
          </a:xfrm>
          <a:prstGeom prst="roundRect">
            <a:avLst>
              <a:gd name="adj" fmla="val 40000"/>
            </a:avLst>
          </a:prstGeom>
          <a:solidFill>
            <a:srgbClr val="CC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3012947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284C7"/>
                </a:solidFill>
                <a:latin typeface="Arial"/>
                <a:ea typeface="PingFang SC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2967227"/>
            <a:ext cx="4562856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Arial"/>
                <a:ea typeface="PingFang SC"/>
              </a:rPr>
              <a:t>Private chargers rose from 52.0% to 76.5% of total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37376" y="3396994"/>
            <a:ext cx="292608" cy="292608"/>
          </a:xfrm>
          <a:prstGeom prst="roundRect">
            <a:avLst>
              <a:gd name="adj" fmla="val 40000"/>
            </a:avLst>
          </a:prstGeom>
          <a:solidFill>
            <a:srgbClr val="CC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339699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284C7"/>
                </a:solidFill>
                <a:latin typeface="Arial"/>
                <a:ea typeface="PingFang SC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3351275"/>
            <a:ext cx="4562856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Arial"/>
                <a:ea typeface="PingFang SC"/>
              </a:rPr>
              <a:t>Public chargers remain important for long-distance and commercial use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37376" y="3781042"/>
            <a:ext cx="292608" cy="292608"/>
          </a:xfrm>
          <a:prstGeom prst="roundRect">
            <a:avLst>
              <a:gd name="adj" fmla="val 40000"/>
            </a:avLst>
          </a:prstGeom>
          <a:solidFill>
            <a:srgbClr val="CC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378104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284C7"/>
                </a:solidFill>
                <a:latin typeface="Arial"/>
                <a:ea typeface="PingFang SC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3735323"/>
            <a:ext cx="4562856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Arial"/>
                <a:ea typeface="PingFang SC"/>
              </a:rPr>
              <a:t>Aggregate improvement does not guarantee equal access across places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411978"/>
            <a:ext cx="11173968" cy="123444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080F1F"/>
              </a:gs>
              <a:gs pos="100000">
                <a:srgbClr val="1E293B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4411978"/>
            <a:ext cx="91440" cy="123444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8B5CF6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4539994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rial"/>
                <a:ea typeface="PingFang SC"/>
              </a:rPr>
              <a:t>NEXT QUESTION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4777739"/>
            <a:ext cx="10515600" cy="758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PingFang SC"/>
              </a:rPr>
              <a:t>The next iteration should move from national totals to provinces or cities, adding power, utilization, waiting time and spatial accessibility.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199632"/>
            <a:ext cx="11173968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291072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rial"/>
                <a:ea typeface="PingFang SC"/>
              </a:rPr>
              <a:t>Personal portfolio project · Data through Dec 2025 · Public statistics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61320" y="6291072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rial"/>
                <a:ea typeface="PingFang SC"/>
              </a:rPr>
              <a:t>09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7396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284C7"/>
                </a:solidFill>
                <a:latin typeface="Arial"/>
                <a:ea typeface="PingFang SC"/>
              </a:rPr>
              <a:t>03 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73968" cy="713232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Arial"/>
                <a:ea typeface="PingFang SC"/>
              </a:rPr>
              <a:t>Battery and powertrain routes are being reallocated across cost, safety, range and use cases—not reduced to one winner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051560" cy="32004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4480" y="1124712"/>
            <a:ext cx="10122408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5623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A5E9"/>
                </a:solidFill>
                <a:latin typeface="Arial"/>
                <a:ea typeface="PingFang SC"/>
              </a:rPr>
              <a:t>TECHNOLOGY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9344"/>
            <a:ext cx="5623560" cy="1325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Arial"/>
                <a:ea typeface="PingFang SC"/>
              </a:rPr>
              <a:t>From route competition to use-case differentiation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35808"/>
            <a:ext cx="56235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Arial"/>
                <a:ea typeface="PingFang SC"/>
              </a:rPr>
              <a:t>Battery installations rose from 55.3 GWh to 769.4 GWh. LFP became dominant after 2021 and reached 81.3% in 2025. In passenger vehicles, PHEV including range-extenders rose from 17.2% to 35.6%, suggesting that technologies are covering different user needs.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1298448"/>
            <a:ext cx="5349240" cy="288036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080F1F"/>
              </a:gs>
              <a:gs pos="100000">
                <a:srgbClr val="1E293B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27648" y="1298448"/>
            <a:ext cx="82296" cy="288036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8B5CF6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0256" y="1481328"/>
            <a:ext cx="4892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Arial"/>
                <a:ea typeface="PingFang SC"/>
              </a:rPr>
              <a:t>EVIDENCE CHAIN</a:t>
            </a:r>
          </a:p>
        </p:txBody>
      </p:sp>
      <p:sp>
        <p:nvSpPr>
          <p:cNvPr id="13" name="Oval 12"/>
          <p:cNvSpPr/>
          <p:nvPr/>
        </p:nvSpPr>
        <p:spPr>
          <a:xfrm>
            <a:off x="6638544" y="2029968"/>
            <a:ext cx="91440" cy="914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865376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PingFang SC"/>
              </a:rPr>
              <a:t>LFP: cost and safety advantages</a:t>
            </a:r>
          </a:p>
        </p:txBody>
      </p:sp>
      <p:sp>
        <p:nvSpPr>
          <p:cNvPr id="15" name="Oval 14"/>
          <p:cNvSpPr/>
          <p:nvPr/>
        </p:nvSpPr>
        <p:spPr>
          <a:xfrm>
            <a:off x="6638544" y="2487168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2322576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PingFang SC"/>
              </a:rPr>
              <a:t>NCM: continued high-energy-density use cases</a:t>
            </a:r>
          </a:p>
        </p:txBody>
      </p:sp>
      <p:sp>
        <p:nvSpPr>
          <p:cNvPr id="17" name="Oval 16"/>
          <p:cNvSpPr/>
          <p:nvPr/>
        </p:nvSpPr>
        <p:spPr>
          <a:xfrm>
            <a:off x="6638544" y="294436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2779776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PingFang SC"/>
              </a:rPr>
              <a:t>BEV: the scale and infrastructure mainline</a:t>
            </a:r>
          </a:p>
        </p:txBody>
      </p:sp>
      <p:sp>
        <p:nvSpPr>
          <p:cNvPr id="19" name="Oval 18"/>
          <p:cNvSpPr/>
          <p:nvPr/>
        </p:nvSpPr>
        <p:spPr>
          <a:xfrm>
            <a:off x="6638544" y="340156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3236976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PingFang SC"/>
              </a:rPr>
              <a:t>PHEV: range-anxiety mitigation and market reach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270248"/>
            <a:ext cx="11173968" cy="8275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4270248"/>
            <a:ext cx="64008" cy="827531"/>
          </a:xfrm>
          <a:prstGeom prst="roundRect">
            <a:avLst>
              <a:gd name="adj" fmla="val 4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9808" y="4446270"/>
            <a:ext cx="475488" cy="475488"/>
          </a:xfrm>
          <a:prstGeom prst="roundRect">
            <a:avLst>
              <a:gd name="adj" fmla="val 26000"/>
            </a:avLst>
          </a:prstGeom>
          <a:solidFill>
            <a:srgbClr val="DC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44627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284C7"/>
                </a:solidFill>
                <a:latin typeface="Arial"/>
                <a:ea typeface="PingFang SC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4416552"/>
            <a:ext cx="101498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Arial"/>
                <a:ea typeface="PingFang SC"/>
              </a:rPr>
              <a:t>Avoid overclaiming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4782312"/>
            <a:ext cx="10149840" cy="1874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Arial"/>
                <a:ea typeface="PingFang SC"/>
              </a:rPr>
              <a:t>Composition shifts support a use-case interpretation, but they cannot by themselves prove lower life-cycle emissions.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207508"/>
            <a:ext cx="11173968" cy="8275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5207508"/>
            <a:ext cx="64008" cy="827531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9808" y="5383530"/>
            <a:ext cx="475488" cy="475488"/>
          </a:xfrm>
          <a:prstGeom prst="roundRect">
            <a:avLst>
              <a:gd name="adj" fmla="val 26000"/>
            </a:avLst>
          </a:prstGeom>
          <a:solidFill>
            <a:srgbClr val="EFE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538353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B5CF6"/>
                </a:solidFill>
                <a:latin typeface="Arial"/>
                <a:ea typeface="PingFang SC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9888" y="5353812"/>
            <a:ext cx="101498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Arial"/>
                <a:ea typeface="PingFang SC"/>
              </a:rPr>
              <a:t>Further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9888" y="5719572"/>
            <a:ext cx="10149840" cy="1874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Arial"/>
                <a:ea typeface="PingFang SC"/>
              </a:rPr>
              <a:t>Add price, range, safety, recycling and regional electricity mix to build a multi-criteria technology assessment.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199632"/>
            <a:ext cx="11173968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291072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rial"/>
                <a:ea typeface="PingFang SC"/>
              </a:rPr>
              <a:t>Personal portfolio project · Data through Dec 2025 · Public statistics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1320" y="6291072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rial"/>
                <a:ea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7396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284C7"/>
                </a:solidFill>
                <a:latin typeface="Arial"/>
                <a:ea typeface="PingFang SC"/>
              </a:rPr>
              <a:t>03 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73968" cy="713232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Arial"/>
                <a:ea typeface="PingFang SC"/>
              </a:rPr>
              <a:t>Exports and scenario reductions show that competitiveness is extending from volume to system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051560" cy="32004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4480" y="1124712"/>
            <a:ext cx="10122408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642616"/>
            <a:ext cx="11173968" cy="36576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7784" y="2075688"/>
            <a:ext cx="2011680" cy="384048"/>
          </a:xfrm>
          <a:prstGeom prst="roundRect">
            <a:avLst>
              <a:gd name="adj" fmla="val 40000"/>
            </a:avLst>
          </a:prstGeom>
          <a:solidFill>
            <a:srgbClr val="DC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7568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284C7"/>
                </a:solidFill>
                <a:latin typeface="Arial"/>
                <a:ea typeface="PingFang SC"/>
              </a:rPr>
              <a:t>2020</a:t>
            </a:r>
          </a:p>
        </p:txBody>
      </p:sp>
      <p:sp>
        <p:nvSpPr>
          <p:cNvPr id="10" name="Oval 9"/>
          <p:cNvSpPr/>
          <p:nvPr/>
        </p:nvSpPr>
        <p:spPr>
          <a:xfrm>
            <a:off x="1789938" y="2569464"/>
            <a:ext cx="219456" cy="219456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2935224"/>
            <a:ext cx="2610612" cy="1746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081528"/>
            <a:ext cx="22814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Arial"/>
                <a:ea typeface="PingFang SC"/>
              </a:rPr>
              <a:t>Exports were still a niche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575304"/>
            <a:ext cx="2281428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Arial"/>
                <a:ea typeface="PingFang SC"/>
              </a:rPr>
              <a:t>NEV exports were 70,000 vehicles, only 7.0% of total vehicle exports.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261104"/>
            <a:ext cx="2281428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284C7"/>
                </a:solidFill>
                <a:latin typeface="Arial"/>
                <a:ea typeface="PingFang SC"/>
              </a:rPr>
              <a:t>70k vehicles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1276" y="2075688"/>
            <a:ext cx="2011680" cy="384048"/>
          </a:xfrm>
          <a:prstGeom prst="roundRect">
            <a:avLst>
              <a:gd name="adj" fmla="val 40000"/>
            </a:avLst>
          </a:prstGeom>
          <a:solidFill>
            <a:srgbClr val="EFE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9292" y="207568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B5CF6"/>
                </a:solidFill>
                <a:latin typeface="Arial"/>
                <a:ea typeface="PingFang SC"/>
              </a:rPr>
              <a:t>2021–2023</a:t>
            </a:r>
          </a:p>
        </p:txBody>
      </p:sp>
      <p:sp>
        <p:nvSpPr>
          <p:cNvPr id="17" name="Oval 16"/>
          <p:cNvSpPr/>
          <p:nvPr/>
        </p:nvSpPr>
        <p:spPr>
          <a:xfrm>
            <a:off x="4583430" y="2569464"/>
            <a:ext cx="219456" cy="21945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87852" y="2935224"/>
            <a:ext cx="2610612" cy="1746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52444" y="3081528"/>
            <a:ext cx="22814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Arial"/>
                <a:ea typeface="PingFang SC"/>
              </a:rPr>
              <a:t>Exports scaled with the industry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2444" y="3575304"/>
            <a:ext cx="2281428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Arial"/>
                <a:ea typeface="PingFang SC"/>
              </a:rPr>
              <a:t>NEV exports rose from 310,000 to 1.203 million, becoming a major source of export growth.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2444" y="4261104"/>
            <a:ext cx="2281428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B5CF6"/>
                </a:solidFill>
                <a:latin typeface="Arial"/>
                <a:ea typeface="PingFang SC"/>
              </a:rPr>
              <a:t>24.5% share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2075688"/>
            <a:ext cx="2011680" cy="384048"/>
          </a:xfrm>
          <a:prstGeom prst="roundRect">
            <a:avLst>
              <a:gd name="adj" fmla="val 40000"/>
            </a:avLst>
          </a:prstGeom>
          <a:solidFill>
            <a:srgbClr val="DE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4" y="207568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  <a:ea typeface="PingFang SC"/>
              </a:rPr>
              <a:t>2024–2025</a:t>
            </a:r>
          </a:p>
        </p:txBody>
      </p:sp>
      <p:sp>
        <p:nvSpPr>
          <p:cNvPr id="24" name="Oval 23"/>
          <p:cNvSpPr/>
          <p:nvPr/>
        </p:nvSpPr>
        <p:spPr>
          <a:xfrm>
            <a:off x="7376922" y="2569464"/>
            <a:ext cx="219456" cy="21945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81344" y="2935224"/>
            <a:ext cx="2610612" cy="1746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3081528"/>
            <a:ext cx="22814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Arial"/>
                <a:ea typeface="PingFang SC"/>
              </a:rPr>
              <a:t>New energy became a core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3575304"/>
            <a:ext cx="2281428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Arial"/>
                <a:ea typeface="PingFang SC"/>
              </a:rPr>
              <a:t>2025 NEV exports reached 2.615 million and 36.8% of total vehicle exports, up 103.7% year on year.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4261104"/>
            <a:ext cx="2281428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  <a:ea typeface="PingFang SC"/>
              </a:rPr>
              <a:t>+103.7% YoY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38260" y="2075688"/>
            <a:ext cx="2011680" cy="384048"/>
          </a:xfrm>
          <a:prstGeom prst="roundRect">
            <a:avLst>
              <a:gd name="adj" fmla="val 40000"/>
            </a:avLst>
          </a:prstGeom>
          <a:solidFill>
            <a:srgbClr val="FEF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66276" y="207568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  <a:ea typeface="PingFang SC"/>
              </a:rPr>
              <a:t>Scenario</a:t>
            </a:r>
          </a:p>
        </p:txBody>
      </p:sp>
      <p:sp>
        <p:nvSpPr>
          <p:cNvPr id="31" name="Oval 30"/>
          <p:cNvSpPr/>
          <p:nvPr/>
        </p:nvSpPr>
        <p:spPr>
          <a:xfrm>
            <a:off x="10170414" y="2569464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74836" y="2935224"/>
            <a:ext cx="2610612" cy="1746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39428" y="3081528"/>
            <a:ext cx="22814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Arial"/>
                <a:ea typeface="PingFang SC"/>
              </a:rPr>
              <a:t>Climate value requires transparent assumptions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9428" y="3575304"/>
            <a:ext cx="2281428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Arial"/>
                <a:ea typeface="PingFang SC"/>
              </a:rPr>
              <a:t>Using a midpoint factor of 1.5 t CO₂ per vehicle-year, estimated annual reduction is 66 million tonnes in 2025 and 197 million tonnes cumulatively.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9428" y="4261104"/>
            <a:ext cx="2281428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  <a:ea typeface="PingFang SC"/>
              </a:rPr>
              <a:t>Scenario, not official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199632"/>
            <a:ext cx="11173968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291072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rial"/>
                <a:ea typeface="PingFang SC"/>
              </a:rPr>
              <a:t>Personal portfolio project · Data through Dec 2025 · Public statistics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1320" y="6291072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Arial"/>
                <a:ea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80F1F"/>
              </a:gs>
              <a:gs pos="100000">
                <a:srgbClr val="1E293B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49640" y="1234440"/>
            <a:ext cx="4389120" cy="4389120"/>
          </a:xfrm>
          <a:prstGeom prst="ellipse">
            <a:avLst/>
          </a:prstGeom>
          <a:noFill/>
          <a:ln w="12700">
            <a:solidFill>
              <a:srgbClr val="265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46920" y="2331720"/>
            <a:ext cx="2194560" cy="2194560"/>
          </a:xfrm>
          <a:prstGeom prst="ellipse">
            <a:avLst/>
          </a:prstGeom>
          <a:noFill/>
          <a:ln w="12700">
            <a:solidFill>
              <a:srgbClr val="433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969264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400" b="1">
                <a:solidFill>
                  <a:srgbClr val="2C7AA3"/>
                </a:solidFill>
                <a:latin typeface="Arial"/>
                <a:ea typeface="PingFang SC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926080"/>
            <a:ext cx="1463040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182112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  <a:ea typeface="PingFang SC"/>
              </a:rPr>
              <a:t>Reflection and extension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526280"/>
            <a:ext cx="89611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4A3B8"/>
                </a:solidFill>
                <a:latin typeface="Arial"/>
                <a:ea typeface="PingFang SC"/>
              </a:rPr>
              <a:t>Turning analytical boundaries into the next research question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80F1F"/>
              </a:gs>
              <a:gs pos="100000">
                <a:srgbClr val="1E293B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49640" y="1234440"/>
            <a:ext cx="4389120" cy="4389120"/>
          </a:xfrm>
          <a:prstGeom prst="ellipse">
            <a:avLst/>
          </a:prstGeom>
          <a:noFill/>
          <a:ln w="12700">
            <a:solidFill>
              <a:srgbClr val="265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46920" y="2331720"/>
            <a:ext cx="2194560" cy="2194560"/>
          </a:xfrm>
          <a:prstGeom prst="ellipse">
            <a:avLst/>
          </a:prstGeom>
          <a:noFill/>
          <a:ln w="12700">
            <a:solidFill>
              <a:srgbClr val="433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 rotWithShape="1">
            <a:gsLst>
              <a:gs pos="0">
                <a:srgbClr val="0284C7"/>
              </a:gs>
              <a:gs pos="100000">
                <a:srgbClr val="8B5CF6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566928"/>
            <a:ext cx="4206240" cy="365760"/>
          </a:xfrm>
          <a:prstGeom prst="roundRect">
            <a:avLst>
              <a:gd name="adj" fmla="val 40000"/>
            </a:avLst>
          </a:prstGeom>
          <a:solidFill>
            <a:srgbClr val="0632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Arial"/>
                <a:ea typeface="PingFang SC"/>
              </a:rPr>
              <a:t>REFLECTION · NEXT ITERATION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03504"/>
            <a:ext cx="363931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4A3B8"/>
                </a:solidFill>
                <a:latin typeface="Arial"/>
                <a:ea typeface="PingFang SC"/>
              </a:rPr>
              <a:t>Jiayu Yan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978408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  <a:ea typeface="PingFang SC"/>
              </a:rPr>
              <a:t>A reproducible project must also be honest about what it cannot answer yet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401568"/>
            <a:ext cx="1463040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8B5CF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639312"/>
            <a:ext cx="905256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  <a:ea typeface="PingFang SC"/>
              </a:rPr>
              <a:t>The next version will add spatial granularity, life-cycle boundaries, sensitivity analysis and interactive exploration—moving from annual trends toward decision-grade system research.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870448"/>
            <a:ext cx="2990088" cy="402336"/>
          </a:xfrm>
          <a:prstGeom prst="roundRect">
            <a:avLst>
              <a:gd name="adj" fmla="val 40000"/>
            </a:avLst>
          </a:prstGeom>
          <a:solidFill>
            <a:srgbClr val="07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6044184"/>
            <a:ext cx="82296" cy="82296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5870448"/>
            <a:ext cx="2478024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PingFang SC"/>
              </a:rPr>
              <a:t>Research Mindset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76472" y="5870448"/>
            <a:ext cx="2834640" cy="402336"/>
          </a:xfrm>
          <a:prstGeom prst="roundRect">
            <a:avLst>
              <a:gd name="adj" fmla="val 40000"/>
            </a:avLst>
          </a:prstGeom>
          <a:solidFill>
            <a:srgbClr val="252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995928" y="6044184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78808" y="5870448"/>
            <a:ext cx="2322576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PingFang SC"/>
              </a:rPr>
              <a:t>Reproducibility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39128" y="5870448"/>
            <a:ext cx="4544568" cy="402336"/>
          </a:xfrm>
          <a:prstGeom prst="roundRect">
            <a:avLst>
              <a:gd name="adj" fmla="val 40000"/>
            </a:avLst>
          </a:prstGeom>
          <a:solidFill>
            <a:srgbClr val="0A3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58584" y="6044184"/>
            <a:ext cx="82296" cy="822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5870448"/>
            <a:ext cx="4032504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PingFang SC"/>
              </a:rPr>
              <a:t>Responsible Interpretation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11712" y="5870448"/>
            <a:ext cx="1901952" cy="402336"/>
          </a:xfrm>
          <a:prstGeom prst="roundRect">
            <a:avLst>
              <a:gd name="adj" fmla="val 40000"/>
            </a:avLst>
          </a:prstGeom>
          <a:solidFill>
            <a:srgbClr val="3C2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631168" y="6044184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14048" y="5870448"/>
            <a:ext cx="1389888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PingFang SC"/>
              </a:rPr>
              <a:t>Next Step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