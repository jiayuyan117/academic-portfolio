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gradFill rotWithShape="1">
            <a:gsLst>
              <a:gs pos="0">
                <a:srgbClr val="080F1F"/>
              </a:gs>
              <a:gs pos="100000">
                <a:srgbClr val="1E293B"/>
              </a:gs>
            </a:gsLst>
            <a:lin scaled="0" ang="189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49640" y="1234440"/>
            <a:ext cx="4389120" cy="4389120"/>
          </a:xfrm>
          <a:prstGeom prst="ellipse">
            <a:avLst/>
          </a:prstGeom>
          <a:noFill/>
          <a:ln w="12700">
            <a:solidFill>
              <a:srgbClr val="2655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46920" y="2331720"/>
            <a:ext cx="2194560" cy="2194560"/>
          </a:xfrm>
          <a:prstGeom prst="ellipse">
            <a:avLst/>
          </a:prstGeom>
          <a:noFill/>
          <a:ln w="12700">
            <a:solidFill>
              <a:srgbClr val="433A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 cy="6858000"/>
          </a:xfrm>
          <a:prstGeom prst="rect">
            <a:avLst/>
          </a:prstGeom>
          <a:gradFill rotWithShape="1">
            <a:gsLst>
              <a:gs pos="0">
                <a:srgbClr val="0284C7"/>
              </a:gs>
              <a:gs pos="100000">
                <a:srgbClr val="8B5CF6"/>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566928"/>
            <a:ext cx="4206240" cy="365760"/>
          </a:xfrm>
          <a:prstGeom prst="roundRect">
            <a:avLst>
              <a:gd name="adj" fmla="val 40000"/>
            </a:avLst>
          </a:prstGeom>
          <a:solidFill>
            <a:srgbClr val="0632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566928"/>
            <a:ext cx="3840480" cy="365760"/>
          </a:xfrm>
          <a:prstGeom prst="rect">
            <a:avLst/>
          </a:prstGeom>
          <a:noFill/>
        </p:spPr>
        <p:txBody>
          <a:bodyPr wrap="square" lIns="0" rIns="0" tIns="0" bIns="0" anchor="ctr"/>
          <a:lstStyle/>
          <a:p>
            <a:pPr algn="l">
              <a:lnSpc>
                <a:spcPct val="112000"/>
              </a:lnSpc>
              <a:spcBef>
                <a:spcPts val="0"/>
              </a:spcBef>
              <a:spcAft>
                <a:spcPts val="0"/>
              </a:spcAft>
            </a:pPr>
            <a:r>
              <a:rPr sz="1100" b="1">
                <a:solidFill>
                  <a:srgbClr val="38BDF8"/>
                </a:solidFill>
                <a:latin typeface="Arial"/>
                <a:ea typeface="PingFang SC"/>
              </a:rPr>
              <a:t>PERSONAL PORTFOLIO · DATA ANALYTICS</a:t>
            </a:r>
          </a:p>
        </p:txBody>
      </p:sp>
      <p:sp>
        <p:nvSpPr>
          <p:cNvPr id="8" name="TextBox 7"/>
          <p:cNvSpPr txBox="1"/>
          <p:nvPr/>
        </p:nvSpPr>
        <p:spPr>
          <a:xfrm>
            <a:off x="7863840" y="603504"/>
            <a:ext cx="3639312" cy="292608"/>
          </a:xfrm>
          <a:prstGeom prst="rect">
            <a:avLst/>
          </a:prstGeom>
          <a:noFill/>
        </p:spPr>
        <p:txBody>
          <a:bodyPr wrap="square" lIns="0" rIns="0" tIns="0" bIns="0" anchor="t"/>
          <a:lstStyle/>
          <a:p>
            <a:pPr algn="r">
              <a:lnSpc>
                <a:spcPct val="112000"/>
              </a:lnSpc>
              <a:spcBef>
                <a:spcPts val="0"/>
              </a:spcBef>
              <a:spcAft>
                <a:spcPts val="0"/>
              </a:spcAft>
            </a:pPr>
            <a:r>
              <a:rPr sz="1200" b="1">
                <a:solidFill>
                  <a:srgbClr val="94A3B8"/>
                </a:solidFill>
                <a:latin typeface="Arial"/>
                <a:ea typeface="PingFang SC"/>
              </a:rPr>
              <a:t>闫佳玉</a:t>
            </a:r>
          </a:p>
        </p:txBody>
      </p:sp>
      <p:sp>
        <p:nvSpPr>
          <p:cNvPr id="9" name="TextBox 8"/>
          <p:cNvSpPr txBox="1"/>
          <p:nvPr/>
        </p:nvSpPr>
        <p:spPr>
          <a:xfrm>
            <a:off x="658368" y="1691640"/>
            <a:ext cx="9784080" cy="1554480"/>
          </a:xfrm>
          <a:prstGeom prst="rect">
            <a:avLst/>
          </a:prstGeom>
          <a:noFill/>
        </p:spPr>
        <p:txBody>
          <a:bodyPr wrap="square" lIns="0" rIns="0" tIns="0" bIns="0" anchor="t"/>
          <a:lstStyle/>
          <a:p>
            <a:pPr algn="l">
              <a:lnSpc>
                <a:spcPct val="108000"/>
              </a:lnSpc>
              <a:spcBef>
                <a:spcPts val="0"/>
              </a:spcBef>
              <a:spcAft>
                <a:spcPts val="0"/>
              </a:spcAft>
            </a:pPr>
            <a:r>
              <a:rPr sz="3400" b="1">
                <a:solidFill>
                  <a:srgbClr val="FFFFFF"/>
                </a:solidFill>
                <a:latin typeface="Arial"/>
                <a:ea typeface="PingFang SC"/>
              </a:rPr>
              <a:t>中国新能源汽车产业发展与绿色低碳转型</a:t>
            </a:r>
          </a:p>
        </p:txBody>
      </p:sp>
      <p:sp>
        <p:nvSpPr>
          <p:cNvPr id="10" name="Rectangle 9"/>
          <p:cNvSpPr/>
          <p:nvPr/>
        </p:nvSpPr>
        <p:spPr>
          <a:xfrm>
            <a:off x="658368" y="3401568"/>
            <a:ext cx="1463040" cy="45720"/>
          </a:xfrm>
          <a:prstGeom prst="rect">
            <a:avLst/>
          </a:prstGeom>
          <a:gradFill rotWithShape="1">
            <a:gsLst>
              <a:gs pos="0">
                <a:srgbClr val="38BDF8"/>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639312"/>
            <a:ext cx="9052560" cy="1051560"/>
          </a:xfrm>
          <a:prstGeom prst="rect">
            <a:avLst/>
          </a:prstGeom>
          <a:noFill/>
        </p:spPr>
        <p:txBody>
          <a:bodyPr wrap="square" lIns="0" rIns="0" tIns="0" bIns="0" anchor="t"/>
          <a:lstStyle/>
          <a:p>
            <a:pPr algn="l">
              <a:lnSpc>
                <a:spcPct val="124000"/>
              </a:lnSpc>
              <a:spcBef>
                <a:spcPts val="0"/>
              </a:spcBef>
              <a:spcAft>
                <a:spcPts val="0"/>
              </a:spcAft>
            </a:pPr>
            <a:r>
              <a:rPr sz="1800" b="0">
                <a:solidFill>
                  <a:srgbClr val="94A3B8"/>
                </a:solidFill>
                <a:latin typeface="Arial"/>
                <a:ea typeface="PingFang SC"/>
              </a:rPr>
              <a:t>从公共数据到可复现的产业分析与可视化叙事</a:t>
            </a:r>
          </a:p>
        </p:txBody>
      </p:sp>
      <p:sp>
        <p:nvSpPr>
          <p:cNvPr id="12" name="Rounded Rectangle 11"/>
          <p:cNvSpPr/>
          <p:nvPr/>
        </p:nvSpPr>
        <p:spPr>
          <a:xfrm>
            <a:off x="658368" y="5870448"/>
            <a:ext cx="2834640" cy="402336"/>
          </a:xfrm>
          <a:prstGeom prst="roundRect">
            <a:avLst>
              <a:gd name="adj" fmla="val 40000"/>
            </a:avLst>
          </a:prstGeom>
          <a:solidFill>
            <a:srgbClr val="072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 y="6044184"/>
            <a:ext cx="82296" cy="82296"/>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5870448"/>
            <a:ext cx="2322576" cy="402336"/>
          </a:xfrm>
          <a:prstGeom prst="rect">
            <a:avLst/>
          </a:prstGeom>
          <a:noFill/>
        </p:spPr>
        <p:txBody>
          <a:bodyPr wrap="square" lIns="0" rIns="0" tIns="0" bIns="0" anchor="ctr"/>
          <a:lstStyle/>
          <a:p>
            <a:pPr algn="l">
              <a:lnSpc>
                <a:spcPct val="112000"/>
              </a:lnSpc>
              <a:spcBef>
                <a:spcPts val="0"/>
              </a:spcBef>
              <a:spcAft>
                <a:spcPts val="0"/>
              </a:spcAft>
            </a:pPr>
            <a:r>
              <a:rPr sz="1100" b="1">
                <a:solidFill>
                  <a:srgbClr val="FFFFFF"/>
                </a:solidFill>
                <a:latin typeface="Arial"/>
                <a:ea typeface="PingFang SC"/>
              </a:rPr>
              <a:t>Data Governance</a:t>
            </a:r>
          </a:p>
        </p:txBody>
      </p:sp>
      <p:sp>
        <p:nvSpPr>
          <p:cNvPr id="15" name="Rounded Rectangle 14"/>
          <p:cNvSpPr/>
          <p:nvPr/>
        </p:nvSpPr>
        <p:spPr>
          <a:xfrm>
            <a:off x="3621024" y="5870448"/>
            <a:ext cx="2523744" cy="402336"/>
          </a:xfrm>
          <a:prstGeom prst="roundRect">
            <a:avLst>
              <a:gd name="adj" fmla="val 40000"/>
            </a:avLst>
          </a:prstGeom>
          <a:solidFill>
            <a:srgbClr val="252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840480" y="6044184"/>
            <a:ext cx="82296" cy="82296"/>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0" y="5870448"/>
            <a:ext cx="2011679" cy="402336"/>
          </a:xfrm>
          <a:prstGeom prst="rect">
            <a:avLst/>
          </a:prstGeom>
          <a:noFill/>
        </p:spPr>
        <p:txBody>
          <a:bodyPr wrap="square" lIns="0" rIns="0" tIns="0" bIns="0" anchor="ctr"/>
          <a:lstStyle/>
          <a:p>
            <a:pPr algn="l">
              <a:lnSpc>
                <a:spcPct val="112000"/>
              </a:lnSpc>
              <a:spcBef>
                <a:spcPts val="0"/>
              </a:spcBef>
              <a:spcAft>
                <a:spcPts val="0"/>
              </a:spcAft>
            </a:pPr>
            <a:r>
              <a:rPr sz="1100" b="1">
                <a:solidFill>
                  <a:srgbClr val="FFFFFF"/>
                </a:solidFill>
                <a:latin typeface="Arial"/>
                <a:ea typeface="PingFang SC"/>
              </a:rPr>
              <a:t>Visualization</a:t>
            </a:r>
          </a:p>
        </p:txBody>
      </p:sp>
      <p:sp>
        <p:nvSpPr>
          <p:cNvPr id="18" name="Rounded Rectangle 17"/>
          <p:cNvSpPr/>
          <p:nvPr/>
        </p:nvSpPr>
        <p:spPr>
          <a:xfrm>
            <a:off x="6272784" y="5870448"/>
            <a:ext cx="2679192" cy="402336"/>
          </a:xfrm>
          <a:prstGeom prst="roundRect">
            <a:avLst>
              <a:gd name="adj" fmla="val 40000"/>
            </a:avLst>
          </a:prstGeom>
          <a:solidFill>
            <a:srgbClr val="0A34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92240" y="6044184"/>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5870448"/>
            <a:ext cx="2167128" cy="402336"/>
          </a:xfrm>
          <a:prstGeom prst="rect">
            <a:avLst/>
          </a:prstGeom>
          <a:noFill/>
        </p:spPr>
        <p:txBody>
          <a:bodyPr wrap="square" lIns="0" rIns="0" tIns="0" bIns="0" anchor="ctr"/>
          <a:lstStyle/>
          <a:p>
            <a:pPr algn="l">
              <a:lnSpc>
                <a:spcPct val="112000"/>
              </a:lnSpc>
              <a:spcBef>
                <a:spcPts val="0"/>
              </a:spcBef>
              <a:spcAft>
                <a:spcPts val="0"/>
              </a:spcAft>
            </a:pPr>
            <a:r>
              <a:rPr sz="1100" b="1">
                <a:solidFill>
                  <a:srgbClr val="FFFFFF"/>
                </a:solidFill>
                <a:latin typeface="Arial"/>
                <a:ea typeface="PingFang SC"/>
              </a:rPr>
              <a:t>Sustainability</a:t>
            </a:r>
          </a:p>
        </p:txBody>
      </p:sp>
      <p:sp>
        <p:nvSpPr>
          <p:cNvPr id="21" name="Rounded Rectangle 20"/>
          <p:cNvSpPr/>
          <p:nvPr/>
        </p:nvSpPr>
        <p:spPr>
          <a:xfrm>
            <a:off x="9079992" y="5870448"/>
            <a:ext cx="1435608" cy="402336"/>
          </a:xfrm>
          <a:prstGeom prst="roundRect">
            <a:avLst>
              <a:gd name="adj" fmla="val 40000"/>
            </a:avLst>
          </a:prstGeom>
          <a:solidFill>
            <a:srgbClr val="3C2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299448" y="6044184"/>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82328" y="5870448"/>
            <a:ext cx="923544" cy="402336"/>
          </a:xfrm>
          <a:prstGeom prst="rect">
            <a:avLst/>
          </a:prstGeom>
          <a:noFill/>
        </p:spPr>
        <p:txBody>
          <a:bodyPr wrap="square" lIns="0" rIns="0" tIns="0" bIns="0" anchor="ctr"/>
          <a:lstStyle/>
          <a:p>
            <a:pPr algn="l">
              <a:lnSpc>
                <a:spcPct val="112000"/>
              </a:lnSpc>
              <a:spcBef>
                <a:spcPts val="0"/>
              </a:spcBef>
              <a:spcAft>
                <a:spcPts val="0"/>
              </a:spcAft>
            </a:pPr>
            <a:r>
              <a:rPr sz="1100" b="1">
                <a:solidFill>
                  <a:srgbClr val="FFFFFF"/>
                </a:solidFill>
                <a:latin typeface="Arial"/>
                <a:ea typeface="PingFang SC"/>
              </a:rPr>
              <a:t>Python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4008"/>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73968" cy="219456"/>
          </a:xfrm>
          <a:prstGeom prst="rect">
            <a:avLst/>
          </a:prstGeom>
          <a:noFill/>
        </p:spPr>
        <p:txBody>
          <a:bodyPr wrap="square" lIns="0" rIns="0" tIns="0" bIns="0" anchor="t"/>
          <a:lstStyle/>
          <a:p>
            <a:pPr algn="l">
              <a:lnSpc>
                <a:spcPct val="112000"/>
              </a:lnSpc>
              <a:spcBef>
                <a:spcPts val="0"/>
              </a:spcBef>
              <a:spcAft>
                <a:spcPts val="0"/>
              </a:spcAft>
            </a:pPr>
            <a:r>
              <a:rPr sz="1000" b="1">
                <a:solidFill>
                  <a:srgbClr val="0284C7"/>
                </a:solidFill>
                <a:latin typeface="Arial"/>
                <a:ea typeface="PingFang SC"/>
              </a:rPr>
              <a:t>CONTENTS</a:t>
            </a:r>
          </a:p>
        </p:txBody>
      </p:sp>
      <p:sp>
        <p:nvSpPr>
          <p:cNvPr id="4" name="TextBox 3"/>
          <p:cNvSpPr txBox="1"/>
          <p:nvPr/>
        </p:nvSpPr>
        <p:spPr>
          <a:xfrm>
            <a:off x="502920" y="347472"/>
            <a:ext cx="11173968" cy="713232"/>
          </a:xfrm>
          <a:prstGeom prst="rect">
            <a:avLst/>
          </a:prstGeom>
          <a:noFill/>
        </p:spPr>
        <p:txBody>
          <a:bodyPr wrap="square" lIns="0" rIns="0" tIns="0" bIns="0" anchor="b"/>
          <a:lstStyle/>
          <a:p>
            <a:pPr algn="l">
              <a:lnSpc>
                <a:spcPct val="105000"/>
              </a:lnSpc>
              <a:spcBef>
                <a:spcPts val="0"/>
              </a:spcBef>
              <a:spcAft>
                <a:spcPts val="0"/>
              </a:spcAft>
            </a:pPr>
            <a:r>
              <a:rPr sz="2400" b="1">
                <a:solidFill>
                  <a:srgbClr val="0F172A"/>
                </a:solidFill>
                <a:latin typeface="Arial"/>
                <a:ea typeface="PingFang SC"/>
              </a:rPr>
              <a:t>我把一个课程项目重构成四层证据链</a:t>
            </a:r>
          </a:p>
        </p:txBody>
      </p:sp>
      <p:sp>
        <p:nvSpPr>
          <p:cNvPr id="5" name="Rectangle 4"/>
          <p:cNvSpPr/>
          <p:nvPr/>
        </p:nvSpPr>
        <p:spPr>
          <a:xfrm>
            <a:off x="502920" y="1115568"/>
            <a:ext cx="1051560" cy="32004"/>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54480" y="1124712"/>
            <a:ext cx="1012240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2112264"/>
            <a:ext cx="11173968" cy="530352"/>
          </a:xfrm>
          <a:prstGeom prst="roundRect">
            <a:avLst>
              <a:gd name="adj" fmla="val 10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2112264"/>
            <a:ext cx="54864" cy="530352"/>
          </a:xfrm>
          <a:prstGeom prst="roundRect">
            <a:avLst>
              <a:gd name="adj" fmla="val 4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13232" y="2185416"/>
            <a:ext cx="402336" cy="402336"/>
          </a:xfrm>
          <a:prstGeom prst="roundRect">
            <a:avLst>
              <a:gd name="adj" fmla="val 3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185416"/>
            <a:ext cx="402336" cy="402336"/>
          </a:xfrm>
          <a:prstGeom prst="rect">
            <a:avLst/>
          </a:prstGeom>
          <a:noFill/>
        </p:spPr>
        <p:txBody>
          <a:bodyPr wrap="square" lIns="0" rIns="0" tIns="0" bIns="0" anchor="ctr"/>
          <a:lstStyle/>
          <a:p>
            <a:pPr algn="ctr">
              <a:lnSpc>
                <a:spcPct val="112000"/>
              </a:lnSpc>
              <a:spcBef>
                <a:spcPts val="0"/>
              </a:spcBef>
              <a:spcAft>
                <a:spcPts val="0"/>
              </a:spcAft>
            </a:pPr>
            <a:r>
              <a:rPr sz="1300" b="1">
                <a:solidFill>
                  <a:srgbClr val="FFFFFF"/>
                </a:solidFill>
                <a:latin typeface="Arial"/>
                <a:ea typeface="PingFang SC"/>
              </a:rPr>
              <a:t>01</a:t>
            </a:r>
          </a:p>
        </p:txBody>
      </p:sp>
      <p:sp>
        <p:nvSpPr>
          <p:cNvPr id="11" name="TextBox 10"/>
          <p:cNvSpPr txBox="1"/>
          <p:nvPr/>
        </p:nvSpPr>
        <p:spPr>
          <a:xfrm>
            <a:off x="1298448" y="2075688"/>
            <a:ext cx="6492240" cy="621792"/>
          </a:xfrm>
          <a:prstGeom prst="rect">
            <a:avLst/>
          </a:prstGeom>
          <a:noFill/>
        </p:spPr>
        <p:txBody>
          <a:bodyPr wrap="square" lIns="0" rIns="0" tIns="0" bIns="0" anchor="ctr"/>
          <a:lstStyle/>
          <a:p>
            <a:pPr algn="l">
              <a:lnSpc>
                <a:spcPct val="112000"/>
              </a:lnSpc>
              <a:spcBef>
                <a:spcPts val="0"/>
              </a:spcBef>
              <a:spcAft>
                <a:spcPts val="0"/>
              </a:spcAft>
            </a:pPr>
            <a:r>
              <a:rPr sz="1600" b="1">
                <a:solidFill>
                  <a:srgbClr val="0F172A"/>
                </a:solidFill>
                <a:latin typeface="Arial"/>
                <a:ea typeface="PingFang SC"/>
              </a:rPr>
              <a:t>研究命题</a:t>
            </a:r>
          </a:p>
        </p:txBody>
      </p:sp>
      <p:sp>
        <p:nvSpPr>
          <p:cNvPr id="12" name="TextBox 11"/>
          <p:cNvSpPr txBox="1"/>
          <p:nvPr/>
        </p:nvSpPr>
        <p:spPr>
          <a:xfrm>
            <a:off x="7955279" y="2075688"/>
            <a:ext cx="3657600" cy="621792"/>
          </a:xfrm>
          <a:prstGeom prst="rect">
            <a:avLst/>
          </a:prstGeom>
          <a:noFill/>
        </p:spPr>
        <p:txBody>
          <a:bodyPr wrap="square" lIns="0" rIns="0" tIns="0" bIns="0" anchor="ctr"/>
          <a:lstStyle/>
          <a:p>
            <a:pPr algn="r">
              <a:lnSpc>
                <a:spcPct val="112000"/>
              </a:lnSpc>
              <a:spcBef>
                <a:spcPts val="0"/>
              </a:spcBef>
              <a:spcAft>
                <a:spcPts val="0"/>
              </a:spcAft>
            </a:pPr>
            <a:r>
              <a:rPr sz="1200" b="0">
                <a:solidFill>
                  <a:srgbClr val="475569"/>
                </a:solidFill>
                <a:latin typeface="Arial"/>
                <a:ea typeface="PingFang SC"/>
              </a:rPr>
              <a:t>从产业增长追问转型质量</a:t>
            </a:r>
          </a:p>
        </p:txBody>
      </p:sp>
      <p:sp>
        <p:nvSpPr>
          <p:cNvPr id="13" name="Rounded Rectangle 12"/>
          <p:cNvSpPr/>
          <p:nvPr/>
        </p:nvSpPr>
        <p:spPr>
          <a:xfrm>
            <a:off x="502920" y="2734056"/>
            <a:ext cx="11173968" cy="530352"/>
          </a:xfrm>
          <a:prstGeom prst="roundRect">
            <a:avLst>
              <a:gd name="adj" fmla="val 10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2734056"/>
            <a:ext cx="54864" cy="530352"/>
          </a:xfrm>
          <a:prstGeom prst="roundRect">
            <a:avLst>
              <a:gd name="adj" fmla="val 4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3232" y="2807208"/>
            <a:ext cx="402336" cy="402336"/>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807208"/>
            <a:ext cx="402336" cy="402336"/>
          </a:xfrm>
          <a:prstGeom prst="rect">
            <a:avLst/>
          </a:prstGeom>
          <a:noFill/>
        </p:spPr>
        <p:txBody>
          <a:bodyPr wrap="square" lIns="0" rIns="0" tIns="0" bIns="0" anchor="ctr"/>
          <a:lstStyle/>
          <a:p>
            <a:pPr algn="ctr">
              <a:lnSpc>
                <a:spcPct val="112000"/>
              </a:lnSpc>
              <a:spcBef>
                <a:spcPts val="0"/>
              </a:spcBef>
              <a:spcAft>
                <a:spcPts val="0"/>
              </a:spcAft>
            </a:pPr>
            <a:r>
              <a:rPr sz="1300" b="1">
                <a:solidFill>
                  <a:srgbClr val="FFFFFF"/>
                </a:solidFill>
                <a:latin typeface="Arial"/>
                <a:ea typeface="PingFang SC"/>
              </a:rPr>
              <a:t>02</a:t>
            </a:r>
          </a:p>
        </p:txBody>
      </p:sp>
      <p:sp>
        <p:nvSpPr>
          <p:cNvPr id="17" name="TextBox 16"/>
          <p:cNvSpPr txBox="1"/>
          <p:nvPr/>
        </p:nvSpPr>
        <p:spPr>
          <a:xfrm>
            <a:off x="1298448" y="2697480"/>
            <a:ext cx="6492240" cy="621792"/>
          </a:xfrm>
          <a:prstGeom prst="rect">
            <a:avLst/>
          </a:prstGeom>
          <a:noFill/>
        </p:spPr>
        <p:txBody>
          <a:bodyPr wrap="square" lIns="0" rIns="0" tIns="0" bIns="0" anchor="ctr"/>
          <a:lstStyle/>
          <a:p>
            <a:pPr algn="l">
              <a:lnSpc>
                <a:spcPct val="112000"/>
              </a:lnSpc>
              <a:spcBef>
                <a:spcPts val="0"/>
              </a:spcBef>
              <a:spcAft>
                <a:spcPts val="0"/>
              </a:spcAft>
            </a:pPr>
            <a:r>
              <a:rPr sz="1600" b="1">
                <a:solidFill>
                  <a:srgbClr val="0F172A"/>
                </a:solidFill>
                <a:latin typeface="Arial"/>
                <a:ea typeface="PingFang SC"/>
              </a:rPr>
              <a:t>数据与方法</a:t>
            </a:r>
          </a:p>
        </p:txBody>
      </p:sp>
      <p:sp>
        <p:nvSpPr>
          <p:cNvPr id="18" name="TextBox 17"/>
          <p:cNvSpPr txBox="1"/>
          <p:nvPr/>
        </p:nvSpPr>
        <p:spPr>
          <a:xfrm>
            <a:off x="7955279" y="2697480"/>
            <a:ext cx="3657600" cy="621792"/>
          </a:xfrm>
          <a:prstGeom prst="rect">
            <a:avLst/>
          </a:prstGeom>
          <a:noFill/>
        </p:spPr>
        <p:txBody>
          <a:bodyPr wrap="square" lIns="0" rIns="0" tIns="0" bIns="0" anchor="ctr"/>
          <a:lstStyle/>
          <a:p>
            <a:pPr algn="r">
              <a:lnSpc>
                <a:spcPct val="112000"/>
              </a:lnSpc>
              <a:spcBef>
                <a:spcPts val="0"/>
              </a:spcBef>
              <a:spcAft>
                <a:spcPts val="0"/>
              </a:spcAft>
            </a:pPr>
            <a:r>
              <a:rPr sz="1200" b="0">
                <a:solidFill>
                  <a:srgbClr val="475569"/>
                </a:solidFill>
                <a:latin typeface="Arial"/>
                <a:ea typeface="PingFang SC"/>
              </a:rPr>
              <a:t>先统一口径，再建立可复现流程</a:t>
            </a:r>
          </a:p>
        </p:txBody>
      </p:sp>
      <p:sp>
        <p:nvSpPr>
          <p:cNvPr id="19" name="Rounded Rectangle 18"/>
          <p:cNvSpPr/>
          <p:nvPr/>
        </p:nvSpPr>
        <p:spPr>
          <a:xfrm>
            <a:off x="502920" y="3355848"/>
            <a:ext cx="11173968" cy="530352"/>
          </a:xfrm>
          <a:prstGeom prst="roundRect">
            <a:avLst>
              <a:gd name="adj" fmla="val 10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3355848"/>
            <a:ext cx="54864" cy="530352"/>
          </a:xfrm>
          <a:prstGeom prst="roundRect">
            <a:avLst>
              <a:gd name="adj" fmla="val 4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13232" y="3429000"/>
            <a:ext cx="402336" cy="402336"/>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3429000"/>
            <a:ext cx="402336" cy="402336"/>
          </a:xfrm>
          <a:prstGeom prst="rect">
            <a:avLst/>
          </a:prstGeom>
          <a:noFill/>
        </p:spPr>
        <p:txBody>
          <a:bodyPr wrap="square" lIns="0" rIns="0" tIns="0" bIns="0" anchor="ctr"/>
          <a:lstStyle/>
          <a:p>
            <a:pPr algn="ctr">
              <a:lnSpc>
                <a:spcPct val="112000"/>
              </a:lnSpc>
              <a:spcBef>
                <a:spcPts val="0"/>
              </a:spcBef>
              <a:spcAft>
                <a:spcPts val="0"/>
              </a:spcAft>
            </a:pPr>
            <a:r>
              <a:rPr sz="1300" b="1">
                <a:solidFill>
                  <a:srgbClr val="FFFFFF"/>
                </a:solidFill>
                <a:latin typeface="Arial"/>
                <a:ea typeface="PingFang SC"/>
              </a:rPr>
              <a:t>03</a:t>
            </a:r>
          </a:p>
        </p:txBody>
      </p:sp>
      <p:sp>
        <p:nvSpPr>
          <p:cNvPr id="23" name="TextBox 22"/>
          <p:cNvSpPr txBox="1"/>
          <p:nvPr/>
        </p:nvSpPr>
        <p:spPr>
          <a:xfrm>
            <a:off x="1298448" y="3319272"/>
            <a:ext cx="6492240" cy="621792"/>
          </a:xfrm>
          <a:prstGeom prst="rect">
            <a:avLst/>
          </a:prstGeom>
          <a:noFill/>
        </p:spPr>
        <p:txBody>
          <a:bodyPr wrap="square" lIns="0" rIns="0" tIns="0" bIns="0" anchor="ctr"/>
          <a:lstStyle/>
          <a:p>
            <a:pPr algn="l">
              <a:lnSpc>
                <a:spcPct val="112000"/>
              </a:lnSpc>
              <a:spcBef>
                <a:spcPts val="0"/>
              </a:spcBef>
              <a:spcAft>
                <a:spcPts val="0"/>
              </a:spcAft>
            </a:pPr>
            <a:r>
              <a:rPr sz="1600" b="1">
                <a:solidFill>
                  <a:srgbClr val="0F172A"/>
                </a:solidFill>
                <a:latin typeface="Arial"/>
                <a:ea typeface="PingFang SC"/>
              </a:rPr>
              <a:t>发现与解释</a:t>
            </a:r>
          </a:p>
        </p:txBody>
      </p:sp>
      <p:sp>
        <p:nvSpPr>
          <p:cNvPr id="24" name="TextBox 23"/>
          <p:cNvSpPr txBox="1"/>
          <p:nvPr/>
        </p:nvSpPr>
        <p:spPr>
          <a:xfrm>
            <a:off x="7955279" y="3319272"/>
            <a:ext cx="3657600" cy="621792"/>
          </a:xfrm>
          <a:prstGeom prst="rect">
            <a:avLst/>
          </a:prstGeom>
          <a:noFill/>
        </p:spPr>
        <p:txBody>
          <a:bodyPr wrap="square" lIns="0" rIns="0" tIns="0" bIns="0" anchor="ctr"/>
          <a:lstStyle/>
          <a:p>
            <a:pPr algn="r">
              <a:lnSpc>
                <a:spcPct val="112000"/>
              </a:lnSpc>
              <a:spcBef>
                <a:spcPts val="0"/>
              </a:spcBef>
              <a:spcAft>
                <a:spcPts val="0"/>
              </a:spcAft>
            </a:pPr>
            <a:r>
              <a:rPr sz="1200" b="0">
                <a:solidFill>
                  <a:srgbClr val="475569"/>
                </a:solidFill>
                <a:latin typeface="Arial"/>
                <a:ea typeface="PingFang SC"/>
              </a:rPr>
              <a:t>从数字变化提炼结构性判断</a:t>
            </a:r>
          </a:p>
        </p:txBody>
      </p:sp>
      <p:sp>
        <p:nvSpPr>
          <p:cNvPr id="25" name="Rounded Rectangle 24"/>
          <p:cNvSpPr/>
          <p:nvPr/>
        </p:nvSpPr>
        <p:spPr>
          <a:xfrm>
            <a:off x="502920" y="3977640"/>
            <a:ext cx="11173968" cy="530352"/>
          </a:xfrm>
          <a:prstGeom prst="roundRect">
            <a:avLst>
              <a:gd name="adj" fmla="val 10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02920" y="3977640"/>
            <a:ext cx="54864" cy="530352"/>
          </a:xfrm>
          <a:prstGeom prst="roundRect">
            <a:avLst>
              <a:gd name="adj" fmla="val 4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13232" y="4050792"/>
            <a:ext cx="402336" cy="402336"/>
          </a:xfrm>
          <a:prstGeom prst="roundRect">
            <a:avLst>
              <a:gd name="adj" fmla="val 3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4050792"/>
            <a:ext cx="402336" cy="402336"/>
          </a:xfrm>
          <a:prstGeom prst="rect">
            <a:avLst/>
          </a:prstGeom>
          <a:noFill/>
        </p:spPr>
        <p:txBody>
          <a:bodyPr wrap="square" lIns="0" rIns="0" tIns="0" bIns="0" anchor="ctr"/>
          <a:lstStyle/>
          <a:p>
            <a:pPr algn="ctr">
              <a:lnSpc>
                <a:spcPct val="112000"/>
              </a:lnSpc>
              <a:spcBef>
                <a:spcPts val="0"/>
              </a:spcBef>
              <a:spcAft>
                <a:spcPts val="0"/>
              </a:spcAft>
            </a:pPr>
            <a:r>
              <a:rPr sz="1300" b="1">
                <a:solidFill>
                  <a:srgbClr val="FFFFFF"/>
                </a:solidFill>
                <a:latin typeface="Arial"/>
                <a:ea typeface="PingFang SC"/>
              </a:rPr>
              <a:t>04</a:t>
            </a:r>
          </a:p>
        </p:txBody>
      </p:sp>
      <p:sp>
        <p:nvSpPr>
          <p:cNvPr id="29" name="TextBox 28"/>
          <p:cNvSpPr txBox="1"/>
          <p:nvPr/>
        </p:nvSpPr>
        <p:spPr>
          <a:xfrm>
            <a:off x="1298448" y="3941064"/>
            <a:ext cx="6492240" cy="621792"/>
          </a:xfrm>
          <a:prstGeom prst="rect">
            <a:avLst/>
          </a:prstGeom>
          <a:noFill/>
        </p:spPr>
        <p:txBody>
          <a:bodyPr wrap="square" lIns="0" rIns="0" tIns="0" bIns="0" anchor="ctr"/>
          <a:lstStyle/>
          <a:p>
            <a:pPr algn="l">
              <a:lnSpc>
                <a:spcPct val="112000"/>
              </a:lnSpc>
              <a:spcBef>
                <a:spcPts val="0"/>
              </a:spcBef>
              <a:spcAft>
                <a:spcPts val="0"/>
              </a:spcAft>
            </a:pPr>
            <a:r>
              <a:rPr sz="1600" b="1">
                <a:solidFill>
                  <a:srgbClr val="0F172A"/>
                </a:solidFill>
                <a:latin typeface="Arial"/>
                <a:ea typeface="PingFang SC"/>
              </a:rPr>
              <a:t>反思与延展</a:t>
            </a:r>
          </a:p>
        </p:txBody>
      </p:sp>
      <p:sp>
        <p:nvSpPr>
          <p:cNvPr id="30" name="TextBox 29"/>
          <p:cNvSpPr txBox="1"/>
          <p:nvPr/>
        </p:nvSpPr>
        <p:spPr>
          <a:xfrm>
            <a:off x="7955279" y="3941064"/>
            <a:ext cx="3657600" cy="621792"/>
          </a:xfrm>
          <a:prstGeom prst="rect">
            <a:avLst/>
          </a:prstGeom>
          <a:noFill/>
        </p:spPr>
        <p:txBody>
          <a:bodyPr wrap="square" lIns="0" rIns="0" tIns="0" bIns="0" anchor="ctr"/>
          <a:lstStyle/>
          <a:p>
            <a:pPr algn="r">
              <a:lnSpc>
                <a:spcPct val="112000"/>
              </a:lnSpc>
              <a:spcBef>
                <a:spcPts val="0"/>
              </a:spcBef>
              <a:spcAft>
                <a:spcPts val="0"/>
              </a:spcAft>
            </a:pPr>
            <a:r>
              <a:rPr sz="1200" b="0">
                <a:solidFill>
                  <a:srgbClr val="475569"/>
                </a:solidFill>
                <a:latin typeface="Arial"/>
                <a:ea typeface="PingFang SC"/>
              </a:rPr>
              <a:t>明确假设边界，提出下一步研究</a:t>
            </a:r>
          </a:p>
        </p:txBody>
      </p:sp>
      <p:sp>
        <p:nvSpPr>
          <p:cNvPr id="31" name="Rectangle 30"/>
          <p:cNvSpPr/>
          <p:nvPr/>
        </p:nvSpPr>
        <p:spPr>
          <a:xfrm>
            <a:off x="502920" y="6199632"/>
            <a:ext cx="11173968" cy="1097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291072"/>
            <a:ext cx="8961120" cy="256032"/>
          </a:xfrm>
          <a:prstGeom prst="rect">
            <a:avLst/>
          </a:prstGeom>
          <a:noFill/>
        </p:spPr>
        <p:txBody>
          <a:bodyPr wrap="square" lIns="0" rIns="0" tIns="0" bIns="0" anchor="ctr"/>
          <a:lstStyle/>
          <a:p>
            <a:pPr algn="l">
              <a:lnSpc>
                <a:spcPct val="112000"/>
              </a:lnSpc>
              <a:spcBef>
                <a:spcPts val="0"/>
              </a:spcBef>
              <a:spcAft>
                <a:spcPts val="0"/>
              </a:spcAft>
            </a:pPr>
            <a:r>
              <a:rPr sz="1000" b="0">
                <a:solidFill>
                  <a:srgbClr val="94A3B8"/>
                </a:solidFill>
                <a:latin typeface="Arial"/>
                <a:ea typeface="PingFang SC"/>
              </a:rPr>
              <a:t>个人作品集项目 · 数据截止 2025.12 · 公开统计整理</a:t>
            </a:r>
          </a:p>
        </p:txBody>
      </p:sp>
      <p:sp>
        <p:nvSpPr>
          <p:cNvPr id="33" name="TextBox 32"/>
          <p:cNvSpPr txBox="1"/>
          <p:nvPr/>
        </p:nvSpPr>
        <p:spPr>
          <a:xfrm>
            <a:off x="10561320" y="6291072"/>
            <a:ext cx="1115568" cy="256032"/>
          </a:xfrm>
          <a:prstGeom prst="rect">
            <a:avLst/>
          </a:prstGeom>
          <a:noFill/>
        </p:spPr>
        <p:txBody>
          <a:bodyPr wrap="square" lIns="0" rIns="0" tIns="0" bIns="0" anchor="ctr"/>
          <a:lstStyle/>
          <a:p>
            <a:pPr algn="r">
              <a:lnSpc>
                <a:spcPct val="112000"/>
              </a:lnSpc>
              <a:spcBef>
                <a:spcPts val="0"/>
              </a:spcBef>
              <a:spcAft>
                <a:spcPts val="0"/>
              </a:spcAft>
            </a:pPr>
            <a:r>
              <a:rPr sz="1000" b="0">
                <a:solidFill>
                  <a:srgbClr val="94A3B8"/>
                </a:solidFill>
                <a:latin typeface="Arial"/>
                <a:ea typeface="PingFang SC"/>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gradFill rotWithShape="1">
            <a:gsLst>
              <a:gs pos="0">
                <a:srgbClr val="080F1F"/>
              </a:gs>
              <a:gs pos="100000">
                <a:srgbClr val="1E293B"/>
              </a:gs>
            </a:gsLst>
            <a:lin scaled="0" ang="189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49640" y="1234440"/>
            <a:ext cx="4389120" cy="4389120"/>
          </a:xfrm>
          <a:prstGeom prst="ellipse">
            <a:avLst/>
          </a:prstGeom>
          <a:noFill/>
          <a:ln w="12700">
            <a:solidFill>
              <a:srgbClr val="2655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46920" y="2331720"/>
            <a:ext cx="2194560" cy="2194560"/>
          </a:xfrm>
          <a:prstGeom prst="ellipse">
            <a:avLst/>
          </a:prstGeom>
          <a:noFill/>
          <a:ln w="12700">
            <a:solidFill>
              <a:srgbClr val="433A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 cy="6858000"/>
          </a:xfrm>
          <a:prstGeom prst="rect">
            <a:avLst/>
          </a:prstGeom>
          <a:gradFill rotWithShape="1">
            <a:gsLst>
              <a:gs pos="0">
                <a:srgbClr val="0284C7"/>
              </a:gs>
              <a:gs pos="100000">
                <a:srgbClr val="8B5CF6"/>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234440"/>
            <a:ext cx="9692640" cy="1554480"/>
          </a:xfrm>
          <a:prstGeom prst="rect">
            <a:avLst/>
          </a:prstGeom>
          <a:noFill/>
        </p:spPr>
        <p:txBody>
          <a:bodyPr wrap="square" lIns="0" rIns="0" tIns="0" bIns="0" anchor="t"/>
          <a:lstStyle/>
          <a:p>
            <a:pPr algn="l">
              <a:lnSpc>
                <a:spcPct val="112000"/>
              </a:lnSpc>
              <a:spcBef>
                <a:spcPts val="0"/>
              </a:spcBef>
              <a:spcAft>
                <a:spcPts val="0"/>
              </a:spcAft>
            </a:pPr>
            <a:r>
              <a:rPr sz="10400" b="1">
                <a:solidFill>
                  <a:srgbClr val="2C7AA3"/>
                </a:solidFill>
                <a:latin typeface="Arial"/>
                <a:ea typeface="PingFang SC"/>
              </a:rPr>
              <a:t>01</a:t>
            </a:r>
          </a:p>
        </p:txBody>
      </p:sp>
      <p:sp>
        <p:nvSpPr>
          <p:cNvPr id="7" name="Rectangle 6"/>
          <p:cNvSpPr/>
          <p:nvPr/>
        </p:nvSpPr>
        <p:spPr>
          <a:xfrm>
            <a:off x="658368" y="2926080"/>
            <a:ext cx="1463040" cy="45720"/>
          </a:xfrm>
          <a:prstGeom prst="rect">
            <a:avLst/>
          </a:prstGeom>
          <a:gradFill rotWithShape="1">
            <a:gsLst>
              <a:gs pos="0">
                <a:srgbClr val="38BDF8"/>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182112"/>
            <a:ext cx="9692640" cy="1188720"/>
          </a:xfrm>
          <a:prstGeom prst="rect">
            <a:avLst/>
          </a:prstGeom>
          <a:noFill/>
        </p:spPr>
        <p:txBody>
          <a:bodyPr wrap="square" lIns="0" rIns="0" tIns="0" bIns="0" anchor="t"/>
          <a:lstStyle/>
          <a:p>
            <a:pPr algn="l">
              <a:lnSpc>
                <a:spcPct val="108000"/>
              </a:lnSpc>
              <a:spcBef>
                <a:spcPts val="0"/>
              </a:spcBef>
              <a:spcAft>
                <a:spcPts val="0"/>
              </a:spcAft>
            </a:pPr>
            <a:r>
              <a:rPr sz="3200" b="1">
                <a:solidFill>
                  <a:srgbClr val="FFFFFF"/>
                </a:solidFill>
                <a:latin typeface="Arial"/>
                <a:ea typeface="PingFang SC"/>
              </a:rPr>
              <a:t>研究命题</a:t>
            </a:r>
          </a:p>
        </p:txBody>
      </p:sp>
      <p:sp>
        <p:nvSpPr>
          <p:cNvPr id="9" name="TextBox 8"/>
          <p:cNvSpPr txBox="1"/>
          <p:nvPr/>
        </p:nvSpPr>
        <p:spPr>
          <a:xfrm>
            <a:off x="658368" y="4526280"/>
            <a:ext cx="8961120" cy="822960"/>
          </a:xfrm>
          <a:prstGeom prst="rect">
            <a:avLst/>
          </a:prstGeom>
          <a:noFill/>
        </p:spPr>
        <p:txBody>
          <a:bodyPr wrap="square" lIns="0" rIns="0" tIns="0" bIns="0" anchor="t"/>
          <a:lstStyle/>
          <a:p>
            <a:pPr algn="l">
              <a:lnSpc>
                <a:spcPct val="122000"/>
              </a:lnSpc>
              <a:spcBef>
                <a:spcPts val="0"/>
              </a:spcBef>
              <a:spcAft>
                <a:spcPts val="0"/>
              </a:spcAft>
            </a:pPr>
            <a:r>
              <a:rPr sz="1600" b="0">
                <a:solidFill>
                  <a:srgbClr val="94A3B8"/>
                </a:solidFill>
                <a:latin typeface="Arial"/>
                <a:ea typeface="PingFang SC"/>
              </a:rPr>
              <a:t>从产业增长追问转型质量</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4008"/>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73968" cy="219456"/>
          </a:xfrm>
          <a:prstGeom prst="rect">
            <a:avLst/>
          </a:prstGeom>
          <a:noFill/>
        </p:spPr>
        <p:txBody>
          <a:bodyPr wrap="square" lIns="0" rIns="0" tIns="0" bIns="0" anchor="t"/>
          <a:lstStyle/>
          <a:p>
            <a:pPr algn="l">
              <a:lnSpc>
                <a:spcPct val="112000"/>
              </a:lnSpc>
              <a:spcBef>
                <a:spcPts val="0"/>
              </a:spcBef>
              <a:spcAft>
                <a:spcPts val="0"/>
              </a:spcAft>
            </a:pPr>
            <a:r>
              <a:rPr sz="1000" b="1">
                <a:solidFill>
                  <a:srgbClr val="0284C7"/>
                </a:solidFill>
                <a:latin typeface="Arial"/>
                <a:ea typeface="PingFang SC"/>
              </a:rPr>
              <a:t>01  RESEARCH QUESTION</a:t>
            </a:r>
          </a:p>
        </p:txBody>
      </p:sp>
      <p:sp>
        <p:nvSpPr>
          <p:cNvPr id="4" name="TextBox 3"/>
          <p:cNvSpPr txBox="1"/>
          <p:nvPr/>
        </p:nvSpPr>
        <p:spPr>
          <a:xfrm>
            <a:off x="502920" y="347472"/>
            <a:ext cx="11173968" cy="713232"/>
          </a:xfrm>
          <a:prstGeom prst="rect">
            <a:avLst/>
          </a:prstGeom>
          <a:noFill/>
        </p:spPr>
        <p:txBody>
          <a:bodyPr wrap="square" lIns="0" rIns="0" tIns="0" bIns="0" anchor="b"/>
          <a:lstStyle/>
          <a:p>
            <a:pPr algn="l">
              <a:lnSpc>
                <a:spcPct val="105000"/>
              </a:lnSpc>
              <a:spcBef>
                <a:spcPts val="0"/>
              </a:spcBef>
              <a:spcAft>
                <a:spcPts val="0"/>
              </a:spcAft>
            </a:pPr>
            <a:r>
              <a:rPr sz="1800" b="1">
                <a:solidFill>
                  <a:srgbClr val="0F172A"/>
                </a:solidFill>
                <a:latin typeface="Arial"/>
                <a:ea typeface="PingFang SC"/>
              </a:rPr>
              <a:t>这不是一组增长图，而是一个连接规模、基础设施、技术与减排的分析框架</a:t>
            </a:r>
          </a:p>
        </p:txBody>
      </p:sp>
      <p:sp>
        <p:nvSpPr>
          <p:cNvPr id="5" name="Rectangle 4"/>
          <p:cNvSpPr/>
          <p:nvPr/>
        </p:nvSpPr>
        <p:spPr>
          <a:xfrm>
            <a:off x="502920" y="1115568"/>
            <a:ext cx="1051560" cy="32004"/>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54480" y="1124712"/>
            <a:ext cx="1012240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540763"/>
            <a:ext cx="5477256" cy="2743200"/>
          </a:xfrm>
          <a:prstGeom prst="roundRect">
            <a:avLst>
              <a:gd name="adj" fmla="val 7000"/>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540763"/>
            <a:ext cx="5477256" cy="54864"/>
          </a:xfrm>
          <a:prstGeom prst="rect">
            <a:avLst/>
          </a:prstGeom>
          <a:gradFill rotWithShape="1">
            <a:gsLst>
              <a:gs pos="0">
                <a:srgbClr val="94A3B8"/>
              </a:gs>
              <a:gs pos="100000">
                <a:srgbClr val="CAD1DC"/>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40664" y="1796795"/>
            <a:ext cx="1005840" cy="365760"/>
          </a:xfrm>
          <a:prstGeom prst="roundRect">
            <a:avLst>
              <a:gd name="adj" fmla="val 40000"/>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1796795"/>
            <a:ext cx="2103120" cy="365760"/>
          </a:xfrm>
          <a:prstGeom prst="rect">
            <a:avLst/>
          </a:prstGeom>
          <a:noFill/>
        </p:spPr>
        <p:txBody>
          <a:bodyPr wrap="square" lIns="0" rIns="0" tIns="0" bIns="0" anchor="ctr"/>
          <a:lstStyle/>
          <a:p>
            <a:pPr algn="l">
              <a:lnSpc>
                <a:spcPct val="112000"/>
              </a:lnSpc>
              <a:spcBef>
                <a:spcPts val="0"/>
              </a:spcBef>
              <a:spcAft>
                <a:spcPts val="0"/>
              </a:spcAft>
            </a:pPr>
            <a:r>
              <a:rPr sz="1100" b="1">
                <a:solidFill>
                  <a:srgbClr val="94A3B8"/>
                </a:solidFill>
                <a:latin typeface="Arial"/>
                <a:ea typeface="PingFang SC"/>
              </a:rPr>
              <a:t>原始叙事</a:t>
            </a:r>
          </a:p>
        </p:txBody>
      </p:sp>
      <p:sp>
        <p:nvSpPr>
          <p:cNvPr id="11" name="TextBox 10"/>
          <p:cNvSpPr txBox="1"/>
          <p:nvPr/>
        </p:nvSpPr>
        <p:spPr>
          <a:xfrm>
            <a:off x="740664" y="2290570"/>
            <a:ext cx="5001768" cy="566928"/>
          </a:xfrm>
          <a:prstGeom prst="rect">
            <a:avLst/>
          </a:prstGeom>
          <a:noFill/>
        </p:spPr>
        <p:txBody>
          <a:bodyPr wrap="square" lIns="0" rIns="0" tIns="0" bIns="0" anchor="t"/>
          <a:lstStyle/>
          <a:p>
            <a:pPr algn="l">
              <a:lnSpc>
                <a:spcPct val="108000"/>
              </a:lnSpc>
              <a:spcBef>
                <a:spcPts val="0"/>
              </a:spcBef>
              <a:spcAft>
                <a:spcPts val="0"/>
              </a:spcAft>
            </a:pPr>
            <a:r>
              <a:rPr sz="1800" b="1">
                <a:solidFill>
                  <a:srgbClr val="475569"/>
                </a:solidFill>
                <a:latin typeface="Arial"/>
                <a:ea typeface="PingFang SC"/>
              </a:rPr>
              <a:t>新能源汽车增长很快</a:t>
            </a:r>
          </a:p>
        </p:txBody>
      </p:sp>
      <p:sp>
        <p:nvSpPr>
          <p:cNvPr id="12" name="Rounded Rectangle 11"/>
          <p:cNvSpPr/>
          <p:nvPr/>
        </p:nvSpPr>
        <p:spPr>
          <a:xfrm>
            <a:off x="740664" y="3012947"/>
            <a:ext cx="292608" cy="292608"/>
          </a:xfrm>
          <a:prstGeom prst="roundRect">
            <a:avLst>
              <a:gd name="adj" fmla="val 40000"/>
            </a:avLst>
          </a:prstGeom>
          <a:solidFill>
            <a:srgbClr val="EA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3012947"/>
            <a:ext cx="292608" cy="292608"/>
          </a:xfrm>
          <a:prstGeom prst="rect">
            <a:avLst/>
          </a:prstGeom>
          <a:noFill/>
        </p:spPr>
        <p:txBody>
          <a:bodyPr wrap="square" lIns="0" rIns="0" tIns="0" bIns="0" anchor="ctr"/>
          <a:lstStyle/>
          <a:p>
            <a:pPr algn="ctr">
              <a:lnSpc>
                <a:spcPct val="112000"/>
              </a:lnSpc>
              <a:spcBef>
                <a:spcPts val="0"/>
              </a:spcBef>
              <a:spcAft>
                <a:spcPts val="0"/>
              </a:spcAft>
            </a:pPr>
            <a:r>
              <a:rPr sz="900" b="1">
                <a:solidFill>
                  <a:srgbClr val="94A3B8"/>
                </a:solidFill>
                <a:latin typeface="Arial"/>
                <a:ea typeface="PingFang SC"/>
              </a:rPr>
              <a:t>×</a:t>
            </a:r>
          </a:p>
        </p:txBody>
      </p:sp>
      <p:sp>
        <p:nvSpPr>
          <p:cNvPr id="14" name="TextBox 13"/>
          <p:cNvSpPr txBox="1"/>
          <p:nvPr/>
        </p:nvSpPr>
        <p:spPr>
          <a:xfrm>
            <a:off x="1143000" y="2967227"/>
            <a:ext cx="4562856" cy="384048"/>
          </a:xfrm>
          <a:prstGeom prst="rect">
            <a:avLst/>
          </a:prstGeom>
          <a:noFill/>
        </p:spPr>
        <p:txBody>
          <a:bodyPr wrap="square" lIns="0" rIns="0" tIns="0" bIns="0" anchor="ctr"/>
          <a:lstStyle/>
          <a:p>
            <a:pPr algn="l">
              <a:lnSpc>
                <a:spcPct val="116000"/>
              </a:lnSpc>
              <a:spcBef>
                <a:spcPts val="0"/>
              </a:spcBef>
              <a:spcAft>
                <a:spcPts val="0"/>
              </a:spcAft>
            </a:pPr>
            <a:r>
              <a:rPr sz="1300" b="0">
                <a:solidFill>
                  <a:srgbClr val="475569"/>
                </a:solidFill>
                <a:latin typeface="Arial"/>
                <a:ea typeface="PingFang SC"/>
              </a:rPr>
              <a:t>只呈现销量持续上升，缺少结构解释</a:t>
            </a:r>
          </a:p>
        </p:txBody>
      </p:sp>
      <p:sp>
        <p:nvSpPr>
          <p:cNvPr id="15" name="Rounded Rectangle 14"/>
          <p:cNvSpPr/>
          <p:nvPr/>
        </p:nvSpPr>
        <p:spPr>
          <a:xfrm>
            <a:off x="740664" y="3396994"/>
            <a:ext cx="292608" cy="292608"/>
          </a:xfrm>
          <a:prstGeom prst="roundRect">
            <a:avLst>
              <a:gd name="adj" fmla="val 40000"/>
            </a:avLst>
          </a:prstGeom>
          <a:solidFill>
            <a:srgbClr val="EA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 y="3396994"/>
            <a:ext cx="292608" cy="292608"/>
          </a:xfrm>
          <a:prstGeom prst="rect">
            <a:avLst/>
          </a:prstGeom>
          <a:noFill/>
        </p:spPr>
        <p:txBody>
          <a:bodyPr wrap="square" lIns="0" rIns="0" tIns="0" bIns="0" anchor="ctr"/>
          <a:lstStyle/>
          <a:p>
            <a:pPr algn="ctr">
              <a:lnSpc>
                <a:spcPct val="112000"/>
              </a:lnSpc>
              <a:spcBef>
                <a:spcPts val="0"/>
              </a:spcBef>
              <a:spcAft>
                <a:spcPts val="0"/>
              </a:spcAft>
            </a:pPr>
            <a:r>
              <a:rPr sz="900" b="1">
                <a:solidFill>
                  <a:srgbClr val="94A3B8"/>
                </a:solidFill>
                <a:latin typeface="Arial"/>
                <a:ea typeface="PingFang SC"/>
              </a:rPr>
              <a:t>×</a:t>
            </a:r>
          </a:p>
        </p:txBody>
      </p:sp>
      <p:sp>
        <p:nvSpPr>
          <p:cNvPr id="17" name="TextBox 16"/>
          <p:cNvSpPr txBox="1"/>
          <p:nvPr/>
        </p:nvSpPr>
        <p:spPr>
          <a:xfrm>
            <a:off x="1143000" y="3351275"/>
            <a:ext cx="4562856" cy="384048"/>
          </a:xfrm>
          <a:prstGeom prst="rect">
            <a:avLst/>
          </a:prstGeom>
          <a:noFill/>
        </p:spPr>
        <p:txBody>
          <a:bodyPr wrap="square" lIns="0" rIns="0" tIns="0" bIns="0" anchor="ctr"/>
          <a:lstStyle/>
          <a:p>
            <a:pPr algn="l">
              <a:lnSpc>
                <a:spcPct val="116000"/>
              </a:lnSpc>
              <a:spcBef>
                <a:spcPts val="0"/>
              </a:spcBef>
              <a:spcAft>
                <a:spcPts val="0"/>
              </a:spcAft>
            </a:pPr>
            <a:r>
              <a:rPr sz="1300" b="0">
                <a:solidFill>
                  <a:srgbClr val="475569"/>
                </a:solidFill>
                <a:latin typeface="Arial"/>
                <a:ea typeface="PingFang SC"/>
              </a:rPr>
              <a:t>把多个年度指标并列展示，问题之间没有关系</a:t>
            </a:r>
          </a:p>
        </p:txBody>
      </p:sp>
      <p:sp>
        <p:nvSpPr>
          <p:cNvPr id="18" name="Rounded Rectangle 17"/>
          <p:cNvSpPr/>
          <p:nvPr/>
        </p:nvSpPr>
        <p:spPr>
          <a:xfrm>
            <a:off x="740664" y="3781042"/>
            <a:ext cx="292608" cy="292608"/>
          </a:xfrm>
          <a:prstGeom prst="roundRect">
            <a:avLst>
              <a:gd name="adj" fmla="val 40000"/>
            </a:avLst>
          </a:prstGeom>
          <a:solidFill>
            <a:srgbClr val="EA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 y="3781042"/>
            <a:ext cx="292608" cy="292608"/>
          </a:xfrm>
          <a:prstGeom prst="rect">
            <a:avLst/>
          </a:prstGeom>
          <a:noFill/>
        </p:spPr>
        <p:txBody>
          <a:bodyPr wrap="square" lIns="0" rIns="0" tIns="0" bIns="0" anchor="ctr"/>
          <a:lstStyle/>
          <a:p>
            <a:pPr algn="ctr">
              <a:lnSpc>
                <a:spcPct val="112000"/>
              </a:lnSpc>
              <a:spcBef>
                <a:spcPts val="0"/>
              </a:spcBef>
              <a:spcAft>
                <a:spcPts val="0"/>
              </a:spcAft>
            </a:pPr>
            <a:r>
              <a:rPr sz="900" b="1">
                <a:solidFill>
                  <a:srgbClr val="94A3B8"/>
                </a:solidFill>
                <a:latin typeface="Arial"/>
                <a:ea typeface="PingFang SC"/>
              </a:rPr>
              <a:t>×</a:t>
            </a:r>
          </a:p>
        </p:txBody>
      </p:sp>
      <p:sp>
        <p:nvSpPr>
          <p:cNvPr id="20" name="TextBox 19"/>
          <p:cNvSpPr txBox="1"/>
          <p:nvPr/>
        </p:nvSpPr>
        <p:spPr>
          <a:xfrm>
            <a:off x="1143000" y="3735323"/>
            <a:ext cx="4562856" cy="384048"/>
          </a:xfrm>
          <a:prstGeom prst="rect">
            <a:avLst/>
          </a:prstGeom>
          <a:noFill/>
        </p:spPr>
        <p:txBody>
          <a:bodyPr wrap="square" lIns="0" rIns="0" tIns="0" bIns="0" anchor="ctr"/>
          <a:lstStyle/>
          <a:p>
            <a:pPr algn="l">
              <a:lnSpc>
                <a:spcPct val="116000"/>
              </a:lnSpc>
              <a:spcBef>
                <a:spcPts val="0"/>
              </a:spcBef>
              <a:spcAft>
                <a:spcPts val="0"/>
              </a:spcAft>
            </a:pPr>
            <a:r>
              <a:rPr sz="1300" b="0">
                <a:solidFill>
                  <a:srgbClr val="475569"/>
                </a:solidFill>
                <a:latin typeface="Arial"/>
                <a:ea typeface="PingFang SC"/>
              </a:rPr>
              <a:t>容易把相关变化误写成政策或技术的因果效果</a:t>
            </a:r>
          </a:p>
        </p:txBody>
      </p:sp>
      <p:sp>
        <p:nvSpPr>
          <p:cNvPr id="21" name="Rounded Rectangle 20"/>
          <p:cNvSpPr/>
          <p:nvPr/>
        </p:nvSpPr>
        <p:spPr>
          <a:xfrm>
            <a:off x="6199632" y="1540763"/>
            <a:ext cx="5477256" cy="2743200"/>
          </a:xfrm>
          <a:prstGeom prst="roundRect">
            <a:avLst>
              <a:gd name="adj" fmla="val 7000"/>
            </a:avLst>
          </a:prstGeom>
          <a:solidFill>
            <a:srgbClr val="FFFFFF"/>
          </a:solidFill>
          <a:ln w="15875">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2" y="1540763"/>
            <a:ext cx="5477256" cy="54864"/>
          </a:xfrm>
          <a:prstGeom prst="rect">
            <a:avLst/>
          </a:prstGeom>
          <a:gradFill rotWithShape="1">
            <a:gsLst>
              <a:gs pos="0">
                <a:srgbClr val="0284C7"/>
              </a:gs>
              <a:gs pos="100000">
                <a:srgbClr val="80C2E3"/>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37376" y="1796795"/>
            <a:ext cx="1353312" cy="365760"/>
          </a:xfrm>
          <a:prstGeom prst="roundRect">
            <a:avLst>
              <a:gd name="adj" fmla="val 40000"/>
            </a:avLst>
          </a:prstGeom>
          <a:solidFill>
            <a:srgbClr val="DCE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1968" y="1796795"/>
            <a:ext cx="2103120" cy="365760"/>
          </a:xfrm>
          <a:prstGeom prst="rect">
            <a:avLst/>
          </a:prstGeom>
          <a:noFill/>
        </p:spPr>
        <p:txBody>
          <a:bodyPr wrap="square" lIns="0" rIns="0" tIns="0" bIns="0" anchor="ctr"/>
          <a:lstStyle/>
          <a:p>
            <a:pPr algn="l">
              <a:lnSpc>
                <a:spcPct val="112000"/>
              </a:lnSpc>
              <a:spcBef>
                <a:spcPts val="0"/>
              </a:spcBef>
              <a:spcAft>
                <a:spcPts val="0"/>
              </a:spcAft>
            </a:pPr>
            <a:r>
              <a:rPr sz="1100" b="1">
                <a:solidFill>
                  <a:srgbClr val="0284C7"/>
                </a:solidFill>
                <a:latin typeface="Arial"/>
                <a:ea typeface="PingFang SC"/>
              </a:rPr>
              <a:t>重构后的命题</a:t>
            </a:r>
          </a:p>
        </p:txBody>
      </p:sp>
      <p:sp>
        <p:nvSpPr>
          <p:cNvPr id="25" name="TextBox 24"/>
          <p:cNvSpPr txBox="1"/>
          <p:nvPr/>
        </p:nvSpPr>
        <p:spPr>
          <a:xfrm>
            <a:off x="6437376" y="2290570"/>
            <a:ext cx="5001768" cy="566928"/>
          </a:xfrm>
          <a:prstGeom prst="rect">
            <a:avLst/>
          </a:prstGeom>
          <a:noFill/>
        </p:spPr>
        <p:txBody>
          <a:bodyPr wrap="square" lIns="0" rIns="0" tIns="0" bIns="0" anchor="t"/>
          <a:lstStyle/>
          <a:p>
            <a:pPr algn="l">
              <a:lnSpc>
                <a:spcPct val="108000"/>
              </a:lnSpc>
              <a:spcBef>
                <a:spcPts val="0"/>
              </a:spcBef>
              <a:spcAft>
                <a:spcPts val="0"/>
              </a:spcAft>
            </a:pPr>
            <a:r>
              <a:rPr sz="1800" b="1">
                <a:solidFill>
                  <a:srgbClr val="0F172A"/>
                </a:solidFill>
                <a:latin typeface="Arial"/>
                <a:ea typeface="PingFang SC"/>
              </a:rPr>
              <a:t>产业扩张是否正在转化为系统能力</a:t>
            </a:r>
          </a:p>
        </p:txBody>
      </p:sp>
      <p:sp>
        <p:nvSpPr>
          <p:cNvPr id="26" name="Rounded Rectangle 25"/>
          <p:cNvSpPr/>
          <p:nvPr/>
        </p:nvSpPr>
        <p:spPr>
          <a:xfrm>
            <a:off x="6437376" y="3012947"/>
            <a:ext cx="292608" cy="292608"/>
          </a:xfrm>
          <a:prstGeom prst="roundRect">
            <a:avLst>
              <a:gd name="adj" fmla="val 40000"/>
            </a:avLst>
          </a:prstGeom>
          <a:solidFill>
            <a:srgbClr val="CCE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37376" y="3012947"/>
            <a:ext cx="292608" cy="292608"/>
          </a:xfrm>
          <a:prstGeom prst="rect">
            <a:avLst/>
          </a:prstGeom>
          <a:noFill/>
        </p:spPr>
        <p:txBody>
          <a:bodyPr wrap="square" lIns="0" rIns="0" tIns="0" bIns="0" anchor="ctr"/>
          <a:lstStyle/>
          <a:p>
            <a:pPr algn="ctr">
              <a:lnSpc>
                <a:spcPct val="112000"/>
              </a:lnSpc>
              <a:spcBef>
                <a:spcPts val="0"/>
              </a:spcBef>
              <a:spcAft>
                <a:spcPts val="0"/>
              </a:spcAft>
            </a:pPr>
            <a:r>
              <a:rPr sz="900" b="1">
                <a:solidFill>
                  <a:srgbClr val="0284C7"/>
                </a:solidFill>
                <a:latin typeface="Arial"/>
                <a:ea typeface="PingFang SC"/>
              </a:rPr>
              <a:t>✓</a:t>
            </a:r>
          </a:p>
        </p:txBody>
      </p:sp>
      <p:sp>
        <p:nvSpPr>
          <p:cNvPr id="28" name="TextBox 27"/>
          <p:cNvSpPr txBox="1"/>
          <p:nvPr/>
        </p:nvSpPr>
        <p:spPr>
          <a:xfrm>
            <a:off x="6839712" y="2967227"/>
            <a:ext cx="4562856" cy="384048"/>
          </a:xfrm>
          <a:prstGeom prst="rect">
            <a:avLst/>
          </a:prstGeom>
          <a:noFill/>
        </p:spPr>
        <p:txBody>
          <a:bodyPr wrap="square" lIns="0" rIns="0" tIns="0" bIns="0" anchor="ctr"/>
          <a:lstStyle/>
          <a:p>
            <a:pPr algn="l">
              <a:lnSpc>
                <a:spcPct val="116000"/>
              </a:lnSpc>
              <a:spcBef>
                <a:spcPts val="0"/>
              </a:spcBef>
              <a:spcAft>
                <a:spcPts val="0"/>
              </a:spcAft>
            </a:pPr>
            <a:r>
              <a:rPr sz="1300" b="0">
                <a:solidFill>
                  <a:srgbClr val="475569"/>
                </a:solidFill>
                <a:latin typeface="Arial"/>
                <a:ea typeface="PingFang SC"/>
              </a:rPr>
              <a:t>用渗透率识别从小众到主流的转折</a:t>
            </a:r>
          </a:p>
        </p:txBody>
      </p:sp>
      <p:sp>
        <p:nvSpPr>
          <p:cNvPr id="29" name="Rounded Rectangle 28"/>
          <p:cNvSpPr/>
          <p:nvPr/>
        </p:nvSpPr>
        <p:spPr>
          <a:xfrm>
            <a:off x="6437376" y="3396994"/>
            <a:ext cx="292608" cy="292608"/>
          </a:xfrm>
          <a:prstGeom prst="roundRect">
            <a:avLst>
              <a:gd name="adj" fmla="val 40000"/>
            </a:avLst>
          </a:prstGeom>
          <a:solidFill>
            <a:srgbClr val="CCE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7376" y="3396994"/>
            <a:ext cx="292608" cy="292608"/>
          </a:xfrm>
          <a:prstGeom prst="rect">
            <a:avLst/>
          </a:prstGeom>
          <a:noFill/>
        </p:spPr>
        <p:txBody>
          <a:bodyPr wrap="square" lIns="0" rIns="0" tIns="0" bIns="0" anchor="ctr"/>
          <a:lstStyle/>
          <a:p>
            <a:pPr algn="ctr">
              <a:lnSpc>
                <a:spcPct val="112000"/>
              </a:lnSpc>
              <a:spcBef>
                <a:spcPts val="0"/>
              </a:spcBef>
              <a:spcAft>
                <a:spcPts val="0"/>
              </a:spcAft>
            </a:pPr>
            <a:r>
              <a:rPr sz="900" b="1">
                <a:solidFill>
                  <a:srgbClr val="0284C7"/>
                </a:solidFill>
                <a:latin typeface="Arial"/>
                <a:ea typeface="PingFang SC"/>
              </a:rPr>
              <a:t>✓</a:t>
            </a:r>
          </a:p>
        </p:txBody>
      </p:sp>
      <p:sp>
        <p:nvSpPr>
          <p:cNvPr id="31" name="TextBox 30"/>
          <p:cNvSpPr txBox="1"/>
          <p:nvPr/>
        </p:nvSpPr>
        <p:spPr>
          <a:xfrm>
            <a:off x="6839712" y="3351275"/>
            <a:ext cx="4562856" cy="384048"/>
          </a:xfrm>
          <a:prstGeom prst="rect">
            <a:avLst/>
          </a:prstGeom>
          <a:noFill/>
        </p:spPr>
        <p:txBody>
          <a:bodyPr wrap="square" lIns="0" rIns="0" tIns="0" bIns="0" anchor="ctr"/>
          <a:lstStyle/>
          <a:p>
            <a:pPr algn="l">
              <a:lnSpc>
                <a:spcPct val="116000"/>
              </a:lnSpc>
              <a:spcBef>
                <a:spcPts val="0"/>
              </a:spcBef>
              <a:spcAft>
                <a:spcPts val="0"/>
              </a:spcAft>
            </a:pPr>
            <a:r>
              <a:rPr sz="1300" b="0">
                <a:solidFill>
                  <a:srgbClr val="475569"/>
                </a:solidFill>
                <a:latin typeface="Arial"/>
                <a:ea typeface="PingFang SC"/>
              </a:rPr>
              <a:t>用车桩比和桩型结构观察补能支撑</a:t>
            </a:r>
          </a:p>
        </p:txBody>
      </p:sp>
      <p:sp>
        <p:nvSpPr>
          <p:cNvPr id="32" name="Rounded Rectangle 31"/>
          <p:cNvSpPr/>
          <p:nvPr/>
        </p:nvSpPr>
        <p:spPr>
          <a:xfrm>
            <a:off x="6437376" y="3781042"/>
            <a:ext cx="292608" cy="292608"/>
          </a:xfrm>
          <a:prstGeom prst="roundRect">
            <a:avLst>
              <a:gd name="adj" fmla="val 40000"/>
            </a:avLst>
          </a:prstGeom>
          <a:solidFill>
            <a:srgbClr val="CCE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781042"/>
            <a:ext cx="292608" cy="292608"/>
          </a:xfrm>
          <a:prstGeom prst="rect">
            <a:avLst/>
          </a:prstGeom>
          <a:noFill/>
        </p:spPr>
        <p:txBody>
          <a:bodyPr wrap="square" lIns="0" rIns="0" tIns="0" bIns="0" anchor="ctr"/>
          <a:lstStyle/>
          <a:p>
            <a:pPr algn="ctr">
              <a:lnSpc>
                <a:spcPct val="112000"/>
              </a:lnSpc>
              <a:spcBef>
                <a:spcPts val="0"/>
              </a:spcBef>
              <a:spcAft>
                <a:spcPts val="0"/>
              </a:spcAft>
            </a:pPr>
            <a:r>
              <a:rPr sz="900" b="1">
                <a:solidFill>
                  <a:srgbClr val="0284C7"/>
                </a:solidFill>
                <a:latin typeface="Arial"/>
                <a:ea typeface="PingFang SC"/>
              </a:rPr>
              <a:t>✓</a:t>
            </a:r>
          </a:p>
        </p:txBody>
      </p:sp>
      <p:sp>
        <p:nvSpPr>
          <p:cNvPr id="34" name="TextBox 33"/>
          <p:cNvSpPr txBox="1"/>
          <p:nvPr/>
        </p:nvSpPr>
        <p:spPr>
          <a:xfrm>
            <a:off x="6839712" y="3735323"/>
            <a:ext cx="4562856" cy="384048"/>
          </a:xfrm>
          <a:prstGeom prst="rect">
            <a:avLst/>
          </a:prstGeom>
          <a:noFill/>
        </p:spPr>
        <p:txBody>
          <a:bodyPr wrap="square" lIns="0" rIns="0" tIns="0" bIns="0" anchor="ctr"/>
          <a:lstStyle/>
          <a:p>
            <a:pPr algn="l">
              <a:lnSpc>
                <a:spcPct val="116000"/>
              </a:lnSpc>
              <a:spcBef>
                <a:spcPts val="0"/>
              </a:spcBef>
              <a:spcAft>
                <a:spcPts val="0"/>
              </a:spcAft>
            </a:pPr>
            <a:r>
              <a:rPr sz="1300" b="0">
                <a:solidFill>
                  <a:srgbClr val="475569"/>
                </a:solidFill>
                <a:latin typeface="Arial"/>
                <a:ea typeface="PingFang SC"/>
              </a:rPr>
              <a:t>用电池、动力路线、出口与减排连接产业影响</a:t>
            </a:r>
          </a:p>
        </p:txBody>
      </p:sp>
      <p:sp>
        <p:nvSpPr>
          <p:cNvPr id="35" name="Rounded Rectangle 34"/>
          <p:cNvSpPr/>
          <p:nvPr/>
        </p:nvSpPr>
        <p:spPr>
          <a:xfrm>
            <a:off x="502920" y="4411978"/>
            <a:ext cx="11173968" cy="1234440"/>
          </a:xfrm>
          <a:prstGeom prst="roundRect">
            <a:avLst>
              <a:gd name="adj" fmla="val 10000"/>
            </a:avLst>
          </a:prstGeom>
          <a:gradFill rotWithShape="1">
            <a:gsLst>
              <a:gs pos="0">
                <a:srgbClr val="080F1F"/>
              </a:gs>
              <a:gs pos="100000">
                <a:srgbClr val="1E293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 y="4411978"/>
            <a:ext cx="91440" cy="1234440"/>
          </a:xfrm>
          <a:prstGeom prst="rect">
            <a:avLst/>
          </a:prstGeom>
          <a:gradFill rotWithShape="1">
            <a:gsLst>
              <a:gs pos="0">
                <a:srgbClr val="38BDF8"/>
              </a:gs>
              <a:gs pos="100000">
                <a:srgbClr val="8B5CF6"/>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 y="4539994"/>
            <a:ext cx="10607040" cy="201168"/>
          </a:xfrm>
          <a:prstGeom prst="rect">
            <a:avLst/>
          </a:prstGeom>
          <a:noFill/>
        </p:spPr>
        <p:txBody>
          <a:bodyPr wrap="square" lIns="0" rIns="0" tIns="0" bIns="0" anchor="t"/>
          <a:lstStyle/>
          <a:p>
            <a:pPr algn="l">
              <a:lnSpc>
                <a:spcPct val="112000"/>
              </a:lnSpc>
              <a:spcBef>
                <a:spcPts val="0"/>
              </a:spcBef>
              <a:spcAft>
                <a:spcPts val="0"/>
              </a:spcAft>
            </a:pPr>
            <a:r>
              <a:rPr sz="1000" b="1">
                <a:solidFill>
                  <a:srgbClr val="38BDF8"/>
                </a:solidFill>
                <a:latin typeface="Arial"/>
                <a:ea typeface="PingFang SC"/>
              </a:rPr>
              <a:t>SO WHAT</a:t>
            </a:r>
          </a:p>
        </p:txBody>
      </p:sp>
      <p:sp>
        <p:nvSpPr>
          <p:cNvPr id="38" name="TextBox 37"/>
          <p:cNvSpPr txBox="1"/>
          <p:nvPr/>
        </p:nvSpPr>
        <p:spPr>
          <a:xfrm>
            <a:off x="841248" y="4777739"/>
            <a:ext cx="10515600" cy="758952"/>
          </a:xfrm>
          <a:prstGeom prst="rect">
            <a:avLst/>
          </a:prstGeom>
          <a:noFill/>
        </p:spPr>
        <p:txBody>
          <a:bodyPr wrap="square" lIns="0" rIns="0" tIns="0" bIns="0" anchor="t"/>
          <a:lstStyle/>
          <a:p>
            <a:pPr algn="l">
              <a:lnSpc>
                <a:spcPct val="118000"/>
              </a:lnSpc>
              <a:spcBef>
                <a:spcPts val="0"/>
              </a:spcBef>
              <a:spcAft>
                <a:spcPts val="0"/>
              </a:spcAft>
            </a:pPr>
            <a:r>
              <a:rPr sz="1600" b="1">
                <a:solidFill>
                  <a:srgbClr val="FFFFFF"/>
                </a:solidFill>
                <a:latin typeface="Arial"/>
                <a:ea typeface="PingFang SC"/>
              </a:rPr>
              <a:t>作品集的重点不是展示我会画图，而是展示我如何把开放问题拆成可验证、可解释、可复算的分析任务。</a:t>
            </a:r>
          </a:p>
        </p:txBody>
      </p:sp>
      <p:sp>
        <p:nvSpPr>
          <p:cNvPr id="39" name="Rectangle 38"/>
          <p:cNvSpPr/>
          <p:nvPr/>
        </p:nvSpPr>
        <p:spPr>
          <a:xfrm>
            <a:off x="502920" y="6199632"/>
            <a:ext cx="11173968" cy="1097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6291072"/>
            <a:ext cx="8961120" cy="256032"/>
          </a:xfrm>
          <a:prstGeom prst="rect">
            <a:avLst/>
          </a:prstGeom>
          <a:noFill/>
        </p:spPr>
        <p:txBody>
          <a:bodyPr wrap="square" lIns="0" rIns="0" tIns="0" bIns="0" anchor="ctr"/>
          <a:lstStyle/>
          <a:p>
            <a:pPr algn="l">
              <a:lnSpc>
                <a:spcPct val="112000"/>
              </a:lnSpc>
              <a:spcBef>
                <a:spcPts val="0"/>
              </a:spcBef>
              <a:spcAft>
                <a:spcPts val="0"/>
              </a:spcAft>
            </a:pPr>
            <a:r>
              <a:rPr sz="1000" b="0">
                <a:solidFill>
                  <a:srgbClr val="94A3B8"/>
                </a:solidFill>
                <a:latin typeface="Arial"/>
                <a:ea typeface="PingFang SC"/>
              </a:rPr>
              <a:t>个人作品集项目 · 数据截止 2025.12 · 公开统计整理</a:t>
            </a:r>
          </a:p>
        </p:txBody>
      </p:sp>
      <p:sp>
        <p:nvSpPr>
          <p:cNvPr id="41" name="TextBox 40"/>
          <p:cNvSpPr txBox="1"/>
          <p:nvPr/>
        </p:nvSpPr>
        <p:spPr>
          <a:xfrm>
            <a:off x="10561320" y="6291072"/>
            <a:ext cx="1115568" cy="256032"/>
          </a:xfrm>
          <a:prstGeom prst="rect">
            <a:avLst/>
          </a:prstGeom>
          <a:noFill/>
        </p:spPr>
        <p:txBody>
          <a:bodyPr wrap="square" lIns="0" rIns="0" tIns="0" bIns="0" anchor="ctr"/>
          <a:lstStyle/>
          <a:p>
            <a:pPr algn="r">
              <a:lnSpc>
                <a:spcPct val="112000"/>
              </a:lnSpc>
              <a:spcBef>
                <a:spcPts val="0"/>
              </a:spcBef>
              <a:spcAft>
                <a:spcPts val="0"/>
              </a:spcAft>
            </a:pPr>
            <a:r>
              <a:rPr sz="1000" b="0">
                <a:solidFill>
                  <a:srgbClr val="94A3B8"/>
                </a:solidFill>
                <a:latin typeface="Arial"/>
                <a:ea typeface="PingFang SC"/>
              </a:rPr>
              <a:t>02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4008"/>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73968" cy="219456"/>
          </a:xfrm>
          <a:prstGeom prst="rect">
            <a:avLst/>
          </a:prstGeom>
          <a:noFill/>
        </p:spPr>
        <p:txBody>
          <a:bodyPr wrap="square" lIns="0" rIns="0" tIns="0" bIns="0" anchor="t"/>
          <a:lstStyle/>
          <a:p>
            <a:pPr algn="l">
              <a:lnSpc>
                <a:spcPct val="112000"/>
              </a:lnSpc>
              <a:spcBef>
                <a:spcPts val="0"/>
              </a:spcBef>
              <a:spcAft>
                <a:spcPts val="0"/>
              </a:spcAft>
            </a:pPr>
            <a:r>
              <a:rPr sz="1000" b="1">
                <a:solidFill>
                  <a:srgbClr val="0284C7"/>
                </a:solidFill>
                <a:latin typeface="Arial"/>
                <a:ea typeface="PingFang SC"/>
              </a:rPr>
              <a:t>01  RESEARCH QUESTION</a:t>
            </a:r>
          </a:p>
        </p:txBody>
      </p:sp>
      <p:sp>
        <p:nvSpPr>
          <p:cNvPr id="4" name="TextBox 3"/>
          <p:cNvSpPr txBox="1"/>
          <p:nvPr/>
        </p:nvSpPr>
        <p:spPr>
          <a:xfrm>
            <a:off x="502920" y="347472"/>
            <a:ext cx="11173968" cy="713232"/>
          </a:xfrm>
          <a:prstGeom prst="rect">
            <a:avLst/>
          </a:prstGeom>
          <a:noFill/>
        </p:spPr>
        <p:txBody>
          <a:bodyPr wrap="square" lIns="0" rIns="0" tIns="0" bIns="0" anchor="b"/>
          <a:lstStyle/>
          <a:p>
            <a:pPr algn="l">
              <a:lnSpc>
                <a:spcPct val="105000"/>
              </a:lnSpc>
              <a:spcBef>
                <a:spcPts val="0"/>
              </a:spcBef>
              <a:spcAft>
                <a:spcPts val="0"/>
              </a:spcAft>
            </a:pPr>
            <a:r>
              <a:rPr sz="2200" b="1">
                <a:solidFill>
                  <a:srgbClr val="0F172A"/>
                </a:solidFill>
                <a:latin typeface="Arial"/>
                <a:ea typeface="PingFang SC"/>
              </a:rPr>
              <a:t>四个问题把宏观产业叙事转化为可验证指标</a:t>
            </a:r>
          </a:p>
        </p:txBody>
      </p:sp>
      <p:sp>
        <p:nvSpPr>
          <p:cNvPr id="5" name="Rectangle 4"/>
          <p:cNvSpPr/>
          <p:nvPr/>
        </p:nvSpPr>
        <p:spPr>
          <a:xfrm>
            <a:off x="502920" y="1115568"/>
            <a:ext cx="1051560" cy="32004"/>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54480" y="1124712"/>
            <a:ext cx="1012240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822960" cy="992124"/>
          </a:xfrm>
          <a:prstGeom prst="rect">
            <a:avLst/>
          </a:prstGeom>
          <a:noFill/>
        </p:spPr>
        <p:txBody>
          <a:bodyPr wrap="square" lIns="0" rIns="0" tIns="0" bIns="0" anchor="ctr"/>
          <a:lstStyle/>
          <a:p>
            <a:pPr algn="l">
              <a:lnSpc>
                <a:spcPct val="112000"/>
              </a:lnSpc>
              <a:spcBef>
                <a:spcPts val="0"/>
              </a:spcBef>
              <a:spcAft>
                <a:spcPts val="0"/>
              </a:spcAft>
            </a:pPr>
            <a:r>
              <a:rPr sz="2600" b="1">
                <a:solidFill>
                  <a:srgbClr val="5BAFDB"/>
                </a:solidFill>
                <a:latin typeface="Arial"/>
                <a:ea typeface="PingFang SC"/>
              </a:rPr>
              <a:t>01</a:t>
            </a:r>
          </a:p>
        </p:txBody>
      </p:sp>
      <p:sp>
        <p:nvSpPr>
          <p:cNvPr id="8" name="Rectangle 7"/>
          <p:cNvSpPr/>
          <p:nvPr/>
        </p:nvSpPr>
        <p:spPr>
          <a:xfrm>
            <a:off x="1298448" y="1389888"/>
            <a:ext cx="27432" cy="809244"/>
          </a:xfrm>
          <a:prstGeom prst="rect">
            <a:avLst/>
          </a:prstGeom>
          <a:solidFill>
            <a:srgbClr val="9AC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36192" y="1353312"/>
            <a:ext cx="10140696" cy="310896"/>
          </a:xfrm>
          <a:prstGeom prst="rect">
            <a:avLst/>
          </a:prstGeom>
          <a:noFill/>
        </p:spPr>
        <p:txBody>
          <a:bodyPr wrap="square" lIns="0" rIns="0" tIns="0" bIns="0" anchor="t"/>
          <a:lstStyle/>
          <a:p>
            <a:pPr algn="l">
              <a:lnSpc>
                <a:spcPct val="112000"/>
              </a:lnSpc>
              <a:spcBef>
                <a:spcPts val="0"/>
              </a:spcBef>
              <a:spcAft>
                <a:spcPts val="0"/>
              </a:spcAft>
            </a:pPr>
            <a:r>
              <a:rPr sz="1500" b="1">
                <a:solidFill>
                  <a:srgbClr val="0F172A"/>
                </a:solidFill>
                <a:latin typeface="Arial"/>
                <a:ea typeface="PingFang SC"/>
              </a:rPr>
              <a:t>规模何时跨过临界点</a:t>
            </a:r>
          </a:p>
        </p:txBody>
      </p:sp>
      <p:sp>
        <p:nvSpPr>
          <p:cNvPr id="10" name="TextBox 9"/>
          <p:cNvSpPr txBox="1"/>
          <p:nvPr/>
        </p:nvSpPr>
        <p:spPr>
          <a:xfrm>
            <a:off x="1536192" y="1682495"/>
            <a:ext cx="10140696" cy="534924"/>
          </a:xfrm>
          <a:prstGeom prst="rect">
            <a:avLst/>
          </a:prstGeom>
          <a:noFill/>
        </p:spPr>
        <p:txBody>
          <a:bodyPr wrap="square" lIns="0" rIns="0" tIns="0" bIns="0" anchor="t"/>
          <a:lstStyle/>
          <a:p>
            <a:pPr algn="l">
              <a:lnSpc>
                <a:spcPct val="124000"/>
              </a:lnSpc>
              <a:spcBef>
                <a:spcPts val="0"/>
              </a:spcBef>
              <a:spcAft>
                <a:spcPts val="0"/>
              </a:spcAft>
            </a:pPr>
            <a:r>
              <a:rPr sz="1200" b="0">
                <a:solidFill>
                  <a:srgbClr val="475569"/>
                </a:solidFill>
                <a:latin typeface="Arial"/>
                <a:ea typeface="PingFang SC"/>
              </a:rPr>
              <a:t>用新能源汽车销量和新车渗透率共同判断产业是否从政策示范走向大众市场。</a:t>
            </a:r>
          </a:p>
        </p:txBody>
      </p:sp>
      <p:sp>
        <p:nvSpPr>
          <p:cNvPr id="11" name="TextBox 10"/>
          <p:cNvSpPr txBox="1"/>
          <p:nvPr/>
        </p:nvSpPr>
        <p:spPr>
          <a:xfrm>
            <a:off x="502920" y="2400300"/>
            <a:ext cx="822960" cy="992124"/>
          </a:xfrm>
          <a:prstGeom prst="rect">
            <a:avLst/>
          </a:prstGeom>
          <a:noFill/>
        </p:spPr>
        <p:txBody>
          <a:bodyPr wrap="square" lIns="0" rIns="0" tIns="0" bIns="0" anchor="ctr"/>
          <a:lstStyle/>
          <a:p>
            <a:pPr algn="l">
              <a:lnSpc>
                <a:spcPct val="112000"/>
              </a:lnSpc>
              <a:spcBef>
                <a:spcPts val="0"/>
              </a:spcBef>
              <a:spcAft>
                <a:spcPts val="0"/>
              </a:spcAft>
            </a:pPr>
            <a:r>
              <a:rPr sz="2600" b="1">
                <a:solidFill>
                  <a:srgbClr val="B495F9"/>
                </a:solidFill>
                <a:latin typeface="Arial"/>
                <a:ea typeface="PingFang SC"/>
              </a:rPr>
              <a:t>02</a:t>
            </a:r>
          </a:p>
        </p:txBody>
      </p:sp>
      <p:sp>
        <p:nvSpPr>
          <p:cNvPr id="12" name="Rectangle 11"/>
          <p:cNvSpPr/>
          <p:nvPr/>
        </p:nvSpPr>
        <p:spPr>
          <a:xfrm>
            <a:off x="1298448" y="2491740"/>
            <a:ext cx="27432" cy="809244"/>
          </a:xfrm>
          <a:prstGeom prst="rect">
            <a:avLst/>
          </a:prstGeom>
          <a:solidFill>
            <a:srgbClr val="D1B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36192" y="2455164"/>
            <a:ext cx="10140696" cy="310896"/>
          </a:xfrm>
          <a:prstGeom prst="rect">
            <a:avLst/>
          </a:prstGeom>
          <a:noFill/>
        </p:spPr>
        <p:txBody>
          <a:bodyPr wrap="square" lIns="0" rIns="0" tIns="0" bIns="0" anchor="t"/>
          <a:lstStyle/>
          <a:p>
            <a:pPr algn="l">
              <a:lnSpc>
                <a:spcPct val="112000"/>
              </a:lnSpc>
              <a:spcBef>
                <a:spcPts val="0"/>
              </a:spcBef>
              <a:spcAft>
                <a:spcPts val="0"/>
              </a:spcAft>
            </a:pPr>
            <a:r>
              <a:rPr sz="1500" b="1">
                <a:solidFill>
                  <a:srgbClr val="0F172A"/>
                </a:solidFill>
                <a:latin typeface="Arial"/>
                <a:ea typeface="PingFang SC"/>
              </a:rPr>
              <a:t>基础设施是否跟得上</a:t>
            </a:r>
          </a:p>
        </p:txBody>
      </p:sp>
      <p:sp>
        <p:nvSpPr>
          <p:cNvPr id="14" name="TextBox 13"/>
          <p:cNvSpPr txBox="1"/>
          <p:nvPr/>
        </p:nvSpPr>
        <p:spPr>
          <a:xfrm>
            <a:off x="1536192" y="2784348"/>
            <a:ext cx="10140696" cy="534924"/>
          </a:xfrm>
          <a:prstGeom prst="rect">
            <a:avLst/>
          </a:prstGeom>
          <a:noFill/>
        </p:spPr>
        <p:txBody>
          <a:bodyPr wrap="square" lIns="0" rIns="0" tIns="0" bIns="0" anchor="t"/>
          <a:lstStyle/>
          <a:p>
            <a:pPr algn="l">
              <a:lnSpc>
                <a:spcPct val="124000"/>
              </a:lnSpc>
              <a:spcBef>
                <a:spcPts val="0"/>
              </a:spcBef>
              <a:spcAft>
                <a:spcPts val="0"/>
              </a:spcAft>
            </a:pPr>
            <a:r>
              <a:rPr sz="1200" b="0">
                <a:solidFill>
                  <a:srgbClr val="475569"/>
                </a:solidFill>
                <a:latin typeface="Arial"/>
                <a:ea typeface="PingFang SC"/>
              </a:rPr>
              <a:t>用保有量、充电设施总量和车桩比观察补能供给是否同步扩张。</a:t>
            </a:r>
          </a:p>
        </p:txBody>
      </p:sp>
      <p:sp>
        <p:nvSpPr>
          <p:cNvPr id="15" name="TextBox 14"/>
          <p:cNvSpPr txBox="1"/>
          <p:nvPr/>
        </p:nvSpPr>
        <p:spPr>
          <a:xfrm>
            <a:off x="502920" y="3502152"/>
            <a:ext cx="822960" cy="992124"/>
          </a:xfrm>
          <a:prstGeom prst="rect">
            <a:avLst/>
          </a:prstGeom>
          <a:noFill/>
        </p:spPr>
        <p:txBody>
          <a:bodyPr wrap="square" lIns="0" rIns="0" tIns="0" bIns="0" anchor="ctr"/>
          <a:lstStyle/>
          <a:p>
            <a:pPr algn="l">
              <a:lnSpc>
                <a:spcPct val="112000"/>
              </a:lnSpc>
              <a:spcBef>
                <a:spcPts val="0"/>
              </a:spcBef>
              <a:spcAft>
                <a:spcPts val="0"/>
              </a:spcAft>
            </a:pPr>
            <a:r>
              <a:rPr sz="2600" b="1">
                <a:solidFill>
                  <a:srgbClr val="64D2AD"/>
                </a:solidFill>
                <a:latin typeface="Arial"/>
                <a:ea typeface="PingFang SC"/>
              </a:rPr>
              <a:t>03</a:t>
            </a:r>
          </a:p>
        </p:txBody>
      </p:sp>
      <p:sp>
        <p:nvSpPr>
          <p:cNvPr id="16" name="Rectangle 15"/>
          <p:cNvSpPr/>
          <p:nvPr/>
        </p:nvSpPr>
        <p:spPr>
          <a:xfrm>
            <a:off x="1298448" y="3593592"/>
            <a:ext cx="27432" cy="809244"/>
          </a:xfrm>
          <a:prstGeom prst="rect">
            <a:avLst/>
          </a:prstGeom>
          <a:solidFill>
            <a:srgbClr val="9FE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36192" y="3557016"/>
            <a:ext cx="10140696" cy="310896"/>
          </a:xfrm>
          <a:prstGeom prst="rect">
            <a:avLst/>
          </a:prstGeom>
          <a:noFill/>
        </p:spPr>
        <p:txBody>
          <a:bodyPr wrap="square" lIns="0" rIns="0" tIns="0" bIns="0" anchor="t"/>
          <a:lstStyle/>
          <a:p>
            <a:pPr algn="l">
              <a:lnSpc>
                <a:spcPct val="112000"/>
              </a:lnSpc>
              <a:spcBef>
                <a:spcPts val="0"/>
              </a:spcBef>
              <a:spcAft>
                <a:spcPts val="0"/>
              </a:spcAft>
            </a:pPr>
            <a:r>
              <a:rPr sz="1500" b="1">
                <a:solidFill>
                  <a:srgbClr val="0F172A"/>
                </a:solidFill>
                <a:latin typeface="Arial"/>
                <a:ea typeface="PingFang SC"/>
              </a:rPr>
              <a:t>技术路线如何重新分工</a:t>
            </a:r>
          </a:p>
        </p:txBody>
      </p:sp>
      <p:sp>
        <p:nvSpPr>
          <p:cNvPr id="18" name="TextBox 17"/>
          <p:cNvSpPr txBox="1"/>
          <p:nvPr/>
        </p:nvSpPr>
        <p:spPr>
          <a:xfrm>
            <a:off x="1536192" y="3886200"/>
            <a:ext cx="10140696" cy="534924"/>
          </a:xfrm>
          <a:prstGeom prst="rect">
            <a:avLst/>
          </a:prstGeom>
          <a:noFill/>
        </p:spPr>
        <p:txBody>
          <a:bodyPr wrap="square" lIns="0" rIns="0" tIns="0" bIns="0" anchor="t"/>
          <a:lstStyle/>
          <a:p>
            <a:pPr algn="l">
              <a:lnSpc>
                <a:spcPct val="124000"/>
              </a:lnSpc>
              <a:spcBef>
                <a:spcPts val="0"/>
              </a:spcBef>
              <a:spcAft>
                <a:spcPts val="0"/>
              </a:spcAft>
            </a:pPr>
            <a:r>
              <a:rPr sz="1200" b="0">
                <a:solidFill>
                  <a:srgbClr val="475569"/>
                </a:solidFill>
                <a:latin typeface="Arial"/>
                <a:ea typeface="PingFang SC"/>
              </a:rPr>
              <a:t>比较磷酸铁锂与三元电池、纯电与插混的结构变化，避免只看总量。</a:t>
            </a:r>
          </a:p>
        </p:txBody>
      </p:sp>
      <p:sp>
        <p:nvSpPr>
          <p:cNvPr id="19" name="TextBox 18"/>
          <p:cNvSpPr txBox="1"/>
          <p:nvPr/>
        </p:nvSpPr>
        <p:spPr>
          <a:xfrm>
            <a:off x="502920" y="4604004"/>
            <a:ext cx="822960" cy="992124"/>
          </a:xfrm>
          <a:prstGeom prst="rect">
            <a:avLst/>
          </a:prstGeom>
          <a:noFill/>
        </p:spPr>
        <p:txBody>
          <a:bodyPr wrap="square" lIns="0" rIns="0" tIns="0" bIns="0" anchor="ctr"/>
          <a:lstStyle/>
          <a:p>
            <a:pPr algn="l">
              <a:lnSpc>
                <a:spcPct val="112000"/>
              </a:lnSpc>
              <a:spcBef>
                <a:spcPts val="0"/>
              </a:spcBef>
              <a:spcAft>
                <a:spcPts val="0"/>
              </a:spcAft>
            </a:pPr>
            <a:r>
              <a:rPr sz="2600" b="1">
                <a:solidFill>
                  <a:srgbClr val="F8C060"/>
                </a:solidFill>
                <a:latin typeface="Arial"/>
                <a:ea typeface="PingFang SC"/>
              </a:rPr>
              <a:t>04</a:t>
            </a:r>
          </a:p>
        </p:txBody>
      </p:sp>
      <p:sp>
        <p:nvSpPr>
          <p:cNvPr id="20" name="Rectangle 19"/>
          <p:cNvSpPr/>
          <p:nvPr/>
        </p:nvSpPr>
        <p:spPr>
          <a:xfrm>
            <a:off x="1298448" y="4695444"/>
            <a:ext cx="27432" cy="809244"/>
          </a:xfrm>
          <a:prstGeom prst="rect">
            <a:avLst/>
          </a:prstGeom>
          <a:solidFill>
            <a:srgbClr val="FBD8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36192" y="4658868"/>
            <a:ext cx="10140696" cy="310896"/>
          </a:xfrm>
          <a:prstGeom prst="rect">
            <a:avLst/>
          </a:prstGeom>
          <a:noFill/>
        </p:spPr>
        <p:txBody>
          <a:bodyPr wrap="square" lIns="0" rIns="0" tIns="0" bIns="0" anchor="t"/>
          <a:lstStyle/>
          <a:p>
            <a:pPr algn="l">
              <a:lnSpc>
                <a:spcPct val="112000"/>
              </a:lnSpc>
              <a:spcBef>
                <a:spcPts val="0"/>
              </a:spcBef>
              <a:spcAft>
                <a:spcPts val="0"/>
              </a:spcAft>
            </a:pPr>
            <a:r>
              <a:rPr sz="1500" b="1">
                <a:solidFill>
                  <a:srgbClr val="0F172A"/>
                </a:solidFill>
                <a:latin typeface="Arial"/>
                <a:ea typeface="PingFang SC"/>
              </a:rPr>
              <a:t>增长如何连接绿色价值</a:t>
            </a:r>
          </a:p>
        </p:txBody>
      </p:sp>
      <p:sp>
        <p:nvSpPr>
          <p:cNvPr id="22" name="TextBox 21"/>
          <p:cNvSpPr txBox="1"/>
          <p:nvPr/>
        </p:nvSpPr>
        <p:spPr>
          <a:xfrm>
            <a:off x="1536192" y="4988052"/>
            <a:ext cx="10140696" cy="534924"/>
          </a:xfrm>
          <a:prstGeom prst="rect">
            <a:avLst/>
          </a:prstGeom>
          <a:noFill/>
        </p:spPr>
        <p:txBody>
          <a:bodyPr wrap="square" lIns="0" rIns="0" tIns="0" bIns="0" anchor="t"/>
          <a:lstStyle/>
          <a:p>
            <a:pPr algn="l">
              <a:lnSpc>
                <a:spcPct val="124000"/>
              </a:lnSpc>
              <a:spcBef>
                <a:spcPts val="0"/>
              </a:spcBef>
              <a:spcAft>
                <a:spcPts val="0"/>
              </a:spcAft>
            </a:pPr>
            <a:r>
              <a:rPr sz="1200" b="0">
                <a:solidFill>
                  <a:srgbClr val="475569"/>
                </a:solidFill>
                <a:latin typeface="Arial"/>
                <a:ea typeface="PingFang SC"/>
              </a:rPr>
              <a:t>用官方口径与情景估算并列呈现减碳信息，明确区分事实、推断和假设。</a:t>
            </a:r>
          </a:p>
        </p:txBody>
      </p:sp>
      <p:sp>
        <p:nvSpPr>
          <p:cNvPr id="23" name="Rectangle 22"/>
          <p:cNvSpPr/>
          <p:nvPr/>
        </p:nvSpPr>
        <p:spPr>
          <a:xfrm>
            <a:off x="502920" y="6199632"/>
            <a:ext cx="11173968" cy="1097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291072"/>
            <a:ext cx="8961120" cy="256032"/>
          </a:xfrm>
          <a:prstGeom prst="rect">
            <a:avLst/>
          </a:prstGeom>
          <a:noFill/>
        </p:spPr>
        <p:txBody>
          <a:bodyPr wrap="square" lIns="0" rIns="0" tIns="0" bIns="0" anchor="ctr"/>
          <a:lstStyle/>
          <a:p>
            <a:pPr algn="l">
              <a:lnSpc>
                <a:spcPct val="112000"/>
              </a:lnSpc>
              <a:spcBef>
                <a:spcPts val="0"/>
              </a:spcBef>
              <a:spcAft>
                <a:spcPts val="0"/>
              </a:spcAft>
            </a:pPr>
            <a:r>
              <a:rPr sz="1000" b="0">
                <a:solidFill>
                  <a:srgbClr val="94A3B8"/>
                </a:solidFill>
                <a:latin typeface="Arial"/>
                <a:ea typeface="PingFang SC"/>
              </a:rPr>
              <a:t>个人作品集项目 · 数据截止 2025.12 · 公开统计整理</a:t>
            </a:r>
          </a:p>
        </p:txBody>
      </p:sp>
      <p:sp>
        <p:nvSpPr>
          <p:cNvPr id="25" name="TextBox 24"/>
          <p:cNvSpPr txBox="1"/>
          <p:nvPr/>
        </p:nvSpPr>
        <p:spPr>
          <a:xfrm>
            <a:off x="10561320" y="6291072"/>
            <a:ext cx="1115568" cy="256032"/>
          </a:xfrm>
          <a:prstGeom prst="rect">
            <a:avLst/>
          </a:prstGeom>
          <a:noFill/>
        </p:spPr>
        <p:txBody>
          <a:bodyPr wrap="square" lIns="0" rIns="0" tIns="0" bIns="0" anchor="ctr"/>
          <a:lstStyle/>
          <a:p>
            <a:pPr algn="r">
              <a:lnSpc>
                <a:spcPct val="112000"/>
              </a:lnSpc>
              <a:spcBef>
                <a:spcPts val="0"/>
              </a:spcBef>
              <a:spcAft>
                <a:spcPts val="0"/>
              </a:spcAft>
            </a:pPr>
            <a:r>
              <a:rPr sz="1000" b="0">
                <a:solidFill>
                  <a:srgbClr val="94A3B8"/>
                </a:solidFill>
                <a:latin typeface="Arial"/>
                <a:ea typeface="PingFang SC"/>
              </a:rPr>
              <a:t>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4008"/>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73968" cy="219456"/>
          </a:xfrm>
          <a:prstGeom prst="rect">
            <a:avLst/>
          </a:prstGeom>
          <a:noFill/>
        </p:spPr>
        <p:txBody>
          <a:bodyPr wrap="square" lIns="0" rIns="0" tIns="0" bIns="0" anchor="t"/>
          <a:lstStyle/>
          <a:p>
            <a:pPr algn="l">
              <a:lnSpc>
                <a:spcPct val="112000"/>
              </a:lnSpc>
              <a:spcBef>
                <a:spcPts val="0"/>
              </a:spcBef>
              <a:spcAft>
                <a:spcPts val="0"/>
              </a:spcAft>
            </a:pPr>
            <a:r>
              <a:rPr sz="1000" b="1">
                <a:solidFill>
                  <a:srgbClr val="0284C7"/>
                </a:solidFill>
                <a:latin typeface="Arial"/>
                <a:ea typeface="PingFang SC"/>
              </a:rPr>
              <a:t>01  RESEARCH QUESTION</a:t>
            </a:r>
          </a:p>
        </p:txBody>
      </p:sp>
      <p:sp>
        <p:nvSpPr>
          <p:cNvPr id="4" name="TextBox 3"/>
          <p:cNvSpPr txBox="1"/>
          <p:nvPr/>
        </p:nvSpPr>
        <p:spPr>
          <a:xfrm>
            <a:off x="502920" y="347472"/>
            <a:ext cx="11173968" cy="713232"/>
          </a:xfrm>
          <a:prstGeom prst="rect">
            <a:avLst/>
          </a:prstGeom>
          <a:noFill/>
        </p:spPr>
        <p:txBody>
          <a:bodyPr wrap="square" lIns="0" rIns="0" tIns="0" bIns="0" anchor="b"/>
          <a:lstStyle/>
          <a:p>
            <a:pPr algn="l">
              <a:lnSpc>
                <a:spcPct val="105000"/>
              </a:lnSpc>
              <a:spcBef>
                <a:spcPts val="0"/>
              </a:spcBef>
              <a:spcAft>
                <a:spcPts val="0"/>
              </a:spcAft>
            </a:pPr>
            <a:r>
              <a:rPr sz="1800" b="1">
                <a:solidFill>
                  <a:srgbClr val="0F172A"/>
                </a:solidFill>
                <a:latin typeface="Arial"/>
                <a:ea typeface="PingFang SC"/>
              </a:rPr>
              <a:t>项目的核心贡献是把分散的年度统计组织成一条可追溯的数据链</a:t>
            </a:r>
          </a:p>
        </p:txBody>
      </p:sp>
      <p:sp>
        <p:nvSpPr>
          <p:cNvPr id="5" name="Rectangle 4"/>
          <p:cNvSpPr/>
          <p:nvPr/>
        </p:nvSpPr>
        <p:spPr>
          <a:xfrm>
            <a:off x="502920" y="1115568"/>
            <a:ext cx="1051560" cy="32004"/>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54480" y="1124712"/>
            <a:ext cx="1012240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2075688"/>
            <a:ext cx="2587752" cy="2331720"/>
          </a:xfrm>
          <a:prstGeom prst="roundRect">
            <a:avLst>
              <a:gd name="adj" fmla="val 8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2075688"/>
            <a:ext cx="2587752" cy="54864"/>
          </a:xfrm>
          <a:prstGeom prst="rect">
            <a:avLst/>
          </a:prstGeom>
          <a:gradFill rotWithShape="1">
            <a:gsLst>
              <a:gs pos="0">
                <a:srgbClr val="0284C7"/>
              </a:gs>
              <a:gs pos="100000">
                <a:srgbClr val="80C2E3"/>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276856"/>
            <a:ext cx="2258568" cy="237744"/>
          </a:xfrm>
          <a:prstGeom prst="rect">
            <a:avLst/>
          </a:prstGeom>
          <a:noFill/>
        </p:spPr>
        <p:txBody>
          <a:bodyPr wrap="square" lIns="0" rIns="0" tIns="0" bIns="0" anchor="t"/>
          <a:lstStyle/>
          <a:p>
            <a:pPr algn="l">
              <a:lnSpc>
                <a:spcPct val="112000"/>
              </a:lnSpc>
              <a:spcBef>
                <a:spcPts val="0"/>
              </a:spcBef>
              <a:spcAft>
                <a:spcPts val="0"/>
              </a:spcAft>
            </a:pPr>
            <a:r>
              <a:rPr sz="1000" b="1">
                <a:solidFill>
                  <a:srgbClr val="0284C7"/>
                </a:solidFill>
                <a:latin typeface="Arial"/>
                <a:ea typeface="PingFang SC"/>
              </a:rPr>
              <a:t>STAGE 01</a:t>
            </a:r>
          </a:p>
        </p:txBody>
      </p:sp>
      <p:sp>
        <p:nvSpPr>
          <p:cNvPr id="10" name="TextBox 9"/>
          <p:cNvSpPr txBox="1"/>
          <p:nvPr/>
        </p:nvSpPr>
        <p:spPr>
          <a:xfrm>
            <a:off x="667512" y="2569464"/>
            <a:ext cx="2258568" cy="457200"/>
          </a:xfrm>
          <a:prstGeom prst="rect">
            <a:avLst/>
          </a:prstGeom>
          <a:noFill/>
        </p:spPr>
        <p:txBody>
          <a:bodyPr wrap="square" lIns="0" rIns="0" tIns="0" bIns="0" anchor="t"/>
          <a:lstStyle/>
          <a:p>
            <a:pPr algn="l">
              <a:lnSpc>
                <a:spcPct val="108000"/>
              </a:lnSpc>
              <a:spcBef>
                <a:spcPts val="0"/>
              </a:spcBef>
              <a:spcAft>
                <a:spcPts val="0"/>
              </a:spcAft>
            </a:pPr>
            <a:r>
              <a:rPr sz="1400" b="1">
                <a:solidFill>
                  <a:srgbClr val="0F172A"/>
                </a:solidFill>
                <a:latin typeface="Arial"/>
                <a:ea typeface="PingFang SC"/>
              </a:rPr>
              <a:t>问题定义</a:t>
            </a:r>
          </a:p>
        </p:txBody>
      </p:sp>
      <p:sp>
        <p:nvSpPr>
          <p:cNvPr id="11" name="TextBox 10"/>
          <p:cNvSpPr txBox="1"/>
          <p:nvPr/>
        </p:nvSpPr>
        <p:spPr>
          <a:xfrm>
            <a:off x="667512" y="3063240"/>
            <a:ext cx="2258568" cy="795527"/>
          </a:xfrm>
          <a:prstGeom prst="rect">
            <a:avLst/>
          </a:prstGeom>
          <a:noFill/>
        </p:spPr>
        <p:txBody>
          <a:bodyPr wrap="square" lIns="0" rIns="0" tIns="0" bIns="0" anchor="t"/>
          <a:lstStyle/>
          <a:p>
            <a:pPr algn="l">
              <a:lnSpc>
                <a:spcPct val="120000"/>
              </a:lnSpc>
              <a:spcBef>
                <a:spcPts val="0"/>
              </a:spcBef>
              <a:spcAft>
                <a:spcPts val="0"/>
              </a:spcAft>
            </a:pPr>
            <a:r>
              <a:rPr sz="1100" b="0">
                <a:solidFill>
                  <a:srgbClr val="475569"/>
                </a:solidFill>
                <a:latin typeface="Arial"/>
                <a:ea typeface="PingFang SC"/>
              </a:rPr>
              <a:t>把产业转型拆成规模、基础设施、技术、全球化和减排五个观察维度</a:t>
            </a:r>
          </a:p>
        </p:txBody>
      </p:sp>
      <p:sp>
        <p:nvSpPr>
          <p:cNvPr id="12" name="Rectangle 11"/>
          <p:cNvSpPr/>
          <p:nvPr/>
        </p:nvSpPr>
        <p:spPr>
          <a:xfrm>
            <a:off x="667512" y="3895343"/>
            <a:ext cx="2258568"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3986784"/>
            <a:ext cx="2258568" cy="292608"/>
          </a:xfrm>
          <a:prstGeom prst="rect">
            <a:avLst/>
          </a:prstGeom>
          <a:noFill/>
        </p:spPr>
        <p:txBody>
          <a:bodyPr wrap="square" lIns="0" rIns="0" tIns="0" bIns="0" anchor="ctr"/>
          <a:lstStyle/>
          <a:p>
            <a:pPr algn="l">
              <a:lnSpc>
                <a:spcPct val="112000"/>
              </a:lnSpc>
              <a:spcBef>
                <a:spcPts val="0"/>
              </a:spcBef>
              <a:spcAft>
                <a:spcPts val="0"/>
              </a:spcAft>
            </a:pPr>
            <a:r>
              <a:rPr sz="1100" b="1">
                <a:solidFill>
                  <a:srgbClr val="0284C7"/>
                </a:solidFill>
                <a:latin typeface="Arial"/>
                <a:ea typeface="PingFang SC"/>
              </a:rPr>
              <a:t>5 个分析维度</a:t>
            </a:r>
          </a:p>
        </p:txBody>
      </p:sp>
      <p:sp>
        <p:nvSpPr>
          <p:cNvPr id="14" name="Chevron 13"/>
          <p:cNvSpPr/>
          <p:nvPr/>
        </p:nvSpPr>
        <p:spPr>
          <a:xfrm>
            <a:off x="3136391" y="3140964"/>
            <a:ext cx="182879" cy="201168"/>
          </a:xfrm>
          <a:prstGeom prst="chevron">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364991" y="2075688"/>
            <a:ext cx="2587752" cy="2331720"/>
          </a:xfrm>
          <a:prstGeom prst="roundRect">
            <a:avLst>
              <a:gd name="adj" fmla="val 8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64991" y="2075688"/>
            <a:ext cx="2587752" cy="54864"/>
          </a:xfrm>
          <a:prstGeom prst="rect">
            <a:avLst/>
          </a:prstGeom>
          <a:gradFill rotWithShape="1">
            <a:gsLst>
              <a:gs pos="0">
                <a:srgbClr val="8B5CF6"/>
              </a:gs>
              <a:gs pos="100000">
                <a:srgbClr val="C5AE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9584" y="2276856"/>
            <a:ext cx="2258568" cy="237744"/>
          </a:xfrm>
          <a:prstGeom prst="rect">
            <a:avLst/>
          </a:prstGeom>
          <a:noFill/>
        </p:spPr>
        <p:txBody>
          <a:bodyPr wrap="square" lIns="0" rIns="0" tIns="0" bIns="0" anchor="t"/>
          <a:lstStyle/>
          <a:p>
            <a:pPr algn="l">
              <a:lnSpc>
                <a:spcPct val="112000"/>
              </a:lnSpc>
              <a:spcBef>
                <a:spcPts val="0"/>
              </a:spcBef>
              <a:spcAft>
                <a:spcPts val="0"/>
              </a:spcAft>
            </a:pPr>
            <a:r>
              <a:rPr sz="1000" b="1">
                <a:solidFill>
                  <a:srgbClr val="8B5CF6"/>
                </a:solidFill>
                <a:latin typeface="Arial"/>
                <a:ea typeface="PingFang SC"/>
              </a:rPr>
              <a:t>STAGE 02</a:t>
            </a:r>
          </a:p>
        </p:txBody>
      </p:sp>
      <p:sp>
        <p:nvSpPr>
          <p:cNvPr id="18" name="TextBox 17"/>
          <p:cNvSpPr txBox="1"/>
          <p:nvPr/>
        </p:nvSpPr>
        <p:spPr>
          <a:xfrm>
            <a:off x="3529584" y="2569464"/>
            <a:ext cx="2258568" cy="457200"/>
          </a:xfrm>
          <a:prstGeom prst="rect">
            <a:avLst/>
          </a:prstGeom>
          <a:noFill/>
        </p:spPr>
        <p:txBody>
          <a:bodyPr wrap="square" lIns="0" rIns="0" tIns="0" bIns="0" anchor="t"/>
          <a:lstStyle/>
          <a:p>
            <a:pPr algn="l">
              <a:lnSpc>
                <a:spcPct val="108000"/>
              </a:lnSpc>
              <a:spcBef>
                <a:spcPts val="0"/>
              </a:spcBef>
              <a:spcAft>
                <a:spcPts val="0"/>
              </a:spcAft>
            </a:pPr>
            <a:r>
              <a:rPr sz="1400" b="1">
                <a:solidFill>
                  <a:srgbClr val="0F172A"/>
                </a:solidFill>
                <a:latin typeface="Arial"/>
                <a:ea typeface="PingFang SC"/>
              </a:rPr>
              <a:t>数据整理</a:t>
            </a:r>
          </a:p>
        </p:txBody>
      </p:sp>
      <p:sp>
        <p:nvSpPr>
          <p:cNvPr id="19" name="TextBox 18"/>
          <p:cNvSpPr txBox="1"/>
          <p:nvPr/>
        </p:nvSpPr>
        <p:spPr>
          <a:xfrm>
            <a:off x="3529584" y="3063240"/>
            <a:ext cx="2258568" cy="795527"/>
          </a:xfrm>
          <a:prstGeom prst="rect">
            <a:avLst/>
          </a:prstGeom>
          <a:noFill/>
        </p:spPr>
        <p:txBody>
          <a:bodyPr wrap="square" lIns="0" rIns="0" tIns="0" bIns="0" anchor="t"/>
          <a:lstStyle/>
          <a:p>
            <a:pPr algn="l">
              <a:lnSpc>
                <a:spcPct val="120000"/>
              </a:lnSpc>
              <a:spcBef>
                <a:spcPts val="0"/>
              </a:spcBef>
              <a:spcAft>
                <a:spcPts val="0"/>
              </a:spcAft>
            </a:pPr>
            <a:r>
              <a:rPr sz="1100" b="0">
                <a:solidFill>
                  <a:srgbClr val="475569"/>
                </a:solidFill>
                <a:latin typeface="Arial"/>
                <a:ea typeface="PingFang SC"/>
              </a:rPr>
              <a:t>汇总中汽协、公安部、充电联盟、电池联盟和海关等公开统计</a:t>
            </a:r>
          </a:p>
        </p:txBody>
      </p:sp>
      <p:sp>
        <p:nvSpPr>
          <p:cNvPr id="20" name="Rectangle 19"/>
          <p:cNvSpPr/>
          <p:nvPr/>
        </p:nvSpPr>
        <p:spPr>
          <a:xfrm>
            <a:off x="3529584" y="3895343"/>
            <a:ext cx="2258568"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9584" y="3986784"/>
            <a:ext cx="2258568" cy="292608"/>
          </a:xfrm>
          <a:prstGeom prst="rect">
            <a:avLst/>
          </a:prstGeom>
          <a:noFill/>
        </p:spPr>
        <p:txBody>
          <a:bodyPr wrap="square" lIns="0" rIns="0" tIns="0" bIns="0" anchor="ctr"/>
          <a:lstStyle/>
          <a:p>
            <a:pPr algn="l">
              <a:lnSpc>
                <a:spcPct val="112000"/>
              </a:lnSpc>
              <a:spcBef>
                <a:spcPts val="0"/>
              </a:spcBef>
              <a:spcAft>
                <a:spcPts val="0"/>
              </a:spcAft>
            </a:pPr>
            <a:r>
              <a:rPr sz="1100" b="1">
                <a:solidFill>
                  <a:srgbClr val="8B5CF6"/>
                </a:solidFill>
                <a:latin typeface="Arial"/>
                <a:ea typeface="PingFang SC"/>
              </a:rPr>
              <a:t>7 组数据表</a:t>
            </a:r>
          </a:p>
        </p:txBody>
      </p:sp>
      <p:sp>
        <p:nvSpPr>
          <p:cNvPr id="22" name="Chevron 21"/>
          <p:cNvSpPr/>
          <p:nvPr/>
        </p:nvSpPr>
        <p:spPr>
          <a:xfrm>
            <a:off x="5998464" y="3140964"/>
            <a:ext cx="182879" cy="201168"/>
          </a:xfrm>
          <a:prstGeom prst="chevron">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27064" y="2075688"/>
            <a:ext cx="2587752" cy="2331720"/>
          </a:xfrm>
          <a:prstGeom prst="roundRect">
            <a:avLst>
              <a:gd name="adj" fmla="val 8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27064" y="2075688"/>
            <a:ext cx="2587752" cy="54864"/>
          </a:xfrm>
          <a:prstGeom prst="rect">
            <a:avLst/>
          </a:prstGeom>
          <a:gradFill rotWithShape="1">
            <a:gsLst>
              <a:gs pos="0">
                <a:srgbClr val="10B981"/>
              </a:gs>
              <a:gs pos="100000">
                <a:srgbClr val="88DCC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5" y="2276856"/>
            <a:ext cx="2258568" cy="237744"/>
          </a:xfrm>
          <a:prstGeom prst="rect">
            <a:avLst/>
          </a:prstGeom>
          <a:noFill/>
        </p:spPr>
        <p:txBody>
          <a:bodyPr wrap="square" lIns="0" rIns="0" tIns="0" bIns="0" anchor="t"/>
          <a:lstStyle/>
          <a:p>
            <a:pPr algn="l">
              <a:lnSpc>
                <a:spcPct val="112000"/>
              </a:lnSpc>
              <a:spcBef>
                <a:spcPts val="0"/>
              </a:spcBef>
              <a:spcAft>
                <a:spcPts val="0"/>
              </a:spcAft>
            </a:pPr>
            <a:r>
              <a:rPr sz="1000" b="1">
                <a:solidFill>
                  <a:srgbClr val="10B981"/>
                </a:solidFill>
                <a:latin typeface="Arial"/>
                <a:ea typeface="PingFang SC"/>
              </a:rPr>
              <a:t>STAGE 03</a:t>
            </a:r>
          </a:p>
        </p:txBody>
      </p:sp>
      <p:sp>
        <p:nvSpPr>
          <p:cNvPr id="26" name="TextBox 25"/>
          <p:cNvSpPr txBox="1"/>
          <p:nvPr/>
        </p:nvSpPr>
        <p:spPr>
          <a:xfrm>
            <a:off x="6391655" y="2569464"/>
            <a:ext cx="2258568" cy="457200"/>
          </a:xfrm>
          <a:prstGeom prst="rect">
            <a:avLst/>
          </a:prstGeom>
          <a:noFill/>
        </p:spPr>
        <p:txBody>
          <a:bodyPr wrap="square" lIns="0" rIns="0" tIns="0" bIns="0" anchor="t"/>
          <a:lstStyle/>
          <a:p>
            <a:pPr algn="l">
              <a:lnSpc>
                <a:spcPct val="108000"/>
              </a:lnSpc>
              <a:spcBef>
                <a:spcPts val="0"/>
              </a:spcBef>
              <a:spcAft>
                <a:spcPts val="0"/>
              </a:spcAft>
            </a:pPr>
            <a:r>
              <a:rPr sz="1400" b="1">
                <a:solidFill>
                  <a:srgbClr val="0F172A"/>
                </a:solidFill>
                <a:latin typeface="Arial"/>
                <a:ea typeface="PingFang SC"/>
              </a:rPr>
              <a:t>指标构建</a:t>
            </a:r>
          </a:p>
        </p:txBody>
      </p:sp>
      <p:sp>
        <p:nvSpPr>
          <p:cNvPr id="27" name="TextBox 26"/>
          <p:cNvSpPr txBox="1"/>
          <p:nvPr/>
        </p:nvSpPr>
        <p:spPr>
          <a:xfrm>
            <a:off x="6391655" y="3063240"/>
            <a:ext cx="2258568" cy="795527"/>
          </a:xfrm>
          <a:prstGeom prst="rect">
            <a:avLst/>
          </a:prstGeom>
          <a:noFill/>
        </p:spPr>
        <p:txBody>
          <a:bodyPr wrap="square" lIns="0" rIns="0" tIns="0" bIns="0" anchor="t"/>
          <a:lstStyle/>
          <a:p>
            <a:pPr algn="l">
              <a:lnSpc>
                <a:spcPct val="120000"/>
              </a:lnSpc>
              <a:spcBef>
                <a:spcPts val="0"/>
              </a:spcBef>
              <a:spcAft>
                <a:spcPts val="0"/>
              </a:spcAft>
            </a:pPr>
            <a:r>
              <a:rPr sz="1100" b="0">
                <a:solidFill>
                  <a:srgbClr val="475569"/>
                </a:solidFill>
                <a:latin typeface="Arial"/>
                <a:ea typeface="PingFang SC"/>
              </a:rPr>
              <a:t>计算渗透率、车桩比、结构占比、出口占比和情景减排量</a:t>
            </a:r>
          </a:p>
        </p:txBody>
      </p:sp>
      <p:sp>
        <p:nvSpPr>
          <p:cNvPr id="28" name="Rectangle 27"/>
          <p:cNvSpPr/>
          <p:nvPr/>
        </p:nvSpPr>
        <p:spPr>
          <a:xfrm>
            <a:off x="6391655" y="3895343"/>
            <a:ext cx="2258568"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91655" y="3986784"/>
            <a:ext cx="2258568" cy="292608"/>
          </a:xfrm>
          <a:prstGeom prst="rect">
            <a:avLst/>
          </a:prstGeom>
          <a:noFill/>
        </p:spPr>
        <p:txBody>
          <a:bodyPr wrap="square" lIns="0" rIns="0" tIns="0" bIns="0" anchor="ctr"/>
          <a:lstStyle/>
          <a:p>
            <a:pPr algn="l">
              <a:lnSpc>
                <a:spcPct val="112000"/>
              </a:lnSpc>
              <a:spcBef>
                <a:spcPts val="0"/>
              </a:spcBef>
              <a:spcAft>
                <a:spcPts val="0"/>
              </a:spcAft>
            </a:pPr>
            <a:r>
              <a:rPr sz="1100" b="1">
                <a:solidFill>
                  <a:srgbClr val="10B981"/>
                </a:solidFill>
                <a:latin typeface="Arial"/>
                <a:ea typeface="PingFang SC"/>
              </a:rPr>
              <a:t>可复算派生指标</a:t>
            </a:r>
          </a:p>
        </p:txBody>
      </p:sp>
      <p:sp>
        <p:nvSpPr>
          <p:cNvPr id="30" name="Chevron 29"/>
          <p:cNvSpPr/>
          <p:nvPr/>
        </p:nvSpPr>
        <p:spPr>
          <a:xfrm>
            <a:off x="8860536" y="3140964"/>
            <a:ext cx="182879" cy="201168"/>
          </a:xfrm>
          <a:prstGeom prst="chevron">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89136" y="2075688"/>
            <a:ext cx="2587752" cy="2331720"/>
          </a:xfrm>
          <a:prstGeom prst="roundRect">
            <a:avLst>
              <a:gd name="adj" fmla="val 8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89136" y="2075688"/>
            <a:ext cx="2587752" cy="54864"/>
          </a:xfrm>
          <a:prstGeom prst="rect">
            <a:avLst/>
          </a:prstGeom>
          <a:gradFill rotWithShape="1">
            <a:gsLst>
              <a:gs pos="0">
                <a:srgbClr val="F59E0B"/>
              </a:gs>
              <a:gs pos="100000">
                <a:srgbClr val="FACE85"/>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53728" y="2276856"/>
            <a:ext cx="2258568" cy="237744"/>
          </a:xfrm>
          <a:prstGeom prst="rect">
            <a:avLst/>
          </a:prstGeom>
          <a:noFill/>
        </p:spPr>
        <p:txBody>
          <a:bodyPr wrap="square" lIns="0" rIns="0" tIns="0" bIns="0" anchor="t"/>
          <a:lstStyle/>
          <a:p>
            <a:pPr algn="l">
              <a:lnSpc>
                <a:spcPct val="112000"/>
              </a:lnSpc>
              <a:spcBef>
                <a:spcPts val="0"/>
              </a:spcBef>
              <a:spcAft>
                <a:spcPts val="0"/>
              </a:spcAft>
            </a:pPr>
            <a:r>
              <a:rPr sz="1000" b="1">
                <a:solidFill>
                  <a:srgbClr val="F59E0B"/>
                </a:solidFill>
                <a:latin typeface="Arial"/>
                <a:ea typeface="PingFang SC"/>
              </a:rPr>
              <a:t>STAGE 04</a:t>
            </a:r>
          </a:p>
        </p:txBody>
      </p:sp>
      <p:sp>
        <p:nvSpPr>
          <p:cNvPr id="34" name="TextBox 33"/>
          <p:cNvSpPr txBox="1"/>
          <p:nvPr/>
        </p:nvSpPr>
        <p:spPr>
          <a:xfrm>
            <a:off x="9253728" y="2569464"/>
            <a:ext cx="2258568" cy="457200"/>
          </a:xfrm>
          <a:prstGeom prst="rect">
            <a:avLst/>
          </a:prstGeom>
          <a:noFill/>
        </p:spPr>
        <p:txBody>
          <a:bodyPr wrap="square" lIns="0" rIns="0" tIns="0" bIns="0" anchor="t"/>
          <a:lstStyle/>
          <a:p>
            <a:pPr algn="l">
              <a:lnSpc>
                <a:spcPct val="108000"/>
              </a:lnSpc>
              <a:spcBef>
                <a:spcPts val="0"/>
              </a:spcBef>
              <a:spcAft>
                <a:spcPts val="0"/>
              </a:spcAft>
            </a:pPr>
            <a:r>
              <a:rPr sz="1400" b="1">
                <a:solidFill>
                  <a:srgbClr val="0F172A"/>
                </a:solidFill>
                <a:latin typeface="Arial"/>
                <a:ea typeface="PingFang SC"/>
              </a:rPr>
              <a:t>证据表达</a:t>
            </a:r>
          </a:p>
        </p:txBody>
      </p:sp>
      <p:sp>
        <p:nvSpPr>
          <p:cNvPr id="35" name="TextBox 34"/>
          <p:cNvSpPr txBox="1"/>
          <p:nvPr/>
        </p:nvSpPr>
        <p:spPr>
          <a:xfrm>
            <a:off x="9253728" y="3063240"/>
            <a:ext cx="2258568" cy="795527"/>
          </a:xfrm>
          <a:prstGeom prst="rect">
            <a:avLst/>
          </a:prstGeom>
          <a:noFill/>
        </p:spPr>
        <p:txBody>
          <a:bodyPr wrap="square" lIns="0" rIns="0" tIns="0" bIns="0" anchor="t"/>
          <a:lstStyle/>
          <a:p>
            <a:pPr algn="l">
              <a:lnSpc>
                <a:spcPct val="120000"/>
              </a:lnSpc>
              <a:spcBef>
                <a:spcPts val="0"/>
              </a:spcBef>
              <a:spcAft>
                <a:spcPts val="0"/>
              </a:spcAft>
            </a:pPr>
            <a:r>
              <a:rPr sz="1100" b="0">
                <a:solidFill>
                  <a:srgbClr val="475569"/>
                </a:solidFill>
                <a:latin typeface="Arial"/>
                <a:ea typeface="PingFang SC"/>
              </a:rPr>
              <a:t>输出统一风格的图表、关键注释、来源脚注和结论边界</a:t>
            </a:r>
          </a:p>
        </p:txBody>
      </p:sp>
      <p:sp>
        <p:nvSpPr>
          <p:cNvPr id="36" name="Rectangle 35"/>
          <p:cNvSpPr/>
          <p:nvPr/>
        </p:nvSpPr>
        <p:spPr>
          <a:xfrm>
            <a:off x="9253728" y="3895343"/>
            <a:ext cx="2258568"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53728" y="3986784"/>
            <a:ext cx="2258568" cy="292608"/>
          </a:xfrm>
          <a:prstGeom prst="rect">
            <a:avLst/>
          </a:prstGeom>
          <a:noFill/>
        </p:spPr>
        <p:txBody>
          <a:bodyPr wrap="square" lIns="0" rIns="0" tIns="0" bIns="0" anchor="ctr"/>
          <a:lstStyle/>
          <a:p>
            <a:pPr algn="l">
              <a:lnSpc>
                <a:spcPct val="112000"/>
              </a:lnSpc>
              <a:spcBef>
                <a:spcPts val="0"/>
              </a:spcBef>
              <a:spcAft>
                <a:spcPts val="0"/>
              </a:spcAft>
            </a:pPr>
            <a:r>
              <a:rPr sz="1100" b="1">
                <a:solidFill>
                  <a:srgbClr val="F59E0B"/>
                </a:solidFill>
                <a:latin typeface="Arial"/>
                <a:ea typeface="PingFang SC"/>
              </a:rPr>
              <a:t>8 张 300dpi 图表</a:t>
            </a:r>
          </a:p>
        </p:txBody>
      </p:sp>
      <p:sp>
        <p:nvSpPr>
          <p:cNvPr id="38" name="Rectangle 37"/>
          <p:cNvSpPr/>
          <p:nvPr/>
        </p:nvSpPr>
        <p:spPr>
          <a:xfrm>
            <a:off x="502920" y="6199632"/>
            <a:ext cx="11173968" cy="1097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6291072"/>
            <a:ext cx="8961120" cy="256032"/>
          </a:xfrm>
          <a:prstGeom prst="rect">
            <a:avLst/>
          </a:prstGeom>
          <a:noFill/>
        </p:spPr>
        <p:txBody>
          <a:bodyPr wrap="square" lIns="0" rIns="0" tIns="0" bIns="0" anchor="ctr"/>
          <a:lstStyle/>
          <a:p>
            <a:pPr algn="l">
              <a:lnSpc>
                <a:spcPct val="112000"/>
              </a:lnSpc>
              <a:spcBef>
                <a:spcPts val="0"/>
              </a:spcBef>
              <a:spcAft>
                <a:spcPts val="0"/>
              </a:spcAft>
            </a:pPr>
            <a:r>
              <a:rPr sz="1000" b="0">
                <a:solidFill>
                  <a:srgbClr val="94A3B8"/>
                </a:solidFill>
                <a:latin typeface="Arial"/>
                <a:ea typeface="PingFang SC"/>
              </a:rPr>
              <a:t>个人作品集项目 · 数据截止 2025.12 · 公开统计整理</a:t>
            </a:r>
          </a:p>
        </p:txBody>
      </p:sp>
      <p:sp>
        <p:nvSpPr>
          <p:cNvPr id="40" name="TextBox 39"/>
          <p:cNvSpPr txBox="1"/>
          <p:nvPr/>
        </p:nvSpPr>
        <p:spPr>
          <a:xfrm>
            <a:off x="10561320" y="6291072"/>
            <a:ext cx="1115568" cy="256032"/>
          </a:xfrm>
          <a:prstGeom prst="rect">
            <a:avLst/>
          </a:prstGeom>
          <a:noFill/>
        </p:spPr>
        <p:txBody>
          <a:bodyPr wrap="square" lIns="0" rIns="0" tIns="0" bIns="0" anchor="ctr"/>
          <a:lstStyle/>
          <a:p>
            <a:pPr algn="r">
              <a:lnSpc>
                <a:spcPct val="112000"/>
              </a:lnSpc>
              <a:spcBef>
                <a:spcPts val="0"/>
              </a:spcBef>
              <a:spcAft>
                <a:spcPts val="0"/>
              </a:spcAft>
            </a:pPr>
            <a:r>
              <a:rPr sz="1000" b="0">
                <a:solidFill>
                  <a:srgbClr val="94A3B8"/>
                </a:solidFill>
                <a:latin typeface="Arial"/>
                <a:ea typeface="PingFang SC"/>
              </a:rPr>
              <a:t>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gradFill rotWithShape="1">
            <a:gsLst>
              <a:gs pos="0">
                <a:srgbClr val="080F1F"/>
              </a:gs>
              <a:gs pos="100000">
                <a:srgbClr val="1E293B"/>
              </a:gs>
            </a:gsLst>
            <a:lin scaled="0" ang="189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49640" y="1234440"/>
            <a:ext cx="4389120" cy="4389120"/>
          </a:xfrm>
          <a:prstGeom prst="ellipse">
            <a:avLst/>
          </a:prstGeom>
          <a:noFill/>
          <a:ln w="12700">
            <a:solidFill>
              <a:srgbClr val="2655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46920" y="2331720"/>
            <a:ext cx="2194560" cy="2194560"/>
          </a:xfrm>
          <a:prstGeom prst="ellipse">
            <a:avLst/>
          </a:prstGeom>
          <a:noFill/>
          <a:ln w="12700">
            <a:solidFill>
              <a:srgbClr val="433A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 cy="6858000"/>
          </a:xfrm>
          <a:prstGeom prst="rect">
            <a:avLst/>
          </a:prstGeom>
          <a:gradFill rotWithShape="1">
            <a:gsLst>
              <a:gs pos="0">
                <a:srgbClr val="0284C7"/>
              </a:gs>
              <a:gs pos="100000">
                <a:srgbClr val="8B5CF6"/>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234440"/>
            <a:ext cx="9692640" cy="1554480"/>
          </a:xfrm>
          <a:prstGeom prst="rect">
            <a:avLst/>
          </a:prstGeom>
          <a:noFill/>
        </p:spPr>
        <p:txBody>
          <a:bodyPr wrap="square" lIns="0" rIns="0" tIns="0" bIns="0" anchor="t"/>
          <a:lstStyle/>
          <a:p>
            <a:pPr algn="l">
              <a:lnSpc>
                <a:spcPct val="112000"/>
              </a:lnSpc>
              <a:spcBef>
                <a:spcPts val="0"/>
              </a:spcBef>
              <a:spcAft>
                <a:spcPts val="0"/>
              </a:spcAft>
            </a:pPr>
            <a:r>
              <a:rPr sz="10400" b="1">
                <a:solidFill>
                  <a:srgbClr val="2C7AA3"/>
                </a:solidFill>
                <a:latin typeface="Arial"/>
                <a:ea typeface="PingFang SC"/>
              </a:rPr>
              <a:t>02</a:t>
            </a:r>
          </a:p>
        </p:txBody>
      </p:sp>
      <p:sp>
        <p:nvSpPr>
          <p:cNvPr id="7" name="Rectangle 6"/>
          <p:cNvSpPr/>
          <p:nvPr/>
        </p:nvSpPr>
        <p:spPr>
          <a:xfrm>
            <a:off x="658368" y="2926080"/>
            <a:ext cx="1463040" cy="45720"/>
          </a:xfrm>
          <a:prstGeom prst="rect">
            <a:avLst/>
          </a:prstGeom>
          <a:gradFill rotWithShape="1">
            <a:gsLst>
              <a:gs pos="0">
                <a:srgbClr val="38BDF8"/>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182112"/>
            <a:ext cx="9692640" cy="1188720"/>
          </a:xfrm>
          <a:prstGeom prst="rect">
            <a:avLst/>
          </a:prstGeom>
          <a:noFill/>
        </p:spPr>
        <p:txBody>
          <a:bodyPr wrap="square" lIns="0" rIns="0" tIns="0" bIns="0" anchor="t"/>
          <a:lstStyle/>
          <a:p>
            <a:pPr algn="l">
              <a:lnSpc>
                <a:spcPct val="108000"/>
              </a:lnSpc>
              <a:spcBef>
                <a:spcPts val="0"/>
              </a:spcBef>
              <a:spcAft>
                <a:spcPts val="0"/>
              </a:spcAft>
            </a:pPr>
            <a:r>
              <a:rPr sz="3200" b="1">
                <a:solidFill>
                  <a:srgbClr val="FFFFFF"/>
                </a:solidFill>
                <a:latin typeface="Arial"/>
                <a:ea typeface="PingFang SC"/>
              </a:rPr>
              <a:t>数据与方法</a:t>
            </a:r>
          </a:p>
        </p:txBody>
      </p:sp>
      <p:sp>
        <p:nvSpPr>
          <p:cNvPr id="9" name="TextBox 8"/>
          <p:cNvSpPr txBox="1"/>
          <p:nvPr/>
        </p:nvSpPr>
        <p:spPr>
          <a:xfrm>
            <a:off x="658368" y="4526280"/>
            <a:ext cx="8961120" cy="822960"/>
          </a:xfrm>
          <a:prstGeom prst="rect">
            <a:avLst/>
          </a:prstGeom>
          <a:noFill/>
        </p:spPr>
        <p:txBody>
          <a:bodyPr wrap="square" lIns="0" rIns="0" tIns="0" bIns="0" anchor="t"/>
          <a:lstStyle/>
          <a:p>
            <a:pPr algn="l">
              <a:lnSpc>
                <a:spcPct val="122000"/>
              </a:lnSpc>
              <a:spcBef>
                <a:spcPts val="0"/>
              </a:spcBef>
              <a:spcAft>
                <a:spcPts val="0"/>
              </a:spcAft>
            </a:pPr>
            <a:r>
              <a:rPr sz="1600" b="0">
                <a:solidFill>
                  <a:srgbClr val="94A3B8"/>
                </a:solidFill>
                <a:latin typeface="Arial"/>
                <a:ea typeface="PingFang SC"/>
              </a:rPr>
              <a:t>先解决口径，再讨论结论</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4008"/>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73968" cy="219456"/>
          </a:xfrm>
          <a:prstGeom prst="rect">
            <a:avLst/>
          </a:prstGeom>
          <a:noFill/>
        </p:spPr>
        <p:txBody>
          <a:bodyPr wrap="square" lIns="0" rIns="0" tIns="0" bIns="0" anchor="t"/>
          <a:lstStyle/>
          <a:p>
            <a:pPr algn="l">
              <a:lnSpc>
                <a:spcPct val="112000"/>
              </a:lnSpc>
              <a:spcBef>
                <a:spcPts val="0"/>
              </a:spcBef>
              <a:spcAft>
                <a:spcPts val="0"/>
              </a:spcAft>
            </a:pPr>
            <a:r>
              <a:rPr sz="1000" b="1">
                <a:solidFill>
                  <a:srgbClr val="0284C7"/>
                </a:solidFill>
                <a:latin typeface="Arial"/>
                <a:ea typeface="PingFang SC"/>
              </a:rPr>
              <a:t>02  DATA &amp; METHOD</a:t>
            </a:r>
          </a:p>
        </p:txBody>
      </p:sp>
      <p:sp>
        <p:nvSpPr>
          <p:cNvPr id="4" name="TextBox 3"/>
          <p:cNvSpPr txBox="1"/>
          <p:nvPr/>
        </p:nvSpPr>
        <p:spPr>
          <a:xfrm>
            <a:off x="502920" y="347472"/>
            <a:ext cx="11173968" cy="713232"/>
          </a:xfrm>
          <a:prstGeom prst="rect">
            <a:avLst/>
          </a:prstGeom>
          <a:noFill/>
        </p:spPr>
        <p:txBody>
          <a:bodyPr wrap="square" lIns="0" rIns="0" tIns="0" bIns="0" anchor="b"/>
          <a:lstStyle/>
          <a:p>
            <a:pPr algn="l">
              <a:lnSpc>
                <a:spcPct val="105000"/>
              </a:lnSpc>
              <a:spcBef>
                <a:spcPts val="0"/>
              </a:spcBef>
              <a:spcAft>
                <a:spcPts val="0"/>
              </a:spcAft>
            </a:pPr>
            <a:r>
              <a:rPr sz="1800" b="1">
                <a:solidFill>
                  <a:srgbClr val="0F172A"/>
                </a:solidFill>
                <a:latin typeface="Arial"/>
                <a:ea typeface="PingFang SC"/>
              </a:rPr>
              <a:t>七组数据覆盖产业链关键环节，但时间窗口和统计口径并不天然一致</a:t>
            </a:r>
          </a:p>
        </p:txBody>
      </p:sp>
      <p:sp>
        <p:nvSpPr>
          <p:cNvPr id="5" name="Rectangle 4"/>
          <p:cNvSpPr/>
          <p:nvPr/>
        </p:nvSpPr>
        <p:spPr>
          <a:xfrm>
            <a:off x="502920" y="1115568"/>
            <a:ext cx="1051560" cy="32004"/>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54480" y="1124712"/>
            <a:ext cx="1012240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298448"/>
            <a:ext cx="11173968" cy="1456943"/>
          </a:xfrm>
          <a:prstGeom prst="roundRect">
            <a:avLst>
              <a:gd name="adj" fmla="val 6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426464"/>
            <a:ext cx="1298448" cy="201168"/>
          </a:xfrm>
          <a:prstGeom prst="rect">
            <a:avLst/>
          </a:prstGeom>
          <a:noFill/>
        </p:spPr>
        <p:txBody>
          <a:bodyPr wrap="square" lIns="0" rIns="0" tIns="0" bIns="0" anchor="t"/>
          <a:lstStyle/>
          <a:p>
            <a:pPr algn="l">
              <a:lnSpc>
                <a:spcPct val="112000"/>
              </a:lnSpc>
              <a:spcBef>
                <a:spcPts val="0"/>
              </a:spcBef>
              <a:spcAft>
                <a:spcPts val="0"/>
              </a:spcAft>
            </a:pPr>
            <a:r>
              <a:rPr sz="1000" b="1">
                <a:solidFill>
                  <a:srgbClr val="475569"/>
                </a:solidFill>
                <a:latin typeface="Arial"/>
                <a:ea typeface="PingFang SC"/>
              </a:rPr>
              <a:t>产业结果层</a:t>
            </a:r>
          </a:p>
        </p:txBody>
      </p:sp>
      <p:sp>
        <p:nvSpPr>
          <p:cNvPr id="9" name="TextBox 8"/>
          <p:cNvSpPr txBox="1"/>
          <p:nvPr/>
        </p:nvSpPr>
        <p:spPr>
          <a:xfrm>
            <a:off x="621792" y="1645919"/>
            <a:ext cx="1298448" cy="530352"/>
          </a:xfrm>
          <a:prstGeom prst="rect">
            <a:avLst/>
          </a:prstGeom>
          <a:noFill/>
        </p:spPr>
        <p:txBody>
          <a:bodyPr wrap="square" lIns="0" rIns="0" tIns="0" bIns="0" anchor="t"/>
          <a:lstStyle/>
          <a:p>
            <a:pPr algn="l">
              <a:lnSpc>
                <a:spcPct val="105000"/>
              </a:lnSpc>
              <a:spcBef>
                <a:spcPts val="0"/>
              </a:spcBef>
              <a:spcAft>
                <a:spcPts val="0"/>
              </a:spcAft>
            </a:pPr>
            <a:r>
              <a:rPr sz="1300" b="1">
                <a:solidFill>
                  <a:srgbClr val="0F172A"/>
                </a:solidFill>
                <a:latin typeface="Arial"/>
                <a:ea typeface="PingFang SC"/>
              </a:rPr>
              <a:t>Market Outcomes</a:t>
            </a:r>
          </a:p>
        </p:txBody>
      </p:sp>
      <p:sp>
        <p:nvSpPr>
          <p:cNvPr id="10" name="Rounded Rectangle 9"/>
          <p:cNvSpPr/>
          <p:nvPr/>
        </p:nvSpPr>
        <p:spPr>
          <a:xfrm>
            <a:off x="1965960" y="1743455"/>
            <a:ext cx="3121152" cy="566928"/>
          </a:xfrm>
          <a:prstGeom prst="roundRect">
            <a:avLst>
              <a:gd name="adj" fmla="val 12000"/>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39112" y="1798320"/>
            <a:ext cx="2974848" cy="256032"/>
          </a:xfrm>
          <a:prstGeom prst="rect">
            <a:avLst/>
          </a:prstGeom>
          <a:noFill/>
        </p:spPr>
        <p:txBody>
          <a:bodyPr wrap="square" lIns="0" rIns="0" tIns="0" bIns="0" anchor="t"/>
          <a:lstStyle/>
          <a:p>
            <a:pPr algn="ctr">
              <a:lnSpc>
                <a:spcPct val="112000"/>
              </a:lnSpc>
              <a:spcBef>
                <a:spcPts val="0"/>
              </a:spcBef>
              <a:spcAft>
                <a:spcPts val="0"/>
              </a:spcAft>
            </a:pPr>
            <a:r>
              <a:rPr sz="1100" b="1">
                <a:solidFill>
                  <a:srgbClr val="0F172A"/>
                </a:solidFill>
                <a:latin typeface="Arial"/>
                <a:ea typeface="PingFang SC"/>
              </a:rPr>
              <a:t>销量与渗透率</a:t>
            </a:r>
          </a:p>
        </p:txBody>
      </p:sp>
      <p:sp>
        <p:nvSpPr>
          <p:cNvPr id="12" name="TextBox 11"/>
          <p:cNvSpPr txBox="1"/>
          <p:nvPr/>
        </p:nvSpPr>
        <p:spPr>
          <a:xfrm>
            <a:off x="2039112" y="2036064"/>
            <a:ext cx="2974848" cy="219456"/>
          </a:xfrm>
          <a:prstGeom prst="rect">
            <a:avLst/>
          </a:prstGeom>
          <a:noFill/>
        </p:spPr>
        <p:txBody>
          <a:bodyPr wrap="square" lIns="0" rIns="0" tIns="0" bIns="0" anchor="t"/>
          <a:lstStyle/>
          <a:p>
            <a:pPr algn="ctr">
              <a:lnSpc>
                <a:spcPct val="112000"/>
              </a:lnSpc>
              <a:spcBef>
                <a:spcPts val="0"/>
              </a:spcBef>
              <a:spcAft>
                <a:spcPts val="0"/>
              </a:spcAft>
            </a:pPr>
            <a:r>
              <a:rPr sz="900" b="0">
                <a:solidFill>
                  <a:srgbClr val="475569"/>
                </a:solidFill>
                <a:latin typeface="Arial"/>
                <a:ea typeface="PingFang SC"/>
              </a:rPr>
              <a:t>2015—2025，观察新车市场转折</a:t>
            </a:r>
          </a:p>
        </p:txBody>
      </p:sp>
      <p:sp>
        <p:nvSpPr>
          <p:cNvPr id="13" name="Rounded Rectangle 12"/>
          <p:cNvSpPr/>
          <p:nvPr/>
        </p:nvSpPr>
        <p:spPr>
          <a:xfrm>
            <a:off x="5178552" y="1743455"/>
            <a:ext cx="3121152" cy="566928"/>
          </a:xfrm>
          <a:prstGeom prst="roundRect">
            <a:avLst>
              <a:gd name="adj" fmla="val 12000"/>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1704" y="1798320"/>
            <a:ext cx="2974848" cy="256032"/>
          </a:xfrm>
          <a:prstGeom prst="rect">
            <a:avLst/>
          </a:prstGeom>
          <a:noFill/>
        </p:spPr>
        <p:txBody>
          <a:bodyPr wrap="square" lIns="0" rIns="0" tIns="0" bIns="0" anchor="t"/>
          <a:lstStyle/>
          <a:p>
            <a:pPr algn="ctr">
              <a:lnSpc>
                <a:spcPct val="112000"/>
              </a:lnSpc>
              <a:spcBef>
                <a:spcPts val="0"/>
              </a:spcBef>
              <a:spcAft>
                <a:spcPts val="0"/>
              </a:spcAft>
            </a:pPr>
            <a:r>
              <a:rPr sz="1100" b="1">
                <a:solidFill>
                  <a:srgbClr val="0F172A"/>
                </a:solidFill>
                <a:latin typeface="Arial"/>
                <a:ea typeface="PingFang SC"/>
              </a:rPr>
              <a:t>保有量</a:t>
            </a:r>
          </a:p>
        </p:txBody>
      </p:sp>
      <p:sp>
        <p:nvSpPr>
          <p:cNvPr id="15" name="TextBox 14"/>
          <p:cNvSpPr txBox="1"/>
          <p:nvPr/>
        </p:nvSpPr>
        <p:spPr>
          <a:xfrm>
            <a:off x="5251704" y="2036064"/>
            <a:ext cx="2974848" cy="219456"/>
          </a:xfrm>
          <a:prstGeom prst="rect">
            <a:avLst/>
          </a:prstGeom>
          <a:noFill/>
        </p:spPr>
        <p:txBody>
          <a:bodyPr wrap="square" lIns="0" rIns="0" tIns="0" bIns="0" anchor="t"/>
          <a:lstStyle/>
          <a:p>
            <a:pPr algn="ctr">
              <a:lnSpc>
                <a:spcPct val="112000"/>
              </a:lnSpc>
              <a:spcBef>
                <a:spcPts val="0"/>
              </a:spcBef>
              <a:spcAft>
                <a:spcPts val="0"/>
              </a:spcAft>
            </a:pPr>
            <a:r>
              <a:rPr sz="900" b="0">
                <a:solidFill>
                  <a:srgbClr val="475569"/>
                </a:solidFill>
                <a:latin typeface="Arial"/>
                <a:ea typeface="PingFang SC"/>
              </a:rPr>
              <a:t>2015—2025，观察存量扩张</a:t>
            </a:r>
          </a:p>
        </p:txBody>
      </p:sp>
      <p:sp>
        <p:nvSpPr>
          <p:cNvPr id="16" name="Rounded Rectangle 15"/>
          <p:cNvSpPr/>
          <p:nvPr/>
        </p:nvSpPr>
        <p:spPr>
          <a:xfrm>
            <a:off x="8391144" y="1743455"/>
            <a:ext cx="3121152" cy="566928"/>
          </a:xfrm>
          <a:prstGeom prst="roundRect">
            <a:avLst>
              <a:gd name="adj" fmla="val 12000"/>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64296" y="1798320"/>
            <a:ext cx="2974848" cy="256032"/>
          </a:xfrm>
          <a:prstGeom prst="rect">
            <a:avLst/>
          </a:prstGeom>
          <a:noFill/>
        </p:spPr>
        <p:txBody>
          <a:bodyPr wrap="square" lIns="0" rIns="0" tIns="0" bIns="0" anchor="t"/>
          <a:lstStyle/>
          <a:p>
            <a:pPr algn="ctr">
              <a:lnSpc>
                <a:spcPct val="112000"/>
              </a:lnSpc>
              <a:spcBef>
                <a:spcPts val="0"/>
              </a:spcBef>
              <a:spcAft>
                <a:spcPts val="0"/>
              </a:spcAft>
            </a:pPr>
            <a:r>
              <a:rPr sz="1100" b="1">
                <a:solidFill>
                  <a:srgbClr val="0F172A"/>
                </a:solidFill>
                <a:latin typeface="Arial"/>
                <a:ea typeface="PingFang SC"/>
              </a:rPr>
              <a:t>出口</a:t>
            </a:r>
          </a:p>
        </p:txBody>
      </p:sp>
      <p:sp>
        <p:nvSpPr>
          <p:cNvPr id="18" name="TextBox 17"/>
          <p:cNvSpPr txBox="1"/>
          <p:nvPr/>
        </p:nvSpPr>
        <p:spPr>
          <a:xfrm>
            <a:off x="8464296" y="2036064"/>
            <a:ext cx="2974848" cy="219456"/>
          </a:xfrm>
          <a:prstGeom prst="rect">
            <a:avLst/>
          </a:prstGeom>
          <a:noFill/>
        </p:spPr>
        <p:txBody>
          <a:bodyPr wrap="square" lIns="0" rIns="0" tIns="0" bIns="0" anchor="t"/>
          <a:lstStyle/>
          <a:p>
            <a:pPr algn="ctr">
              <a:lnSpc>
                <a:spcPct val="112000"/>
              </a:lnSpc>
              <a:spcBef>
                <a:spcPts val="0"/>
              </a:spcBef>
              <a:spcAft>
                <a:spcPts val="0"/>
              </a:spcAft>
            </a:pPr>
            <a:r>
              <a:rPr sz="900" b="0">
                <a:solidFill>
                  <a:srgbClr val="475569"/>
                </a:solidFill>
                <a:latin typeface="Arial"/>
                <a:ea typeface="PingFang SC"/>
              </a:rPr>
              <a:t>2020—2025，观察全球化</a:t>
            </a:r>
          </a:p>
        </p:txBody>
      </p:sp>
      <p:sp>
        <p:nvSpPr>
          <p:cNvPr id="19" name="Down Arrow 18"/>
          <p:cNvSpPr/>
          <p:nvPr/>
        </p:nvSpPr>
        <p:spPr>
          <a:xfrm>
            <a:off x="5971032" y="2773679"/>
            <a:ext cx="237744" cy="164592"/>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2938271"/>
            <a:ext cx="11173968" cy="1456943"/>
          </a:xfrm>
          <a:prstGeom prst="roundRect">
            <a:avLst>
              <a:gd name="adj" fmla="val 6000"/>
            </a:avLst>
          </a:prstGeom>
          <a:gradFill rotWithShape="1">
            <a:gsLst>
              <a:gs pos="0">
                <a:srgbClr val="8B5CF6"/>
              </a:gs>
              <a:gs pos="100000">
                <a:srgbClr val="543C9C"/>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3066287"/>
            <a:ext cx="1298448" cy="201168"/>
          </a:xfrm>
          <a:prstGeom prst="rect">
            <a:avLst/>
          </a:prstGeom>
          <a:noFill/>
        </p:spPr>
        <p:txBody>
          <a:bodyPr wrap="square" lIns="0" rIns="0" tIns="0" bIns="0" anchor="t"/>
          <a:lstStyle/>
          <a:p>
            <a:pPr algn="l">
              <a:lnSpc>
                <a:spcPct val="112000"/>
              </a:lnSpc>
              <a:spcBef>
                <a:spcPts val="0"/>
              </a:spcBef>
              <a:spcAft>
                <a:spcPts val="0"/>
              </a:spcAft>
            </a:pPr>
            <a:r>
              <a:rPr sz="1000" b="1">
                <a:solidFill>
                  <a:srgbClr val="E8EEF8"/>
                </a:solidFill>
                <a:latin typeface="Arial"/>
                <a:ea typeface="PingFang SC"/>
              </a:rPr>
              <a:t>系统支撑层</a:t>
            </a:r>
          </a:p>
        </p:txBody>
      </p:sp>
      <p:sp>
        <p:nvSpPr>
          <p:cNvPr id="22" name="TextBox 21"/>
          <p:cNvSpPr txBox="1"/>
          <p:nvPr/>
        </p:nvSpPr>
        <p:spPr>
          <a:xfrm>
            <a:off x="621792" y="3285743"/>
            <a:ext cx="1298448" cy="530352"/>
          </a:xfrm>
          <a:prstGeom prst="rect">
            <a:avLst/>
          </a:prstGeom>
          <a:noFill/>
        </p:spPr>
        <p:txBody>
          <a:bodyPr wrap="square" lIns="0" rIns="0" tIns="0" bIns="0" anchor="t"/>
          <a:lstStyle/>
          <a:p>
            <a:pPr algn="l">
              <a:lnSpc>
                <a:spcPct val="105000"/>
              </a:lnSpc>
              <a:spcBef>
                <a:spcPts val="0"/>
              </a:spcBef>
              <a:spcAft>
                <a:spcPts val="0"/>
              </a:spcAft>
            </a:pPr>
            <a:r>
              <a:rPr sz="1300" b="1">
                <a:solidFill>
                  <a:srgbClr val="FFFFFF"/>
                </a:solidFill>
                <a:latin typeface="Arial"/>
                <a:ea typeface="PingFang SC"/>
              </a:rPr>
              <a:t>System Enablers</a:t>
            </a:r>
          </a:p>
        </p:txBody>
      </p:sp>
      <p:sp>
        <p:nvSpPr>
          <p:cNvPr id="23" name="Rounded Rectangle 22"/>
          <p:cNvSpPr/>
          <p:nvPr/>
        </p:nvSpPr>
        <p:spPr>
          <a:xfrm>
            <a:off x="1965960" y="3383279"/>
            <a:ext cx="3121152" cy="5669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39112" y="3438143"/>
            <a:ext cx="2974848" cy="256032"/>
          </a:xfrm>
          <a:prstGeom prst="rect">
            <a:avLst/>
          </a:prstGeom>
          <a:noFill/>
        </p:spPr>
        <p:txBody>
          <a:bodyPr wrap="square" lIns="0" rIns="0" tIns="0" bIns="0" anchor="t"/>
          <a:lstStyle/>
          <a:p>
            <a:pPr algn="ctr">
              <a:lnSpc>
                <a:spcPct val="112000"/>
              </a:lnSpc>
              <a:spcBef>
                <a:spcPts val="0"/>
              </a:spcBef>
              <a:spcAft>
                <a:spcPts val="0"/>
              </a:spcAft>
            </a:pPr>
            <a:r>
              <a:rPr sz="1100" b="1">
                <a:solidFill>
                  <a:srgbClr val="0F172A"/>
                </a:solidFill>
                <a:latin typeface="Arial"/>
                <a:ea typeface="PingFang SC"/>
              </a:rPr>
              <a:t>充电设施</a:t>
            </a:r>
          </a:p>
        </p:txBody>
      </p:sp>
      <p:sp>
        <p:nvSpPr>
          <p:cNvPr id="25" name="TextBox 24"/>
          <p:cNvSpPr txBox="1"/>
          <p:nvPr/>
        </p:nvSpPr>
        <p:spPr>
          <a:xfrm>
            <a:off x="2039112" y="3675887"/>
            <a:ext cx="2974848" cy="219456"/>
          </a:xfrm>
          <a:prstGeom prst="rect">
            <a:avLst/>
          </a:prstGeom>
          <a:noFill/>
        </p:spPr>
        <p:txBody>
          <a:bodyPr wrap="square" lIns="0" rIns="0" tIns="0" bIns="0" anchor="t"/>
          <a:lstStyle/>
          <a:p>
            <a:pPr algn="ctr">
              <a:lnSpc>
                <a:spcPct val="112000"/>
              </a:lnSpc>
              <a:spcBef>
                <a:spcPts val="0"/>
              </a:spcBef>
              <a:spcAft>
                <a:spcPts val="0"/>
              </a:spcAft>
            </a:pPr>
            <a:r>
              <a:rPr sz="900" b="0">
                <a:solidFill>
                  <a:srgbClr val="475569"/>
                </a:solidFill>
                <a:latin typeface="Arial"/>
                <a:ea typeface="PingFang SC"/>
              </a:rPr>
              <a:t>2020—2025，公共与私人结构</a:t>
            </a:r>
          </a:p>
        </p:txBody>
      </p:sp>
      <p:sp>
        <p:nvSpPr>
          <p:cNvPr id="26" name="Rounded Rectangle 25"/>
          <p:cNvSpPr/>
          <p:nvPr/>
        </p:nvSpPr>
        <p:spPr>
          <a:xfrm>
            <a:off x="5178552" y="3383279"/>
            <a:ext cx="3121152" cy="5669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51704" y="3438143"/>
            <a:ext cx="2974848" cy="256032"/>
          </a:xfrm>
          <a:prstGeom prst="rect">
            <a:avLst/>
          </a:prstGeom>
          <a:noFill/>
        </p:spPr>
        <p:txBody>
          <a:bodyPr wrap="square" lIns="0" rIns="0" tIns="0" bIns="0" anchor="t"/>
          <a:lstStyle/>
          <a:p>
            <a:pPr algn="ctr">
              <a:lnSpc>
                <a:spcPct val="112000"/>
              </a:lnSpc>
              <a:spcBef>
                <a:spcPts val="0"/>
              </a:spcBef>
              <a:spcAft>
                <a:spcPts val="0"/>
              </a:spcAft>
            </a:pPr>
            <a:r>
              <a:rPr sz="1100" b="1">
                <a:solidFill>
                  <a:srgbClr val="0F172A"/>
                </a:solidFill>
                <a:latin typeface="Arial"/>
                <a:ea typeface="PingFang SC"/>
              </a:rPr>
              <a:t>动力电池</a:t>
            </a:r>
          </a:p>
        </p:txBody>
      </p:sp>
      <p:sp>
        <p:nvSpPr>
          <p:cNvPr id="28" name="TextBox 27"/>
          <p:cNvSpPr txBox="1"/>
          <p:nvPr/>
        </p:nvSpPr>
        <p:spPr>
          <a:xfrm>
            <a:off x="5251704" y="3675887"/>
            <a:ext cx="2974848" cy="219456"/>
          </a:xfrm>
          <a:prstGeom prst="rect">
            <a:avLst/>
          </a:prstGeom>
          <a:noFill/>
        </p:spPr>
        <p:txBody>
          <a:bodyPr wrap="square" lIns="0" rIns="0" tIns="0" bIns="0" anchor="t"/>
          <a:lstStyle/>
          <a:p>
            <a:pPr algn="ctr">
              <a:lnSpc>
                <a:spcPct val="112000"/>
              </a:lnSpc>
              <a:spcBef>
                <a:spcPts val="0"/>
              </a:spcBef>
              <a:spcAft>
                <a:spcPts val="0"/>
              </a:spcAft>
            </a:pPr>
            <a:r>
              <a:rPr sz="900" b="0">
                <a:solidFill>
                  <a:srgbClr val="475569"/>
                </a:solidFill>
                <a:latin typeface="Arial"/>
                <a:ea typeface="PingFang SC"/>
              </a:rPr>
              <a:t>2018—2025，装车量与路线结构</a:t>
            </a:r>
          </a:p>
        </p:txBody>
      </p:sp>
      <p:sp>
        <p:nvSpPr>
          <p:cNvPr id="29" name="Rounded Rectangle 28"/>
          <p:cNvSpPr/>
          <p:nvPr/>
        </p:nvSpPr>
        <p:spPr>
          <a:xfrm>
            <a:off x="8391144" y="3383279"/>
            <a:ext cx="3121152" cy="5669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64296" y="3438143"/>
            <a:ext cx="2974848" cy="256032"/>
          </a:xfrm>
          <a:prstGeom prst="rect">
            <a:avLst/>
          </a:prstGeom>
          <a:noFill/>
        </p:spPr>
        <p:txBody>
          <a:bodyPr wrap="square" lIns="0" rIns="0" tIns="0" bIns="0" anchor="t"/>
          <a:lstStyle/>
          <a:p>
            <a:pPr algn="ctr">
              <a:lnSpc>
                <a:spcPct val="112000"/>
              </a:lnSpc>
              <a:spcBef>
                <a:spcPts val="0"/>
              </a:spcBef>
              <a:spcAft>
                <a:spcPts val="0"/>
              </a:spcAft>
            </a:pPr>
            <a:r>
              <a:rPr sz="1100" b="1">
                <a:solidFill>
                  <a:srgbClr val="0F172A"/>
                </a:solidFill>
                <a:latin typeface="Arial"/>
                <a:ea typeface="PingFang SC"/>
              </a:rPr>
              <a:t>动力类型</a:t>
            </a:r>
          </a:p>
        </p:txBody>
      </p:sp>
      <p:sp>
        <p:nvSpPr>
          <p:cNvPr id="31" name="TextBox 30"/>
          <p:cNvSpPr txBox="1"/>
          <p:nvPr/>
        </p:nvSpPr>
        <p:spPr>
          <a:xfrm>
            <a:off x="8464296" y="3675887"/>
            <a:ext cx="2974848" cy="219456"/>
          </a:xfrm>
          <a:prstGeom prst="rect">
            <a:avLst/>
          </a:prstGeom>
          <a:noFill/>
        </p:spPr>
        <p:txBody>
          <a:bodyPr wrap="square" lIns="0" rIns="0" tIns="0" bIns="0" anchor="t"/>
          <a:lstStyle/>
          <a:p>
            <a:pPr algn="ctr">
              <a:lnSpc>
                <a:spcPct val="112000"/>
              </a:lnSpc>
              <a:spcBef>
                <a:spcPts val="0"/>
              </a:spcBef>
              <a:spcAft>
                <a:spcPts val="0"/>
              </a:spcAft>
            </a:pPr>
            <a:r>
              <a:rPr sz="900" b="0">
                <a:solidFill>
                  <a:srgbClr val="475569"/>
                </a:solidFill>
                <a:latin typeface="Arial"/>
                <a:ea typeface="PingFang SC"/>
              </a:rPr>
              <a:t>2021—2025，纯电与插混分工</a:t>
            </a:r>
          </a:p>
        </p:txBody>
      </p:sp>
      <p:sp>
        <p:nvSpPr>
          <p:cNvPr id="32" name="Down Arrow 31"/>
          <p:cNvSpPr/>
          <p:nvPr/>
        </p:nvSpPr>
        <p:spPr>
          <a:xfrm>
            <a:off x="5971032" y="4413503"/>
            <a:ext cx="237744" cy="164592"/>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02920" y="4578095"/>
            <a:ext cx="11173968" cy="1456943"/>
          </a:xfrm>
          <a:prstGeom prst="roundRect">
            <a:avLst>
              <a:gd name="adj" fmla="val 6000"/>
            </a:avLst>
          </a:prstGeom>
          <a:gradFill rotWithShape="1">
            <a:gsLst>
              <a:gs pos="0">
                <a:srgbClr val="0284C7"/>
              </a:gs>
              <a:gs pos="100000">
                <a:srgbClr val="05538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4706111"/>
            <a:ext cx="1298448" cy="201168"/>
          </a:xfrm>
          <a:prstGeom prst="rect">
            <a:avLst/>
          </a:prstGeom>
          <a:noFill/>
        </p:spPr>
        <p:txBody>
          <a:bodyPr wrap="square" lIns="0" rIns="0" tIns="0" bIns="0" anchor="t"/>
          <a:lstStyle/>
          <a:p>
            <a:pPr algn="l">
              <a:lnSpc>
                <a:spcPct val="112000"/>
              </a:lnSpc>
              <a:spcBef>
                <a:spcPts val="0"/>
              </a:spcBef>
              <a:spcAft>
                <a:spcPts val="0"/>
              </a:spcAft>
            </a:pPr>
            <a:r>
              <a:rPr sz="1000" b="1">
                <a:solidFill>
                  <a:srgbClr val="E8EEF8"/>
                </a:solidFill>
                <a:latin typeface="Arial"/>
                <a:ea typeface="PingFang SC"/>
              </a:rPr>
              <a:t>影响评估层</a:t>
            </a:r>
          </a:p>
        </p:txBody>
      </p:sp>
      <p:sp>
        <p:nvSpPr>
          <p:cNvPr id="35" name="TextBox 34"/>
          <p:cNvSpPr txBox="1"/>
          <p:nvPr/>
        </p:nvSpPr>
        <p:spPr>
          <a:xfrm>
            <a:off x="621792" y="4925567"/>
            <a:ext cx="1298448" cy="530352"/>
          </a:xfrm>
          <a:prstGeom prst="rect">
            <a:avLst/>
          </a:prstGeom>
          <a:noFill/>
        </p:spPr>
        <p:txBody>
          <a:bodyPr wrap="square" lIns="0" rIns="0" tIns="0" bIns="0" anchor="t"/>
          <a:lstStyle/>
          <a:p>
            <a:pPr algn="l">
              <a:lnSpc>
                <a:spcPct val="105000"/>
              </a:lnSpc>
              <a:spcBef>
                <a:spcPts val="0"/>
              </a:spcBef>
              <a:spcAft>
                <a:spcPts val="0"/>
              </a:spcAft>
            </a:pPr>
            <a:r>
              <a:rPr sz="1300" b="1">
                <a:solidFill>
                  <a:srgbClr val="FFFFFF"/>
                </a:solidFill>
                <a:latin typeface="Arial"/>
                <a:ea typeface="PingFang SC"/>
              </a:rPr>
              <a:t>Impact Scenario</a:t>
            </a:r>
          </a:p>
        </p:txBody>
      </p:sp>
      <p:sp>
        <p:nvSpPr>
          <p:cNvPr id="36" name="Rounded Rectangle 35"/>
          <p:cNvSpPr/>
          <p:nvPr/>
        </p:nvSpPr>
        <p:spPr>
          <a:xfrm>
            <a:off x="1965960" y="5023103"/>
            <a:ext cx="4727448" cy="5669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39112" y="5077967"/>
            <a:ext cx="4581144" cy="256032"/>
          </a:xfrm>
          <a:prstGeom prst="rect">
            <a:avLst/>
          </a:prstGeom>
          <a:noFill/>
        </p:spPr>
        <p:txBody>
          <a:bodyPr wrap="square" lIns="0" rIns="0" tIns="0" bIns="0" anchor="t"/>
          <a:lstStyle/>
          <a:p>
            <a:pPr algn="ctr">
              <a:lnSpc>
                <a:spcPct val="112000"/>
              </a:lnSpc>
              <a:spcBef>
                <a:spcPts val="0"/>
              </a:spcBef>
              <a:spcAft>
                <a:spcPts val="0"/>
              </a:spcAft>
            </a:pPr>
            <a:r>
              <a:rPr sz="1100" b="1">
                <a:solidFill>
                  <a:srgbClr val="0F172A"/>
                </a:solidFill>
                <a:latin typeface="Arial"/>
                <a:ea typeface="PingFang SC"/>
              </a:rPr>
              <a:t>年度减碳量</a:t>
            </a:r>
          </a:p>
        </p:txBody>
      </p:sp>
      <p:sp>
        <p:nvSpPr>
          <p:cNvPr id="38" name="TextBox 37"/>
          <p:cNvSpPr txBox="1"/>
          <p:nvPr/>
        </p:nvSpPr>
        <p:spPr>
          <a:xfrm>
            <a:off x="2039112" y="5315711"/>
            <a:ext cx="4581144" cy="219456"/>
          </a:xfrm>
          <a:prstGeom prst="rect">
            <a:avLst/>
          </a:prstGeom>
          <a:noFill/>
        </p:spPr>
        <p:txBody>
          <a:bodyPr wrap="square" lIns="0" rIns="0" tIns="0" bIns="0" anchor="t"/>
          <a:lstStyle/>
          <a:p>
            <a:pPr algn="ctr">
              <a:lnSpc>
                <a:spcPct val="112000"/>
              </a:lnSpc>
              <a:spcBef>
                <a:spcPts val="0"/>
              </a:spcBef>
              <a:spcAft>
                <a:spcPts val="0"/>
              </a:spcAft>
            </a:pPr>
            <a:r>
              <a:rPr sz="900" b="0">
                <a:solidFill>
                  <a:srgbClr val="475569"/>
                </a:solidFill>
                <a:latin typeface="Arial"/>
                <a:ea typeface="PingFang SC"/>
              </a:rPr>
              <a:t>基于保有量与单车系数的情景估算</a:t>
            </a:r>
          </a:p>
        </p:txBody>
      </p:sp>
      <p:sp>
        <p:nvSpPr>
          <p:cNvPr id="39" name="Rounded Rectangle 38"/>
          <p:cNvSpPr/>
          <p:nvPr/>
        </p:nvSpPr>
        <p:spPr>
          <a:xfrm>
            <a:off x="6784848" y="5023103"/>
            <a:ext cx="4727448" cy="5669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0" y="5077967"/>
            <a:ext cx="4581144" cy="256032"/>
          </a:xfrm>
          <a:prstGeom prst="rect">
            <a:avLst/>
          </a:prstGeom>
          <a:noFill/>
        </p:spPr>
        <p:txBody>
          <a:bodyPr wrap="square" lIns="0" rIns="0" tIns="0" bIns="0" anchor="t"/>
          <a:lstStyle/>
          <a:p>
            <a:pPr algn="ctr">
              <a:lnSpc>
                <a:spcPct val="112000"/>
              </a:lnSpc>
              <a:spcBef>
                <a:spcPts val="0"/>
              </a:spcBef>
              <a:spcAft>
                <a:spcPts val="0"/>
              </a:spcAft>
            </a:pPr>
            <a:r>
              <a:rPr sz="1100" b="1">
                <a:solidFill>
                  <a:srgbClr val="0F172A"/>
                </a:solidFill>
                <a:latin typeface="Arial"/>
                <a:ea typeface="PingFang SC"/>
              </a:rPr>
              <a:t>累计减碳量</a:t>
            </a:r>
          </a:p>
        </p:txBody>
      </p:sp>
      <p:sp>
        <p:nvSpPr>
          <p:cNvPr id="41" name="TextBox 40"/>
          <p:cNvSpPr txBox="1"/>
          <p:nvPr/>
        </p:nvSpPr>
        <p:spPr>
          <a:xfrm>
            <a:off x="6858000" y="5315711"/>
            <a:ext cx="4581144" cy="219456"/>
          </a:xfrm>
          <a:prstGeom prst="rect">
            <a:avLst/>
          </a:prstGeom>
          <a:noFill/>
        </p:spPr>
        <p:txBody>
          <a:bodyPr wrap="square" lIns="0" rIns="0" tIns="0" bIns="0" anchor="t"/>
          <a:lstStyle/>
          <a:p>
            <a:pPr algn="ctr">
              <a:lnSpc>
                <a:spcPct val="112000"/>
              </a:lnSpc>
              <a:spcBef>
                <a:spcPts val="0"/>
              </a:spcBef>
              <a:spcAft>
                <a:spcPts val="0"/>
              </a:spcAft>
            </a:pPr>
            <a:r>
              <a:rPr sz="900" b="0">
                <a:solidFill>
                  <a:srgbClr val="475569"/>
                </a:solidFill>
                <a:latin typeface="Arial"/>
                <a:ea typeface="PingFang SC"/>
              </a:rPr>
              <a:t>用于趋势展示，不替代生命周期核算</a:t>
            </a:r>
          </a:p>
        </p:txBody>
      </p:sp>
      <p:sp>
        <p:nvSpPr>
          <p:cNvPr id="42" name="Rounded Rectangle 41"/>
          <p:cNvSpPr/>
          <p:nvPr/>
        </p:nvSpPr>
        <p:spPr>
          <a:xfrm>
            <a:off x="502920" y="6089903"/>
            <a:ext cx="11173968" cy="822960"/>
          </a:xfrm>
          <a:prstGeom prst="roundRect">
            <a:avLst>
              <a:gd name="adj" fmla="val 8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502920" y="6089903"/>
            <a:ext cx="64008" cy="822960"/>
          </a:xfrm>
          <a:prstGeom prst="roundRect">
            <a:avLst>
              <a:gd name="adj" fmla="val 4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749808" y="6263639"/>
            <a:ext cx="475488" cy="475488"/>
          </a:xfrm>
          <a:prstGeom prst="roundRect">
            <a:avLst>
              <a:gd name="adj" fmla="val 26000"/>
            </a:avLst>
          </a:prstGeom>
          <a:solidFill>
            <a:srgbClr val="DCE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9808" y="6263639"/>
            <a:ext cx="475488" cy="475488"/>
          </a:xfrm>
          <a:prstGeom prst="rect">
            <a:avLst/>
          </a:prstGeom>
          <a:noFill/>
        </p:spPr>
        <p:txBody>
          <a:bodyPr wrap="square" lIns="0" rIns="0" tIns="0" bIns="0" anchor="ctr"/>
          <a:lstStyle/>
          <a:p>
            <a:pPr algn="ctr">
              <a:lnSpc>
                <a:spcPct val="112000"/>
              </a:lnSpc>
              <a:spcBef>
                <a:spcPts val="0"/>
              </a:spcBef>
              <a:spcAft>
                <a:spcPts val="0"/>
              </a:spcAft>
            </a:pPr>
            <a:r>
              <a:rPr sz="1500" b="1">
                <a:solidFill>
                  <a:srgbClr val="0284C7"/>
                </a:solidFill>
                <a:latin typeface="Arial"/>
                <a:ea typeface="PingFang SC"/>
              </a:rPr>
              <a:t>01</a:t>
            </a:r>
          </a:p>
        </p:txBody>
      </p:sp>
      <p:sp>
        <p:nvSpPr>
          <p:cNvPr id="46" name="TextBox 45"/>
          <p:cNvSpPr txBox="1"/>
          <p:nvPr/>
        </p:nvSpPr>
        <p:spPr>
          <a:xfrm>
            <a:off x="1389888" y="6236207"/>
            <a:ext cx="10149840" cy="329184"/>
          </a:xfrm>
          <a:prstGeom prst="rect">
            <a:avLst/>
          </a:prstGeom>
          <a:noFill/>
        </p:spPr>
        <p:txBody>
          <a:bodyPr wrap="square" lIns="0" rIns="0" tIns="0" bIns="0" anchor="t"/>
          <a:lstStyle/>
          <a:p>
            <a:pPr algn="l">
              <a:lnSpc>
                <a:spcPct val="112000"/>
              </a:lnSpc>
              <a:spcBef>
                <a:spcPts val="0"/>
              </a:spcBef>
              <a:spcAft>
                <a:spcPts val="0"/>
              </a:spcAft>
            </a:pPr>
            <a:r>
              <a:rPr sz="1600" b="1">
                <a:solidFill>
                  <a:srgbClr val="0F172A"/>
                </a:solidFill>
                <a:latin typeface="Arial"/>
                <a:ea typeface="PingFang SC"/>
              </a:rPr>
              <a:t>口径意识</a:t>
            </a:r>
          </a:p>
        </p:txBody>
      </p:sp>
      <p:sp>
        <p:nvSpPr>
          <p:cNvPr id="47" name="TextBox 46"/>
          <p:cNvSpPr txBox="1"/>
          <p:nvPr/>
        </p:nvSpPr>
        <p:spPr>
          <a:xfrm>
            <a:off x="1389888" y="6601967"/>
            <a:ext cx="10149840" cy="182880"/>
          </a:xfrm>
          <a:prstGeom prst="rect">
            <a:avLst/>
          </a:prstGeom>
          <a:noFill/>
        </p:spPr>
        <p:txBody>
          <a:bodyPr wrap="square" lIns="0" rIns="0" tIns="0" bIns="0" anchor="t"/>
          <a:lstStyle/>
          <a:p>
            <a:pPr algn="l">
              <a:lnSpc>
                <a:spcPct val="124000"/>
              </a:lnSpc>
              <a:spcBef>
                <a:spcPts val="0"/>
              </a:spcBef>
              <a:spcAft>
                <a:spcPts val="0"/>
              </a:spcAft>
            </a:pPr>
            <a:r>
              <a:rPr sz="1300" b="0">
                <a:solidFill>
                  <a:srgbClr val="475569"/>
                </a:solidFill>
                <a:latin typeface="Arial"/>
                <a:ea typeface="PingFang SC"/>
              </a:rPr>
              <a:t>充电设施从 2020 年开始使用统一的公共、私人和总量口径，避免跨口径回溯。</a:t>
            </a:r>
          </a:p>
        </p:txBody>
      </p:sp>
      <p:sp>
        <p:nvSpPr>
          <p:cNvPr id="48" name="Rounded Rectangle 47"/>
          <p:cNvSpPr/>
          <p:nvPr/>
        </p:nvSpPr>
        <p:spPr>
          <a:xfrm>
            <a:off x="502920" y="7022591"/>
            <a:ext cx="11173968" cy="822960"/>
          </a:xfrm>
          <a:prstGeom prst="roundRect">
            <a:avLst>
              <a:gd name="adj" fmla="val 8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502920" y="7022591"/>
            <a:ext cx="64008" cy="822960"/>
          </a:xfrm>
          <a:prstGeom prst="roundRect">
            <a:avLst>
              <a:gd name="adj" fmla="val 4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749808" y="7196327"/>
            <a:ext cx="475488" cy="475488"/>
          </a:xfrm>
          <a:prstGeom prst="roundRect">
            <a:avLst>
              <a:gd name="adj" fmla="val 26000"/>
            </a:avLst>
          </a:prstGeom>
          <a:solidFill>
            <a:srgbClr val="EFE8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9808" y="7196327"/>
            <a:ext cx="475488" cy="475488"/>
          </a:xfrm>
          <a:prstGeom prst="rect">
            <a:avLst/>
          </a:prstGeom>
          <a:noFill/>
        </p:spPr>
        <p:txBody>
          <a:bodyPr wrap="square" lIns="0" rIns="0" tIns="0" bIns="0" anchor="ctr"/>
          <a:lstStyle/>
          <a:p>
            <a:pPr algn="ctr">
              <a:lnSpc>
                <a:spcPct val="112000"/>
              </a:lnSpc>
              <a:spcBef>
                <a:spcPts val="0"/>
              </a:spcBef>
              <a:spcAft>
                <a:spcPts val="0"/>
              </a:spcAft>
            </a:pPr>
            <a:r>
              <a:rPr sz="1500" b="1">
                <a:solidFill>
                  <a:srgbClr val="8B5CF6"/>
                </a:solidFill>
                <a:latin typeface="Arial"/>
                <a:ea typeface="PingFang SC"/>
              </a:rPr>
              <a:t>02</a:t>
            </a:r>
          </a:p>
        </p:txBody>
      </p:sp>
      <p:sp>
        <p:nvSpPr>
          <p:cNvPr id="52" name="TextBox 51"/>
          <p:cNvSpPr txBox="1"/>
          <p:nvPr/>
        </p:nvSpPr>
        <p:spPr>
          <a:xfrm>
            <a:off x="1389888" y="7168895"/>
            <a:ext cx="10149840" cy="329184"/>
          </a:xfrm>
          <a:prstGeom prst="rect">
            <a:avLst/>
          </a:prstGeom>
          <a:noFill/>
        </p:spPr>
        <p:txBody>
          <a:bodyPr wrap="square" lIns="0" rIns="0" tIns="0" bIns="0" anchor="t"/>
          <a:lstStyle/>
          <a:p>
            <a:pPr algn="l">
              <a:lnSpc>
                <a:spcPct val="112000"/>
              </a:lnSpc>
              <a:spcBef>
                <a:spcPts val="0"/>
              </a:spcBef>
              <a:spcAft>
                <a:spcPts val="0"/>
              </a:spcAft>
            </a:pPr>
            <a:r>
              <a:rPr sz="1600" b="1">
                <a:solidFill>
                  <a:srgbClr val="0F172A"/>
                </a:solidFill>
                <a:latin typeface="Arial"/>
                <a:ea typeface="PingFang SC"/>
              </a:rPr>
              <a:t>来源意识</a:t>
            </a:r>
          </a:p>
        </p:txBody>
      </p:sp>
      <p:sp>
        <p:nvSpPr>
          <p:cNvPr id="53" name="TextBox 52"/>
          <p:cNvSpPr txBox="1"/>
          <p:nvPr/>
        </p:nvSpPr>
        <p:spPr>
          <a:xfrm>
            <a:off x="1389888" y="7534655"/>
            <a:ext cx="10149840" cy="182880"/>
          </a:xfrm>
          <a:prstGeom prst="rect">
            <a:avLst/>
          </a:prstGeom>
          <a:noFill/>
        </p:spPr>
        <p:txBody>
          <a:bodyPr wrap="square" lIns="0" rIns="0" tIns="0" bIns="0" anchor="t"/>
          <a:lstStyle/>
          <a:p>
            <a:pPr algn="l">
              <a:lnSpc>
                <a:spcPct val="124000"/>
              </a:lnSpc>
              <a:spcBef>
                <a:spcPts val="0"/>
              </a:spcBef>
              <a:spcAft>
                <a:spcPts val="0"/>
              </a:spcAft>
            </a:pPr>
            <a:r>
              <a:rPr sz="1300" b="0">
                <a:solidFill>
                  <a:srgbClr val="475569"/>
                </a:solidFill>
                <a:latin typeface="Arial"/>
                <a:ea typeface="PingFang SC"/>
              </a:rPr>
              <a:t>官方统计、行业协会数据与本组估算在图表和脚注中分开标识。</a:t>
            </a:r>
          </a:p>
        </p:txBody>
      </p:sp>
      <p:sp>
        <p:nvSpPr>
          <p:cNvPr id="54" name="Rectangle 53"/>
          <p:cNvSpPr/>
          <p:nvPr/>
        </p:nvSpPr>
        <p:spPr>
          <a:xfrm>
            <a:off x="502920" y="6199632"/>
            <a:ext cx="11173968" cy="1097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02920" y="6291072"/>
            <a:ext cx="8961120" cy="256032"/>
          </a:xfrm>
          <a:prstGeom prst="rect">
            <a:avLst/>
          </a:prstGeom>
          <a:noFill/>
        </p:spPr>
        <p:txBody>
          <a:bodyPr wrap="square" lIns="0" rIns="0" tIns="0" bIns="0" anchor="ctr"/>
          <a:lstStyle/>
          <a:p>
            <a:pPr algn="l">
              <a:lnSpc>
                <a:spcPct val="112000"/>
              </a:lnSpc>
              <a:spcBef>
                <a:spcPts val="0"/>
              </a:spcBef>
              <a:spcAft>
                <a:spcPts val="0"/>
              </a:spcAft>
            </a:pPr>
            <a:r>
              <a:rPr sz="1000" b="0">
                <a:solidFill>
                  <a:srgbClr val="94A3B8"/>
                </a:solidFill>
                <a:latin typeface="Arial"/>
                <a:ea typeface="PingFang SC"/>
              </a:rPr>
              <a:t>个人作品集项目 · 数据截止 2025.12 · 公开统计整理</a:t>
            </a:r>
          </a:p>
        </p:txBody>
      </p:sp>
      <p:sp>
        <p:nvSpPr>
          <p:cNvPr id="56" name="TextBox 55"/>
          <p:cNvSpPr txBox="1"/>
          <p:nvPr/>
        </p:nvSpPr>
        <p:spPr>
          <a:xfrm>
            <a:off x="10561320" y="6291072"/>
            <a:ext cx="1115568" cy="256032"/>
          </a:xfrm>
          <a:prstGeom prst="rect">
            <a:avLst/>
          </a:prstGeom>
          <a:noFill/>
        </p:spPr>
        <p:txBody>
          <a:bodyPr wrap="square" lIns="0" rIns="0" tIns="0" bIns="0" anchor="ctr"/>
          <a:lstStyle/>
          <a:p>
            <a:pPr algn="r">
              <a:lnSpc>
                <a:spcPct val="112000"/>
              </a:lnSpc>
              <a:spcBef>
                <a:spcPts val="0"/>
              </a:spcBef>
              <a:spcAft>
                <a:spcPts val="0"/>
              </a:spcAft>
            </a:pPr>
            <a:r>
              <a:rPr sz="1000" b="0">
                <a:solidFill>
                  <a:srgbClr val="94A3B8"/>
                </a:solidFill>
                <a:latin typeface="Arial"/>
                <a:ea typeface="PingFang SC"/>
              </a:rPr>
              <a:t>05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4008"/>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73968" cy="219456"/>
          </a:xfrm>
          <a:prstGeom prst="rect">
            <a:avLst/>
          </a:prstGeom>
          <a:noFill/>
        </p:spPr>
        <p:txBody>
          <a:bodyPr wrap="square" lIns="0" rIns="0" tIns="0" bIns="0" anchor="t"/>
          <a:lstStyle/>
          <a:p>
            <a:pPr algn="l">
              <a:lnSpc>
                <a:spcPct val="112000"/>
              </a:lnSpc>
              <a:spcBef>
                <a:spcPts val="0"/>
              </a:spcBef>
              <a:spcAft>
                <a:spcPts val="0"/>
              </a:spcAft>
            </a:pPr>
            <a:r>
              <a:rPr sz="1000" b="1">
                <a:solidFill>
                  <a:srgbClr val="0284C7"/>
                </a:solidFill>
                <a:latin typeface="Arial"/>
                <a:ea typeface="PingFang SC"/>
              </a:rPr>
              <a:t>02  DATA &amp; METHOD</a:t>
            </a:r>
          </a:p>
        </p:txBody>
      </p:sp>
      <p:sp>
        <p:nvSpPr>
          <p:cNvPr id="4" name="TextBox 3"/>
          <p:cNvSpPr txBox="1"/>
          <p:nvPr/>
        </p:nvSpPr>
        <p:spPr>
          <a:xfrm>
            <a:off x="502920" y="347472"/>
            <a:ext cx="11173968" cy="713232"/>
          </a:xfrm>
          <a:prstGeom prst="rect">
            <a:avLst/>
          </a:prstGeom>
          <a:noFill/>
        </p:spPr>
        <p:txBody>
          <a:bodyPr wrap="square" lIns="0" rIns="0" tIns="0" bIns="0" anchor="b"/>
          <a:lstStyle/>
          <a:p>
            <a:pPr algn="l">
              <a:lnSpc>
                <a:spcPct val="105000"/>
              </a:lnSpc>
              <a:spcBef>
                <a:spcPts val="0"/>
              </a:spcBef>
              <a:spcAft>
                <a:spcPts val="0"/>
              </a:spcAft>
            </a:pPr>
            <a:r>
              <a:rPr sz="1800" b="1">
                <a:solidFill>
                  <a:srgbClr val="0F172A"/>
                </a:solidFill>
                <a:latin typeface="Arial"/>
                <a:ea typeface="PingFang SC"/>
              </a:rPr>
              <a:t>数据清洗的重点不是填满表格，而是让每个派生指标都能复算</a:t>
            </a:r>
          </a:p>
        </p:txBody>
      </p:sp>
      <p:sp>
        <p:nvSpPr>
          <p:cNvPr id="5" name="Rectangle 4"/>
          <p:cNvSpPr/>
          <p:nvPr/>
        </p:nvSpPr>
        <p:spPr>
          <a:xfrm>
            <a:off x="502920" y="1115568"/>
            <a:ext cx="1051560" cy="32004"/>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54480" y="1124712"/>
            <a:ext cx="1012240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22576"/>
            <a:ext cx="10625328" cy="27432"/>
          </a:xfrm>
          <a:prstGeom prst="rect">
            <a:avLst/>
          </a:prstGeom>
          <a:gradFill rotWithShape="1">
            <a:gsLst>
              <a:gs pos="0">
                <a:srgbClr val="8DC8E6"/>
              </a:gs>
              <a:gs pos="100000">
                <a:srgbClr val="CBB6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72844" y="2002535"/>
            <a:ext cx="694944" cy="694944"/>
          </a:xfrm>
          <a:prstGeom prst="ellipse">
            <a:avLst/>
          </a:prstGeom>
          <a:solidFill>
            <a:srgbClr val="D9E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5996" y="2075688"/>
            <a:ext cx="548640" cy="548640"/>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5996" y="2075688"/>
            <a:ext cx="548640" cy="548640"/>
          </a:xfrm>
          <a:prstGeom prst="rect">
            <a:avLst/>
          </a:prstGeom>
          <a:noFill/>
        </p:spPr>
        <p:txBody>
          <a:bodyPr wrap="square" lIns="0" rIns="0" tIns="0" bIns="0" anchor="ctr"/>
          <a:lstStyle/>
          <a:p>
            <a:pPr algn="ctr">
              <a:lnSpc>
                <a:spcPct val="112000"/>
              </a:lnSpc>
              <a:spcBef>
                <a:spcPts val="0"/>
              </a:spcBef>
              <a:spcAft>
                <a:spcPts val="0"/>
              </a:spcAft>
            </a:pPr>
            <a:r>
              <a:rPr sz="1200" b="1">
                <a:solidFill>
                  <a:srgbClr val="FFFFFF"/>
                </a:solidFill>
                <a:latin typeface="Arial"/>
                <a:ea typeface="PingFang SC"/>
              </a:rPr>
              <a:t>01</a:t>
            </a:r>
          </a:p>
        </p:txBody>
      </p:sp>
      <p:sp>
        <p:nvSpPr>
          <p:cNvPr id="11" name="TextBox 10"/>
          <p:cNvSpPr txBox="1"/>
          <p:nvPr/>
        </p:nvSpPr>
        <p:spPr>
          <a:xfrm>
            <a:off x="576072" y="2862071"/>
            <a:ext cx="2088489" cy="457200"/>
          </a:xfrm>
          <a:prstGeom prst="rect">
            <a:avLst/>
          </a:prstGeom>
          <a:noFill/>
        </p:spPr>
        <p:txBody>
          <a:bodyPr wrap="square" lIns="0" rIns="0" tIns="0" bIns="0" anchor="t"/>
          <a:lstStyle/>
          <a:p>
            <a:pPr algn="ctr">
              <a:lnSpc>
                <a:spcPct val="112000"/>
              </a:lnSpc>
              <a:spcBef>
                <a:spcPts val="0"/>
              </a:spcBef>
              <a:spcAft>
                <a:spcPts val="0"/>
              </a:spcAft>
            </a:pPr>
            <a:r>
              <a:rPr sz="1500" b="1">
                <a:solidFill>
                  <a:srgbClr val="0F172A"/>
                </a:solidFill>
                <a:latin typeface="Arial"/>
                <a:ea typeface="PingFang SC"/>
              </a:rPr>
              <a:t>统一时间</a:t>
            </a:r>
          </a:p>
        </p:txBody>
      </p:sp>
      <p:sp>
        <p:nvSpPr>
          <p:cNvPr id="12" name="TextBox 11"/>
          <p:cNvSpPr txBox="1"/>
          <p:nvPr/>
        </p:nvSpPr>
        <p:spPr>
          <a:xfrm>
            <a:off x="630936" y="3337560"/>
            <a:ext cx="1978761" cy="1691639"/>
          </a:xfrm>
          <a:prstGeom prst="rect">
            <a:avLst/>
          </a:prstGeom>
          <a:noFill/>
        </p:spPr>
        <p:txBody>
          <a:bodyPr wrap="square" lIns="0" rIns="0" tIns="0" bIns="0" anchor="t"/>
          <a:lstStyle/>
          <a:p>
            <a:pPr algn="ctr">
              <a:lnSpc>
                <a:spcPct val="122000"/>
              </a:lnSpc>
              <a:spcBef>
                <a:spcPts val="0"/>
              </a:spcBef>
              <a:spcAft>
                <a:spcPts val="0"/>
              </a:spcAft>
            </a:pPr>
            <a:r>
              <a:rPr sz="1200" b="0">
                <a:solidFill>
                  <a:srgbClr val="475569"/>
                </a:solidFill>
                <a:latin typeface="Arial"/>
                <a:ea typeface="PingFang SC"/>
              </a:rPr>
              <a:t>按指标可用年份建立独立时间窗口，不强行补齐缺失历史。</a:t>
            </a:r>
          </a:p>
        </p:txBody>
      </p:sp>
      <p:sp>
        <p:nvSpPr>
          <p:cNvPr id="13" name="Oval 12"/>
          <p:cNvSpPr/>
          <p:nvPr/>
        </p:nvSpPr>
        <p:spPr>
          <a:xfrm>
            <a:off x="3507638" y="2002535"/>
            <a:ext cx="694944" cy="694944"/>
          </a:xfrm>
          <a:prstGeom prst="ellipse">
            <a:avLst/>
          </a:prstGeom>
          <a:solidFill>
            <a:srgbClr val="EEE7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0790" y="2075688"/>
            <a:ext cx="548640" cy="54864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0790" y="2075688"/>
            <a:ext cx="548640" cy="548640"/>
          </a:xfrm>
          <a:prstGeom prst="rect">
            <a:avLst/>
          </a:prstGeom>
          <a:noFill/>
        </p:spPr>
        <p:txBody>
          <a:bodyPr wrap="square" lIns="0" rIns="0" tIns="0" bIns="0" anchor="ctr"/>
          <a:lstStyle/>
          <a:p>
            <a:pPr algn="ctr">
              <a:lnSpc>
                <a:spcPct val="112000"/>
              </a:lnSpc>
              <a:spcBef>
                <a:spcPts val="0"/>
              </a:spcBef>
              <a:spcAft>
                <a:spcPts val="0"/>
              </a:spcAft>
            </a:pPr>
            <a:r>
              <a:rPr sz="1200" b="1">
                <a:solidFill>
                  <a:srgbClr val="FFFFFF"/>
                </a:solidFill>
                <a:latin typeface="Arial"/>
                <a:ea typeface="PingFang SC"/>
              </a:rPr>
              <a:t>02</a:t>
            </a:r>
          </a:p>
        </p:txBody>
      </p:sp>
      <p:sp>
        <p:nvSpPr>
          <p:cNvPr id="16" name="TextBox 15"/>
          <p:cNvSpPr txBox="1"/>
          <p:nvPr/>
        </p:nvSpPr>
        <p:spPr>
          <a:xfrm>
            <a:off x="2810865" y="2862071"/>
            <a:ext cx="2088489" cy="457200"/>
          </a:xfrm>
          <a:prstGeom prst="rect">
            <a:avLst/>
          </a:prstGeom>
          <a:noFill/>
        </p:spPr>
        <p:txBody>
          <a:bodyPr wrap="square" lIns="0" rIns="0" tIns="0" bIns="0" anchor="t"/>
          <a:lstStyle/>
          <a:p>
            <a:pPr algn="ctr">
              <a:lnSpc>
                <a:spcPct val="112000"/>
              </a:lnSpc>
              <a:spcBef>
                <a:spcPts val="0"/>
              </a:spcBef>
              <a:spcAft>
                <a:spcPts val="0"/>
              </a:spcAft>
            </a:pPr>
            <a:r>
              <a:rPr sz="1500" b="1">
                <a:solidFill>
                  <a:srgbClr val="0F172A"/>
                </a:solidFill>
                <a:latin typeface="Arial"/>
                <a:ea typeface="PingFang SC"/>
              </a:rPr>
              <a:t>统一口径</a:t>
            </a:r>
          </a:p>
        </p:txBody>
      </p:sp>
      <p:sp>
        <p:nvSpPr>
          <p:cNvPr id="17" name="TextBox 16"/>
          <p:cNvSpPr txBox="1"/>
          <p:nvPr/>
        </p:nvSpPr>
        <p:spPr>
          <a:xfrm>
            <a:off x="2865729" y="3337560"/>
            <a:ext cx="1978761" cy="1691639"/>
          </a:xfrm>
          <a:prstGeom prst="rect">
            <a:avLst/>
          </a:prstGeom>
          <a:noFill/>
        </p:spPr>
        <p:txBody>
          <a:bodyPr wrap="square" lIns="0" rIns="0" tIns="0" bIns="0" anchor="t"/>
          <a:lstStyle/>
          <a:p>
            <a:pPr algn="ctr">
              <a:lnSpc>
                <a:spcPct val="122000"/>
              </a:lnSpc>
              <a:spcBef>
                <a:spcPts val="0"/>
              </a:spcBef>
              <a:spcAft>
                <a:spcPts val="0"/>
              </a:spcAft>
            </a:pPr>
            <a:r>
              <a:rPr sz="1200" b="0">
                <a:solidFill>
                  <a:srgbClr val="475569"/>
                </a:solidFill>
                <a:latin typeface="Arial"/>
                <a:ea typeface="PingFang SC"/>
              </a:rPr>
              <a:t>明确国内新车渗透率、整车出口与充电设施统计边界。</a:t>
            </a:r>
          </a:p>
        </p:txBody>
      </p:sp>
      <p:sp>
        <p:nvSpPr>
          <p:cNvPr id="18" name="Oval 17"/>
          <p:cNvSpPr/>
          <p:nvPr/>
        </p:nvSpPr>
        <p:spPr>
          <a:xfrm>
            <a:off x="5742432" y="2002535"/>
            <a:ext cx="694944" cy="694944"/>
          </a:xfrm>
          <a:prstGeom prst="ellipse">
            <a:avLst/>
          </a:prstGeom>
          <a:solidFill>
            <a:srgbClr val="DB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815584" y="2075688"/>
            <a:ext cx="548640" cy="5486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15584" y="2075688"/>
            <a:ext cx="548640" cy="548640"/>
          </a:xfrm>
          <a:prstGeom prst="rect">
            <a:avLst/>
          </a:prstGeom>
          <a:noFill/>
        </p:spPr>
        <p:txBody>
          <a:bodyPr wrap="square" lIns="0" rIns="0" tIns="0" bIns="0" anchor="ctr"/>
          <a:lstStyle/>
          <a:p>
            <a:pPr algn="ctr">
              <a:lnSpc>
                <a:spcPct val="112000"/>
              </a:lnSpc>
              <a:spcBef>
                <a:spcPts val="0"/>
              </a:spcBef>
              <a:spcAft>
                <a:spcPts val="0"/>
              </a:spcAft>
            </a:pPr>
            <a:r>
              <a:rPr sz="1200" b="1">
                <a:solidFill>
                  <a:srgbClr val="FFFFFF"/>
                </a:solidFill>
                <a:latin typeface="Arial"/>
                <a:ea typeface="PingFang SC"/>
              </a:rPr>
              <a:t>03</a:t>
            </a:r>
          </a:p>
        </p:txBody>
      </p:sp>
      <p:sp>
        <p:nvSpPr>
          <p:cNvPr id="21" name="TextBox 20"/>
          <p:cNvSpPr txBox="1"/>
          <p:nvPr/>
        </p:nvSpPr>
        <p:spPr>
          <a:xfrm>
            <a:off x="5045659" y="2862071"/>
            <a:ext cx="2088489" cy="457200"/>
          </a:xfrm>
          <a:prstGeom prst="rect">
            <a:avLst/>
          </a:prstGeom>
          <a:noFill/>
        </p:spPr>
        <p:txBody>
          <a:bodyPr wrap="square" lIns="0" rIns="0" tIns="0" bIns="0" anchor="t"/>
          <a:lstStyle/>
          <a:p>
            <a:pPr algn="ctr">
              <a:lnSpc>
                <a:spcPct val="112000"/>
              </a:lnSpc>
              <a:spcBef>
                <a:spcPts val="0"/>
              </a:spcBef>
              <a:spcAft>
                <a:spcPts val="0"/>
              </a:spcAft>
            </a:pPr>
            <a:r>
              <a:rPr sz="1500" b="1">
                <a:solidFill>
                  <a:srgbClr val="0F172A"/>
                </a:solidFill>
                <a:latin typeface="Arial"/>
                <a:ea typeface="PingFang SC"/>
              </a:rPr>
              <a:t>计算指标</a:t>
            </a:r>
          </a:p>
        </p:txBody>
      </p:sp>
      <p:sp>
        <p:nvSpPr>
          <p:cNvPr id="22" name="TextBox 21"/>
          <p:cNvSpPr txBox="1"/>
          <p:nvPr/>
        </p:nvSpPr>
        <p:spPr>
          <a:xfrm>
            <a:off x="5100523" y="3337560"/>
            <a:ext cx="1978761" cy="1691639"/>
          </a:xfrm>
          <a:prstGeom prst="rect">
            <a:avLst/>
          </a:prstGeom>
          <a:noFill/>
        </p:spPr>
        <p:txBody>
          <a:bodyPr wrap="square" lIns="0" rIns="0" tIns="0" bIns="0" anchor="t"/>
          <a:lstStyle/>
          <a:p>
            <a:pPr algn="ctr">
              <a:lnSpc>
                <a:spcPct val="122000"/>
              </a:lnSpc>
              <a:spcBef>
                <a:spcPts val="0"/>
              </a:spcBef>
              <a:spcAft>
                <a:spcPts val="0"/>
              </a:spcAft>
            </a:pPr>
            <a:r>
              <a:rPr sz="1200" b="0">
                <a:solidFill>
                  <a:srgbClr val="475569"/>
                </a:solidFill>
                <a:latin typeface="Arial"/>
                <a:ea typeface="PingFang SC"/>
              </a:rPr>
              <a:t>由原始字段自动计算占比、车桩比和减碳情景值。</a:t>
            </a:r>
          </a:p>
        </p:txBody>
      </p:sp>
      <p:sp>
        <p:nvSpPr>
          <p:cNvPr id="23" name="Oval 22"/>
          <p:cNvSpPr/>
          <p:nvPr/>
        </p:nvSpPr>
        <p:spPr>
          <a:xfrm>
            <a:off x="7977225" y="2002535"/>
            <a:ext cx="694944" cy="694944"/>
          </a:xfrm>
          <a:prstGeom prst="ellipse">
            <a:avLst/>
          </a:prstGeom>
          <a:solidFill>
            <a:srgbClr val="FEF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50377" y="2075688"/>
            <a:ext cx="548640" cy="5486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50377" y="2075688"/>
            <a:ext cx="548640" cy="548640"/>
          </a:xfrm>
          <a:prstGeom prst="rect">
            <a:avLst/>
          </a:prstGeom>
          <a:noFill/>
        </p:spPr>
        <p:txBody>
          <a:bodyPr wrap="square" lIns="0" rIns="0" tIns="0" bIns="0" anchor="ctr"/>
          <a:lstStyle/>
          <a:p>
            <a:pPr algn="ctr">
              <a:lnSpc>
                <a:spcPct val="112000"/>
              </a:lnSpc>
              <a:spcBef>
                <a:spcPts val="0"/>
              </a:spcBef>
              <a:spcAft>
                <a:spcPts val="0"/>
              </a:spcAft>
            </a:pPr>
            <a:r>
              <a:rPr sz="1200" b="1">
                <a:solidFill>
                  <a:srgbClr val="FFFFFF"/>
                </a:solidFill>
                <a:latin typeface="Arial"/>
                <a:ea typeface="PingFang SC"/>
              </a:rPr>
              <a:t>04</a:t>
            </a:r>
          </a:p>
        </p:txBody>
      </p:sp>
      <p:sp>
        <p:nvSpPr>
          <p:cNvPr id="26" name="TextBox 25"/>
          <p:cNvSpPr txBox="1"/>
          <p:nvPr/>
        </p:nvSpPr>
        <p:spPr>
          <a:xfrm>
            <a:off x="7280452" y="2862071"/>
            <a:ext cx="2088489" cy="457200"/>
          </a:xfrm>
          <a:prstGeom prst="rect">
            <a:avLst/>
          </a:prstGeom>
          <a:noFill/>
        </p:spPr>
        <p:txBody>
          <a:bodyPr wrap="square" lIns="0" rIns="0" tIns="0" bIns="0" anchor="t"/>
          <a:lstStyle/>
          <a:p>
            <a:pPr algn="ctr">
              <a:lnSpc>
                <a:spcPct val="112000"/>
              </a:lnSpc>
              <a:spcBef>
                <a:spcPts val="0"/>
              </a:spcBef>
              <a:spcAft>
                <a:spcPts val="0"/>
              </a:spcAft>
            </a:pPr>
            <a:r>
              <a:rPr sz="1500" b="1">
                <a:solidFill>
                  <a:srgbClr val="0F172A"/>
                </a:solidFill>
                <a:latin typeface="Arial"/>
                <a:ea typeface="PingFang SC"/>
              </a:rPr>
              <a:t>交叉校验</a:t>
            </a:r>
          </a:p>
        </p:txBody>
      </p:sp>
      <p:sp>
        <p:nvSpPr>
          <p:cNvPr id="27" name="TextBox 26"/>
          <p:cNvSpPr txBox="1"/>
          <p:nvPr/>
        </p:nvSpPr>
        <p:spPr>
          <a:xfrm>
            <a:off x="7335316" y="3337560"/>
            <a:ext cx="1978761" cy="1691639"/>
          </a:xfrm>
          <a:prstGeom prst="rect">
            <a:avLst/>
          </a:prstGeom>
          <a:noFill/>
        </p:spPr>
        <p:txBody>
          <a:bodyPr wrap="square" lIns="0" rIns="0" tIns="0" bIns="0" anchor="t"/>
          <a:lstStyle/>
          <a:p>
            <a:pPr algn="ctr">
              <a:lnSpc>
                <a:spcPct val="122000"/>
              </a:lnSpc>
              <a:spcBef>
                <a:spcPts val="0"/>
              </a:spcBef>
              <a:spcAft>
                <a:spcPts val="0"/>
              </a:spcAft>
            </a:pPr>
            <a:r>
              <a:rPr sz="1200" b="0">
                <a:solidFill>
                  <a:srgbClr val="475569"/>
                </a:solidFill>
                <a:latin typeface="Arial"/>
                <a:ea typeface="PingFang SC"/>
              </a:rPr>
              <a:t>对合计值、结构占比和关键年度结果进行来源间核对。</a:t>
            </a:r>
          </a:p>
        </p:txBody>
      </p:sp>
      <p:sp>
        <p:nvSpPr>
          <p:cNvPr id="28" name="Oval 27"/>
          <p:cNvSpPr/>
          <p:nvPr/>
        </p:nvSpPr>
        <p:spPr>
          <a:xfrm>
            <a:off x="10212019" y="2002535"/>
            <a:ext cx="694944" cy="694944"/>
          </a:xfrm>
          <a:prstGeom prst="ellipse">
            <a:avLst/>
          </a:prstGeom>
          <a:solidFill>
            <a:srgbClr val="D9E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85171" y="2075688"/>
            <a:ext cx="548640" cy="548640"/>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85171" y="2075688"/>
            <a:ext cx="548640" cy="548640"/>
          </a:xfrm>
          <a:prstGeom prst="rect">
            <a:avLst/>
          </a:prstGeom>
          <a:noFill/>
        </p:spPr>
        <p:txBody>
          <a:bodyPr wrap="square" lIns="0" rIns="0" tIns="0" bIns="0" anchor="ctr"/>
          <a:lstStyle/>
          <a:p>
            <a:pPr algn="ctr">
              <a:lnSpc>
                <a:spcPct val="112000"/>
              </a:lnSpc>
              <a:spcBef>
                <a:spcPts val="0"/>
              </a:spcBef>
              <a:spcAft>
                <a:spcPts val="0"/>
              </a:spcAft>
            </a:pPr>
            <a:r>
              <a:rPr sz="1200" b="1">
                <a:solidFill>
                  <a:srgbClr val="FFFFFF"/>
                </a:solidFill>
                <a:latin typeface="Arial"/>
                <a:ea typeface="PingFang SC"/>
              </a:rPr>
              <a:t>05</a:t>
            </a:r>
          </a:p>
        </p:txBody>
      </p:sp>
      <p:sp>
        <p:nvSpPr>
          <p:cNvPr id="31" name="TextBox 30"/>
          <p:cNvSpPr txBox="1"/>
          <p:nvPr/>
        </p:nvSpPr>
        <p:spPr>
          <a:xfrm>
            <a:off x="9515246" y="2862071"/>
            <a:ext cx="2088489" cy="457200"/>
          </a:xfrm>
          <a:prstGeom prst="rect">
            <a:avLst/>
          </a:prstGeom>
          <a:noFill/>
        </p:spPr>
        <p:txBody>
          <a:bodyPr wrap="square" lIns="0" rIns="0" tIns="0" bIns="0" anchor="t"/>
          <a:lstStyle/>
          <a:p>
            <a:pPr algn="ctr">
              <a:lnSpc>
                <a:spcPct val="112000"/>
              </a:lnSpc>
              <a:spcBef>
                <a:spcPts val="0"/>
              </a:spcBef>
              <a:spcAft>
                <a:spcPts val="0"/>
              </a:spcAft>
            </a:pPr>
            <a:r>
              <a:rPr sz="1500" b="1">
                <a:solidFill>
                  <a:srgbClr val="0F172A"/>
                </a:solidFill>
                <a:latin typeface="Arial"/>
                <a:ea typeface="PingFang SC"/>
              </a:rPr>
              <a:t>输出审计</a:t>
            </a:r>
          </a:p>
        </p:txBody>
      </p:sp>
      <p:sp>
        <p:nvSpPr>
          <p:cNvPr id="32" name="TextBox 31"/>
          <p:cNvSpPr txBox="1"/>
          <p:nvPr/>
        </p:nvSpPr>
        <p:spPr>
          <a:xfrm>
            <a:off x="9570110" y="3337560"/>
            <a:ext cx="1978761" cy="1691639"/>
          </a:xfrm>
          <a:prstGeom prst="rect">
            <a:avLst/>
          </a:prstGeom>
          <a:noFill/>
        </p:spPr>
        <p:txBody>
          <a:bodyPr wrap="square" lIns="0" rIns="0" tIns="0" bIns="0" anchor="t"/>
          <a:lstStyle/>
          <a:p>
            <a:pPr algn="ctr">
              <a:lnSpc>
                <a:spcPct val="122000"/>
              </a:lnSpc>
              <a:spcBef>
                <a:spcPts val="0"/>
              </a:spcBef>
              <a:spcAft>
                <a:spcPts val="0"/>
              </a:spcAft>
            </a:pPr>
            <a:r>
              <a:rPr sz="1200" b="0">
                <a:solidFill>
                  <a:srgbClr val="475569"/>
                </a:solidFill>
                <a:latin typeface="Arial"/>
                <a:ea typeface="PingFang SC"/>
              </a:rPr>
              <a:t>CSV 使用 utf-8-sig，图表 300dpi，报告保留来源与假设。</a:t>
            </a:r>
          </a:p>
        </p:txBody>
      </p:sp>
      <p:sp>
        <p:nvSpPr>
          <p:cNvPr id="33" name="Rectangle 32"/>
          <p:cNvSpPr/>
          <p:nvPr/>
        </p:nvSpPr>
        <p:spPr>
          <a:xfrm>
            <a:off x="502920" y="6199632"/>
            <a:ext cx="11173968" cy="1097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291072"/>
            <a:ext cx="8961120" cy="256032"/>
          </a:xfrm>
          <a:prstGeom prst="rect">
            <a:avLst/>
          </a:prstGeom>
          <a:noFill/>
        </p:spPr>
        <p:txBody>
          <a:bodyPr wrap="square" lIns="0" rIns="0" tIns="0" bIns="0" anchor="ctr"/>
          <a:lstStyle/>
          <a:p>
            <a:pPr algn="l">
              <a:lnSpc>
                <a:spcPct val="112000"/>
              </a:lnSpc>
              <a:spcBef>
                <a:spcPts val="0"/>
              </a:spcBef>
              <a:spcAft>
                <a:spcPts val="0"/>
              </a:spcAft>
            </a:pPr>
            <a:r>
              <a:rPr sz="1000" b="0">
                <a:solidFill>
                  <a:srgbClr val="94A3B8"/>
                </a:solidFill>
                <a:latin typeface="Arial"/>
                <a:ea typeface="PingFang SC"/>
              </a:rPr>
              <a:t>个人作品集项目 · 数据截止 2025.12 · 公开统计整理</a:t>
            </a:r>
          </a:p>
        </p:txBody>
      </p:sp>
      <p:sp>
        <p:nvSpPr>
          <p:cNvPr id="35" name="TextBox 34"/>
          <p:cNvSpPr txBox="1"/>
          <p:nvPr/>
        </p:nvSpPr>
        <p:spPr>
          <a:xfrm>
            <a:off x="10561320" y="6291072"/>
            <a:ext cx="1115568" cy="256032"/>
          </a:xfrm>
          <a:prstGeom prst="rect">
            <a:avLst/>
          </a:prstGeom>
          <a:noFill/>
        </p:spPr>
        <p:txBody>
          <a:bodyPr wrap="square" lIns="0" rIns="0" tIns="0" bIns="0" anchor="ctr"/>
          <a:lstStyle/>
          <a:p>
            <a:pPr algn="r">
              <a:lnSpc>
                <a:spcPct val="112000"/>
              </a:lnSpc>
              <a:spcBef>
                <a:spcPts val="0"/>
              </a:spcBef>
              <a:spcAft>
                <a:spcPts val="0"/>
              </a:spcAft>
            </a:pPr>
            <a:r>
              <a:rPr sz="1000" b="0">
                <a:solidFill>
                  <a:srgbClr val="94A3B8"/>
                </a:solidFill>
                <a:latin typeface="Arial"/>
                <a:ea typeface="PingFang SC"/>
              </a:rPr>
              <a:t>06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4008"/>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73968" cy="219456"/>
          </a:xfrm>
          <a:prstGeom prst="rect">
            <a:avLst/>
          </a:prstGeom>
          <a:noFill/>
        </p:spPr>
        <p:txBody>
          <a:bodyPr wrap="square" lIns="0" rIns="0" tIns="0" bIns="0" anchor="t"/>
          <a:lstStyle/>
          <a:p>
            <a:pPr algn="l">
              <a:lnSpc>
                <a:spcPct val="112000"/>
              </a:lnSpc>
              <a:spcBef>
                <a:spcPts val="0"/>
              </a:spcBef>
              <a:spcAft>
                <a:spcPts val="0"/>
              </a:spcAft>
            </a:pPr>
            <a:r>
              <a:rPr sz="1000" b="1">
                <a:solidFill>
                  <a:srgbClr val="0284C7"/>
                </a:solidFill>
                <a:latin typeface="Arial"/>
                <a:ea typeface="PingFang SC"/>
              </a:rPr>
              <a:t>02  DATA &amp; METHOD</a:t>
            </a:r>
          </a:p>
        </p:txBody>
      </p:sp>
      <p:sp>
        <p:nvSpPr>
          <p:cNvPr id="4" name="TextBox 3"/>
          <p:cNvSpPr txBox="1"/>
          <p:nvPr/>
        </p:nvSpPr>
        <p:spPr>
          <a:xfrm>
            <a:off x="502920" y="347472"/>
            <a:ext cx="11173968" cy="713232"/>
          </a:xfrm>
          <a:prstGeom prst="rect">
            <a:avLst/>
          </a:prstGeom>
          <a:noFill/>
        </p:spPr>
        <p:txBody>
          <a:bodyPr wrap="square" lIns="0" rIns="0" tIns="0" bIns="0" anchor="b"/>
          <a:lstStyle/>
          <a:p>
            <a:pPr algn="l">
              <a:lnSpc>
                <a:spcPct val="105000"/>
              </a:lnSpc>
              <a:spcBef>
                <a:spcPts val="0"/>
              </a:spcBef>
              <a:spcAft>
                <a:spcPts val="0"/>
              </a:spcAft>
            </a:pPr>
            <a:r>
              <a:rPr sz="1800" b="1">
                <a:solidFill>
                  <a:srgbClr val="0F172A"/>
                </a:solidFill>
                <a:latin typeface="Arial"/>
                <a:ea typeface="PingFang SC"/>
              </a:rPr>
              <a:t>可复现脚本把数据、指标、图表和报告连接成可更新的工作流</a:t>
            </a:r>
          </a:p>
        </p:txBody>
      </p:sp>
      <p:sp>
        <p:nvSpPr>
          <p:cNvPr id="5" name="Rectangle 4"/>
          <p:cNvSpPr/>
          <p:nvPr/>
        </p:nvSpPr>
        <p:spPr>
          <a:xfrm>
            <a:off x="502920" y="1115568"/>
            <a:ext cx="1051560" cy="32004"/>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54480" y="1124712"/>
            <a:ext cx="1012240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746502"/>
            <a:ext cx="3200400" cy="1234440"/>
          </a:xfrm>
          <a:prstGeom prst="roundRect">
            <a:avLst>
              <a:gd name="adj" fmla="val 10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46502"/>
            <a:ext cx="54864" cy="1234440"/>
          </a:xfrm>
          <a:prstGeom prst="roundRect">
            <a:avLst>
              <a:gd name="adj" fmla="val 4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1892806"/>
            <a:ext cx="2761488" cy="274320"/>
          </a:xfrm>
          <a:prstGeom prst="rect">
            <a:avLst/>
          </a:prstGeom>
          <a:noFill/>
        </p:spPr>
        <p:txBody>
          <a:bodyPr wrap="square" lIns="0" rIns="0" tIns="0" bIns="0" anchor="t"/>
          <a:lstStyle/>
          <a:p>
            <a:pPr algn="l">
              <a:lnSpc>
                <a:spcPct val="112000"/>
              </a:lnSpc>
              <a:spcBef>
                <a:spcPts val="0"/>
              </a:spcBef>
              <a:spcAft>
                <a:spcPts val="0"/>
              </a:spcAft>
            </a:pPr>
            <a:r>
              <a:rPr sz="1300" b="1">
                <a:solidFill>
                  <a:srgbClr val="0F172A"/>
                </a:solidFill>
                <a:latin typeface="Arial"/>
                <a:ea typeface="PingFang SC"/>
              </a:rPr>
              <a:t>Data layer</a:t>
            </a:r>
          </a:p>
        </p:txBody>
      </p:sp>
      <p:sp>
        <p:nvSpPr>
          <p:cNvPr id="10" name="TextBox 9"/>
          <p:cNvSpPr txBox="1"/>
          <p:nvPr/>
        </p:nvSpPr>
        <p:spPr>
          <a:xfrm>
            <a:off x="722376" y="2203702"/>
            <a:ext cx="2761488" cy="649224"/>
          </a:xfrm>
          <a:prstGeom prst="rect">
            <a:avLst/>
          </a:prstGeom>
          <a:noFill/>
        </p:spPr>
        <p:txBody>
          <a:bodyPr wrap="square" lIns="0" rIns="0" tIns="0" bIns="0" anchor="t"/>
          <a:lstStyle/>
          <a:p>
            <a:pPr algn="l">
              <a:lnSpc>
                <a:spcPct val="120000"/>
              </a:lnSpc>
              <a:spcBef>
                <a:spcPts val="0"/>
              </a:spcBef>
              <a:spcAft>
                <a:spcPts val="0"/>
              </a:spcAft>
            </a:pPr>
            <a:r>
              <a:rPr sz="1100" b="0">
                <a:solidFill>
                  <a:srgbClr val="475569"/>
                </a:solidFill>
                <a:latin typeface="Arial"/>
                <a:ea typeface="PingFang SC"/>
              </a:rPr>
              <a:t>7 组数组和 CSV 输出保留原始字段与计算字段</a:t>
            </a:r>
          </a:p>
        </p:txBody>
      </p:sp>
      <p:sp>
        <p:nvSpPr>
          <p:cNvPr id="11" name="Rectangle 10"/>
          <p:cNvSpPr/>
          <p:nvPr/>
        </p:nvSpPr>
        <p:spPr>
          <a:xfrm>
            <a:off x="3703320" y="2354579"/>
            <a:ext cx="539496"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197096" y="2318002"/>
            <a:ext cx="91440" cy="91440"/>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476488" y="1746502"/>
            <a:ext cx="3200400" cy="1234440"/>
          </a:xfrm>
          <a:prstGeom prst="roundRect">
            <a:avLst>
              <a:gd name="adj" fmla="val 10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622024" y="1746502"/>
            <a:ext cx="54864" cy="1234440"/>
          </a:xfrm>
          <a:prstGeom prst="roundRect">
            <a:avLst>
              <a:gd name="adj" fmla="val 4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95944" y="1892806"/>
            <a:ext cx="2761488" cy="274320"/>
          </a:xfrm>
          <a:prstGeom prst="rect">
            <a:avLst/>
          </a:prstGeom>
          <a:noFill/>
        </p:spPr>
        <p:txBody>
          <a:bodyPr wrap="square" lIns="0" rIns="0" tIns="0" bIns="0" anchor="t"/>
          <a:lstStyle/>
          <a:p>
            <a:pPr algn="l">
              <a:lnSpc>
                <a:spcPct val="112000"/>
              </a:lnSpc>
              <a:spcBef>
                <a:spcPts val="0"/>
              </a:spcBef>
              <a:spcAft>
                <a:spcPts val="0"/>
              </a:spcAft>
            </a:pPr>
            <a:r>
              <a:rPr sz="1300" b="1">
                <a:solidFill>
                  <a:srgbClr val="0F172A"/>
                </a:solidFill>
                <a:latin typeface="Arial"/>
                <a:ea typeface="PingFang SC"/>
              </a:rPr>
              <a:t>Metric layer</a:t>
            </a:r>
          </a:p>
        </p:txBody>
      </p:sp>
      <p:sp>
        <p:nvSpPr>
          <p:cNvPr id="16" name="TextBox 15"/>
          <p:cNvSpPr txBox="1"/>
          <p:nvPr/>
        </p:nvSpPr>
        <p:spPr>
          <a:xfrm>
            <a:off x="8695944" y="2203702"/>
            <a:ext cx="2761488" cy="649224"/>
          </a:xfrm>
          <a:prstGeom prst="rect">
            <a:avLst/>
          </a:prstGeom>
          <a:noFill/>
        </p:spPr>
        <p:txBody>
          <a:bodyPr wrap="square" lIns="0" rIns="0" tIns="0" bIns="0" anchor="t"/>
          <a:lstStyle/>
          <a:p>
            <a:pPr algn="l">
              <a:lnSpc>
                <a:spcPct val="120000"/>
              </a:lnSpc>
              <a:spcBef>
                <a:spcPts val="0"/>
              </a:spcBef>
              <a:spcAft>
                <a:spcPts val="0"/>
              </a:spcAft>
            </a:pPr>
            <a:r>
              <a:rPr sz="1100" b="0">
                <a:solidFill>
                  <a:srgbClr val="475569"/>
                </a:solidFill>
                <a:latin typeface="Arial"/>
                <a:ea typeface="PingFang SC"/>
              </a:rPr>
              <a:t>渗透率、车桩比、结构占比和累计减碳统一由代码计算</a:t>
            </a:r>
          </a:p>
        </p:txBody>
      </p:sp>
      <p:sp>
        <p:nvSpPr>
          <p:cNvPr id="17" name="Rectangle 16"/>
          <p:cNvSpPr/>
          <p:nvPr/>
        </p:nvSpPr>
        <p:spPr>
          <a:xfrm>
            <a:off x="7936992" y="2354579"/>
            <a:ext cx="53949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891271" y="2318002"/>
            <a:ext cx="91440" cy="9144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2920" y="3127246"/>
            <a:ext cx="3200400" cy="1234440"/>
          </a:xfrm>
          <a:prstGeom prst="roundRect">
            <a:avLst>
              <a:gd name="adj" fmla="val 10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3127246"/>
            <a:ext cx="54864" cy="1234440"/>
          </a:xfrm>
          <a:prstGeom prst="roundRect">
            <a:avLst>
              <a:gd name="adj" fmla="val 4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 y="3273551"/>
            <a:ext cx="2761488" cy="274320"/>
          </a:xfrm>
          <a:prstGeom prst="rect">
            <a:avLst/>
          </a:prstGeom>
          <a:noFill/>
        </p:spPr>
        <p:txBody>
          <a:bodyPr wrap="square" lIns="0" rIns="0" tIns="0" bIns="0" anchor="t"/>
          <a:lstStyle/>
          <a:p>
            <a:pPr algn="l">
              <a:lnSpc>
                <a:spcPct val="112000"/>
              </a:lnSpc>
              <a:spcBef>
                <a:spcPts val="0"/>
              </a:spcBef>
              <a:spcAft>
                <a:spcPts val="0"/>
              </a:spcAft>
            </a:pPr>
            <a:r>
              <a:rPr sz="1300" b="1">
                <a:solidFill>
                  <a:srgbClr val="0F172A"/>
                </a:solidFill>
                <a:latin typeface="Arial"/>
                <a:ea typeface="PingFang SC"/>
              </a:rPr>
              <a:t>Visualization layer</a:t>
            </a:r>
          </a:p>
        </p:txBody>
      </p:sp>
      <p:sp>
        <p:nvSpPr>
          <p:cNvPr id="22" name="TextBox 21"/>
          <p:cNvSpPr txBox="1"/>
          <p:nvPr/>
        </p:nvSpPr>
        <p:spPr>
          <a:xfrm>
            <a:off x="722376" y="3584446"/>
            <a:ext cx="2761488" cy="649224"/>
          </a:xfrm>
          <a:prstGeom prst="rect">
            <a:avLst/>
          </a:prstGeom>
          <a:noFill/>
        </p:spPr>
        <p:txBody>
          <a:bodyPr wrap="square" lIns="0" rIns="0" tIns="0" bIns="0" anchor="t"/>
          <a:lstStyle/>
          <a:p>
            <a:pPr algn="l">
              <a:lnSpc>
                <a:spcPct val="120000"/>
              </a:lnSpc>
              <a:spcBef>
                <a:spcPts val="0"/>
              </a:spcBef>
              <a:spcAft>
                <a:spcPts val="0"/>
              </a:spcAft>
            </a:pPr>
            <a:r>
              <a:rPr sz="1100" b="0">
                <a:solidFill>
                  <a:srgbClr val="475569"/>
                </a:solidFill>
                <a:latin typeface="Arial"/>
                <a:ea typeface="PingFang SC"/>
              </a:rPr>
              <a:t>统一字体、颜色语义、坐标轴风格和 300dpi 输出</a:t>
            </a:r>
          </a:p>
        </p:txBody>
      </p:sp>
      <p:sp>
        <p:nvSpPr>
          <p:cNvPr id="23" name="Rectangle 22"/>
          <p:cNvSpPr/>
          <p:nvPr/>
        </p:nvSpPr>
        <p:spPr>
          <a:xfrm>
            <a:off x="3703320" y="3735322"/>
            <a:ext cx="539496"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197096" y="3698746"/>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476488" y="3127246"/>
            <a:ext cx="3200400" cy="1234440"/>
          </a:xfrm>
          <a:prstGeom prst="roundRect">
            <a:avLst>
              <a:gd name="adj" fmla="val 10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1622024" y="3127246"/>
            <a:ext cx="54864" cy="1234440"/>
          </a:xfrm>
          <a:prstGeom prst="roundRect">
            <a:avLst>
              <a:gd name="adj" fmla="val 4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95944" y="3273551"/>
            <a:ext cx="2761488" cy="274320"/>
          </a:xfrm>
          <a:prstGeom prst="rect">
            <a:avLst/>
          </a:prstGeom>
          <a:noFill/>
        </p:spPr>
        <p:txBody>
          <a:bodyPr wrap="square" lIns="0" rIns="0" tIns="0" bIns="0" anchor="t"/>
          <a:lstStyle/>
          <a:p>
            <a:pPr algn="l">
              <a:lnSpc>
                <a:spcPct val="112000"/>
              </a:lnSpc>
              <a:spcBef>
                <a:spcPts val="0"/>
              </a:spcBef>
              <a:spcAft>
                <a:spcPts val="0"/>
              </a:spcAft>
            </a:pPr>
            <a:r>
              <a:rPr sz="1300" b="1">
                <a:solidFill>
                  <a:srgbClr val="0F172A"/>
                </a:solidFill>
                <a:latin typeface="Arial"/>
                <a:ea typeface="PingFang SC"/>
              </a:rPr>
              <a:t>Documentation layer</a:t>
            </a:r>
          </a:p>
        </p:txBody>
      </p:sp>
      <p:sp>
        <p:nvSpPr>
          <p:cNvPr id="28" name="TextBox 27"/>
          <p:cNvSpPr txBox="1"/>
          <p:nvPr/>
        </p:nvSpPr>
        <p:spPr>
          <a:xfrm>
            <a:off x="8695944" y="3584446"/>
            <a:ext cx="2761488" cy="649224"/>
          </a:xfrm>
          <a:prstGeom prst="rect">
            <a:avLst/>
          </a:prstGeom>
          <a:noFill/>
        </p:spPr>
        <p:txBody>
          <a:bodyPr wrap="square" lIns="0" rIns="0" tIns="0" bIns="0" anchor="t"/>
          <a:lstStyle/>
          <a:p>
            <a:pPr algn="l">
              <a:lnSpc>
                <a:spcPct val="120000"/>
              </a:lnSpc>
              <a:spcBef>
                <a:spcPts val="0"/>
              </a:spcBef>
              <a:spcAft>
                <a:spcPts val="0"/>
              </a:spcAft>
            </a:pPr>
            <a:r>
              <a:rPr sz="1100" b="0">
                <a:solidFill>
                  <a:srgbClr val="475569"/>
                </a:solidFill>
                <a:latin typeface="Arial"/>
                <a:ea typeface="PingFang SC"/>
              </a:rPr>
              <a:t>数据来源说明记录口径、链接、假设和使用注意事项</a:t>
            </a:r>
          </a:p>
        </p:txBody>
      </p:sp>
      <p:sp>
        <p:nvSpPr>
          <p:cNvPr id="29" name="Rectangle 28"/>
          <p:cNvSpPr/>
          <p:nvPr/>
        </p:nvSpPr>
        <p:spPr>
          <a:xfrm>
            <a:off x="7936992" y="3735322"/>
            <a:ext cx="53949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891271" y="3698746"/>
            <a:ext cx="91440" cy="914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33672" y="2354579"/>
            <a:ext cx="18288" cy="1380743"/>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242816" y="3044951"/>
            <a:ext cx="384048"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27848" y="2354579"/>
            <a:ext cx="18288" cy="1380743"/>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552944" y="3044951"/>
            <a:ext cx="384048"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626864" y="2253995"/>
            <a:ext cx="2926080" cy="1600200"/>
          </a:xfrm>
          <a:prstGeom prst="roundRect">
            <a:avLst>
              <a:gd name="adj" fmla="val 10000"/>
            </a:avLst>
          </a:prstGeom>
          <a:gradFill rotWithShape="1">
            <a:gsLst>
              <a:gs pos="0">
                <a:srgbClr val="080F1F"/>
              </a:gs>
              <a:gs pos="100000">
                <a:srgbClr val="1E293B"/>
              </a:gs>
            </a:gsLst>
            <a:lin scaled="0" ang="189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26864" y="2253995"/>
            <a:ext cx="2926080" cy="54864"/>
          </a:xfrm>
          <a:prstGeom prst="rect">
            <a:avLst/>
          </a:prstGeom>
          <a:gradFill rotWithShape="1">
            <a:gsLst>
              <a:gs pos="0">
                <a:srgbClr val="38BDF8"/>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64608" y="2510027"/>
            <a:ext cx="2450592" cy="237744"/>
          </a:xfrm>
          <a:prstGeom prst="rect">
            <a:avLst/>
          </a:prstGeom>
          <a:noFill/>
        </p:spPr>
        <p:txBody>
          <a:bodyPr wrap="square" lIns="0" rIns="0" tIns="0" bIns="0" anchor="t"/>
          <a:lstStyle/>
          <a:p>
            <a:pPr algn="l">
              <a:lnSpc>
                <a:spcPct val="112000"/>
              </a:lnSpc>
              <a:spcBef>
                <a:spcPts val="0"/>
              </a:spcBef>
              <a:spcAft>
                <a:spcPts val="0"/>
              </a:spcAft>
            </a:pPr>
            <a:r>
              <a:rPr sz="1000" b="1">
                <a:solidFill>
                  <a:srgbClr val="38BDF8"/>
                </a:solidFill>
                <a:latin typeface="Arial"/>
                <a:ea typeface="PingFang SC"/>
              </a:rPr>
              <a:t>REPRODUCIBLE PIPELINE</a:t>
            </a:r>
          </a:p>
        </p:txBody>
      </p:sp>
      <p:sp>
        <p:nvSpPr>
          <p:cNvPr id="38" name="TextBox 37"/>
          <p:cNvSpPr txBox="1"/>
          <p:nvPr/>
        </p:nvSpPr>
        <p:spPr>
          <a:xfrm>
            <a:off x="4864608" y="2802635"/>
            <a:ext cx="2450592" cy="402336"/>
          </a:xfrm>
          <a:prstGeom prst="rect">
            <a:avLst/>
          </a:prstGeom>
          <a:noFill/>
        </p:spPr>
        <p:txBody>
          <a:bodyPr wrap="square" lIns="0" rIns="0" tIns="0" bIns="0" anchor="t"/>
          <a:lstStyle/>
          <a:p>
            <a:pPr algn="l">
              <a:lnSpc>
                <a:spcPct val="105000"/>
              </a:lnSpc>
              <a:spcBef>
                <a:spcPts val="0"/>
              </a:spcBef>
              <a:spcAft>
                <a:spcPts val="0"/>
              </a:spcAft>
            </a:pPr>
            <a:r>
              <a:rPr sz="1700" b="1">
                <a:solidFill>
                  <a:srgbClr val="FFFFFF"/>
                </a:solidFill>
                <a:latin typeface="Arial"/>
                <a:ea typeface="PingFang SC"/>
              </a:rPr>
              <a:t>Python analysis script</a:t>
            </a:r>
          </a:p>
        </p:txBody>
      </p:sp>
      <p:sp>
        <p:nvSpPr>
          <p:cNvPr id="39" name="TextBox 38"/>
          <p:cNvSpPr txBox="1"/>
          <p:nvPr/>
        </p:nvSpPr>
        <p:spPr>
          <a:xfrm>
            <a:off x="4864608" y="3259835"/>
            <a:ext cx="2450592" cy="429768"/>
          </a:xfrm>
          <a:prstGeom prst="rect">
            <a:avLst/>
          </a:prstGeom>
          <a:noFill/>
        </p:spPr>
        <p:txBody>
          <a:bodyPr wrap="square" lIns="0" rIns="0" tIns="0" bIns="0" anchor="t"/>
          <a:lstStyle/>
          <a:p>
            <a:pPr algn="l">
              <a:lnSpc>
                <a:spcPct val="120000"/>
              </a:lnSpc>
              <a:spcBef>
                <a:spcPts val="0"/>
              </a:spcBef>
              <a:spcAft>
                <a:spcPts val="0"/>
              </a:spcAft>
            </a:pPr>
            <a:r>
              <a:rPr sz="1100" b="0">
                <a:solidFill>
                  <a:srgbClr val="94A3B8"/>
                </a:solidFill>
                <a:latin typeface="Arial"/>
                <a:ea typeface="PingFang SC"/>
              </a:rPr>
              <a:t>脚本自带数据区、派生指标、CSV 导出和 8 张图表生成函数，复制到安装 pandas、NumPy、Matplotlib 的环境即可重算。</a:t>
            </a:r>
          </a:p>
        </p:txBody>
      </p:sp>
      <p:sp>
        <p:nvSpPr>
          <p:cNvPr id="40" name="Rounded Rectangle 39"/>
          <p:cNvSpPr/>
          <p:nvPr/>
        </p:nvSpPr>
        <p:spPr>
          <a:xfrm>
            <a:off x="502920" y="4645151"/>
            <a:ext cx="1847088" cy="420624"/>
          </a:xfrm>
          <a:prstGeom prst="roundRect">
            <a:avLst>
              <a:gd name="adj" fmla="val 40000"/>
            </a:avLst>
          </a:prstGeom>
          <a:solidFill>
            <a:srgbClr val="E6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04088" y="4814315"/>
            <a:ext cx="82296" cy="82296"/>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645151"/>
            <a:ext cx="1389888" cy="420624"/>
          </a:xfrm>
          <a:prstGeom prst="rect">
            <a:avLst/>
          </a:prstGeom>
          <a:noFill/>
        </p:spPr>
        <p:txBody>
          <a:bodyPr wrap="square" lIns="0" rIns="0" tIns="0" bIns="0" anchor="ctr"/>
          <a:lstStyle/>
          <a:p>
            <a:pPr algn="l">
              <a:lnSpc>
                <a:spcPct val="112000"/>
              </a:lnSpc>
              <a:spcBef>
                <a:spcPts val="0"/>
              </a:spcBef>
              <a:spcAft>
                <a:spcPts val="0"/>
              </a:spcAft>
            </a:pPr>
            <a:r>
              <a:rPr sz="1100" b="1">
                <a:solidFill>
                  <a:srgbClr val="0F172A"/>
                </a:solidFill>
                <a:latin typeface="Arial"/>
                <a:ea typeface="PingFang SC"/>
              </a:rPr>
              <a:t>Python 3</a:t>
            </a:r>
          </a:p>
        </p:txBody>
      </p:sp>
      <p:sp>
        <p:nvSpPr>
          <p:cNvPr id="43" name="Rounded Rectangle 42"/>
          <p:cNvSpPr/>
          <p:nvPr/>
        </p:nvSpPr>
        <p:spPr>
          <a:xfrm>
            <a:off x="2459736" y="4645151"/>
            <a:ext cx="1536192" cy="420624"/>
          </a:xfrm>
          <a:prstGeom prst="roundRect">
            <a:avLst>
              <a:gd name="adj" fmla="val 40000"/>
            </a:avLst>
          </a:prstGeom>
          <a:solidFill>
            <a:srgbClr val="F3EF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660904" y="4814315"/>
            <a:ext cx="82296" cy="82296"/>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25496" y="4645151"/>
            <a:ext cx="1078992" cy="420624"/>
          </a:xfrm>
          <a:prstGeom prst="rect">
            <a:avLst/>
          </a:prstGeom>
          <a:noFill/>
        </p:spPr>
        <p:txBody>
          <a:bodyPr wrap="square" lIns="0" rIns="0" tIns="0" bIns="0" anchor="ctr"/>
          <a:lstStyle/>
          <a:p>
            <a:pPr algn="l">
              <a:lnSpc>
                <a:spcPct val="112000"/>
              </a:lnSpc>
              <a:spcBef>
                <a:spcPts val="0"/>
              </a:spcBef>
              <a:spcAft>
                <a:spcPts val="0"/>
              </a:spcAft>
            </a:pPr>
            <a:r>
              <a:rPr sz="1100" b="1">
                <a:solidFill>
                  <a:srgbClr val="0F172A"/>
                </a:solidFill>
                <a:latin typeface="Arial"/>
                <a:ea typeface="PingFang SC"/>
              </a:rPr>
              <a:t>pandas</a:t>
            </a:r>
          </a:p>
        </p:txBody>
      </p:sp>
      <p:sp>
        <p:nvSpPr>
          <p:cNvPr id="46" name="Rounded Rectangle 45"/>
          <p:cNvSpPr/>
          <p:nvPr/>
        </p:nvSpPr>
        <p:spPr>
          <a:xfrm>
            <a:off x="4105656" y="4645151"/>
            <a:ext cx="1380744" cy="420624"/>
          </a:xfrm>
          <a:prstGeom prst="roundRect">
            <a:avLst>
              <a:gd name="adj" fmla="val 40000"/>
            </a:avLst>
          </a:prstGeom>
          <a:solidFill>
            <a:srgbClr val="E7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306824" y="4814315"/>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471416" y="4645151"/>
            <a:ext cx="923544" cy="420624"/>
          </a:xfrm>
          <a:prstGeom prst="rect">
            <a:avLst/>
          </a:prstGeom>
          <a:noFill/>
        </p:spPr>
        <p:txBody>
          <a:bodyPr wrap="square" lIns="0" rIns="0" tIns="0" bIns="0" anchor="ctr"/>
          <a:lstStyle/>
          <a:p>
            <a:pPr algn="l">
              <a:lnSpc>
                <a:spcPct val="112000"/>
              </a:lnSpc>
              <a:spcBef>
                <a:spcPts val="0"/>
              </a:spcBef>
              <a:spcAft>
                <a:spcPts val="0"/>
              </a:spcAft>
            </a:pPr>
            <a:r>
              <a:rPr sz="1100" b="1">
                <a:solidFill>
                  <a:srgbClr val="0F172A"/>
                </a:solidFill>
                <a:latin typeface="Arial"/>
                <a:ea typeface="PingFang SC"/>
              </a:rPr>
              <a:t>NumPy</a:t>
            </a:r>
          </a:p>
        </p:txBody>
      </p:sp>
      <p:sp>
        <p:nvSpPr>
          <p:cNvPr id="49" name="Rounded Rectangle 48"/>
          <p:cNvSpPr/>
          <p:nvPr/>
        </p:nvSpPr>
        <p:spPr>
          <a:xfrm>
            <a:off x="5596128" y="4645151"/>
            <a:ext cx="2157984" cy="420624"/>
          </a:xfrm>
          <a:prstGeom prst="roundRect">
            <a:avLst>
              <a:gd name="adj" fmla="val 40000"/>
            </a:avLst>
          </a:prstGeom>
          <a:solidFill>
            <a:srgbClr val="FEF5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5797296" y="4814315"/>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61888" y="4645151"/>
            <a:ext cx="1700784" cy="420624"/>
          </a:xfrm>
          <a:prstGeom prst="rect">
            <a:avLst/>
          </a:prstGeom>
          <a:noFill/>
        </p:spPr>
        <p:txBody>
          <a:bodyPr wrap="square" lIns="0" rIns="0" tIns="0" bIns="0" anchor="ctr"/>
          <a:lstStyle/>
          <a:p>
            <a:pPr algn="l">
              <a:lnSpc>
                <a:spcPct val="112000"/>
              </a:lnSpc>
              <a:spcBef>
                <a:spcPts val="0"/>
              </a:spcBef>
              <a:spcAft>
                <a:spcPts val="0"/>
              </a:spcAft>
            </a:pPr>
            <a:r>
              <a:rPr sz="1100" b="1">
                <a:solidFill>
                  <a:srgbClr val="0F172A"/>
                </a:solidFill>
                <a:latin typeface="Arial"/>
                <a:ea typeface="PingFang SC"/>
              </a:rPr>
              <a:t>Matplotlib</a:t>
            </a:r>
          </a:p>
        </p:txBody>
      </p:sp>
      <p:sp>
        <p:nvSpPr>
          <p:cNvPr id="52" name="Rounded Rectangle 51"/>
          <p:cNvSpPr/>
          <p:nvPr/>
        </p:nvSpPr>
        <p:spPr>
          <a:xfrm>
            <a:off x="7863840" y="4645151"/>
            <a:ext cx="1188720" cy="420624"/>
          </a:xfrm>
          <a:prstGeom prst="roundRect">
            <a:avLst>
              <a:gd name="adj" fmla="val 40000"/>
            </a:avLst>
          </a:prstGeom>
          <a:solidFill>
            <a:srgbClr val="E6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065008" y="4814315"/>
            <a:ext cx="82296" cy="82296"/>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29600" y="4645151"/>
            <a:ext cx="731520" cy="420624"/>
          </a:xfrm>
          <a:prstGeom prst="rect">
            <a:avLst/>
          </a:prstGeom>
          <a:noFill/>
        </p:spPr>
        <p:txBody>
          <a:bodyPr wrap="square" lIns="0" rIns="0" tIns="0" bIns="0" anchor="ctr"/>
          <a:lstStyle/>
          <a:p>
            <a:pPr algn="l">
              <a:lnSpc>
                <a:spcPct val="112000"/>
              </a:lnSpc>
              <a:spcBef>
                <a:spcPts val="0"/>
              </a:spcBef>
              <a:spcAft>
                <a:spcPts val="0"/>
              </a:spcAft>
            </a:pPr>
            <a:r>
              <a:rPr sz="1100" b="1">
                <a:solidFill>
                  <a:srgbClr val="0F172A"/>
                </a:solidFill>
                <a:latin typeface="Arial"/>
                <a:ea typeface="PingFang SC"/>
              </a:rPr>
              <a:t>CSV</a:t>
            </a:r>
          </a:p>
        </p:txBody>
      </p:sp>
      <p:sp>
        <p:nvSpPr>
          <p:cNvPr id="55" name="Rounded Rectangle 54"/>
          <p:cNvSpPr/>
          <p:nvPr/>
        </p:nvSpPr>
        <p:spPr>
          <a:xfrm>
            <a:off x="9162288" y="4645151"/>
            <a:ext cx="1691640" cy="420624"/>
          </a:xfrm>
          <a:prstGeom prst="roundRect">
            <a:avLst>
              <a:gd name="adj" fmla="val 40000"/>
            </a:avLst>
          </a:prstGeom>
          <a:solidFill>
            <a:srgbClr val="F3EF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363456" y="4814315"/>
            <a:ext cx="82296" cy="82296"/>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528048" y="4645151"/>
            <a:ext cx="1234440" cy="420624"/>
          </a:xfrm>
          <a:prstGeom prst="rect">
            <a:avLst/>
          </a:prstGeom>
          <a:noFill/>
        </p:spPr>
        <p:txBody>
          <a:bodyPr wrap="square" lIns="0" rIns="0" tIns="0" bIns="0" anchor="ctr"/>
          <a:lstStyle/>
          <a:p>
            <a:pPr algn="l">
              <a:lnSpc>
                <a:spcPct val="112000"/>
              </a:lnSpc>
              <a:spcBef>
                <a:spcPts val="0"/>
              </a:spcBef>
              <a:spcAft>
                <a:spcPts val="0"/>
              </a:spcAft>
            </a:pPr>
            <a:r>
              <a:rPr sz="1100" b="1">
                <a:solidFill>
                  <a:srgbClr val="0F172A"/>
                </a:solidFill>
                <a:latin typeface="Arial"/>
                <a:ea typeface="PingFang SC"/>
              </a:rPr>
              <a:t>300 dpi</a:t>
            </a:r>
          </a:p>
        </p:txBody>
      </p:sp>
      <p:sp>
        <p:nvSpPr>
          <p:cNvPr id="58" name="Rounded Rectangle 57"/>
          <p:cNvSpPr/>
          <p:nvPr/>
        </p:nvSpPr>
        <p:spPr>
          <a:xfrm>
            <a:off x="502920" y="5175503"/>
            <a:ext cx="2002536" cy="420624"/>
          </a:xfrm>
          <a:prstGeom prst="roundRect">
            <a:avLst>
              <a:gd name="adj" fmla="val 40000"/>
            </a:avLst>
          </a:prstGeom>
          <a:solidFill>
            <a:srgbClr val="E7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04088" y="5344667"/>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68680" y="5175503"/>
            <a:ext cx="1545336" cy="420624"/>
          </a:xfrm>
          <a:prstGeom prst="rect">
            <a:avLst/>
          </a:prstGeom>
          <a:noFill/>
        </p:spPr>
        <p:txBody>
          <a:bodyPr wrap="square" lIns="0" rIns="0" tIns="0" bIns="0" anchor="ctr"/>
          <a:lstStyle/>
          <a:p>
            <a:pPr algn="l">
              <a:lnSpc>
                <a:spcPct val="112000"/>
              </a:lnSpc>
              <a:spcBef>
                <a:spcPts val="0"/>
              </a:spcBef>
              <a:spcAft>
                <a:spcPts val="0"/>
              </a:spcAft>
            </a:pPr>
            <a:r>
              <a:rPr sz="1100" b="1">
                <a:solidFill>
                  <a:srgbClr val="0F172A"/>
                </a:solidFill>
                <a:latin typeface="Arial"/>
                <a:ea typeface="PingFang SC"/>
              </a:rPr>
              <a:t>utf-8-sig</a:t>
            </a:r>
          </a:p>
        </p:txBody>
      </p:sp>
      <p:sp>
        <p:nvSpPr>
          <p:cNvPr id="61" name="Rectangle 60"/>
          <p:cNvSpPr/>
          <p:nvPr/>
        </p:nvSpPr>
        <p:spPr>
          <a:xfrm>
            <a:off x="502920" y="6199632"/>
            <a:ext cx="11173968" cy="1097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2920" y="6291072"/>
            <a:ext cx="8961120" cy="256032"/>
          </a:xfrm>
          <a:prstGeom prst="rect">
            <a:avLst/>
          </a:prstGeom>
          <a:noFill/>
        </p:spPr>
        <p:txBody>
          <a:bodyPr wrap="square" lIns="0" rIns="0" tIns="0" bIns="0" anchor="ctr"/>
          <a:lstStyle/>
          <a:p>
            <a:pPr algn="l">
              <a:lnSpc>
                <a:spcPct val="112000"/>
              </a:lnSpc>
              <a:spcBef>
                <a:spcPts val="0"/>
              </a:spcBef>
              <a:spcAft>
                <a:spcPts val="0"/>
              </a:spcAft>
            </a:pPr>
            <a:r>
              <a:rPr sz="1000" b="0">
                <a:solidFill>
                  <a:srgbClr val="94A3B8"/>
                </a:solidFill>
                <a:latin typeface="Arial"/>
                <a:ea typeface="PingFang SC"/>
              </a:rPr>
              <a:t>个人作品集项目 · 数据截止 2025.12 · 公开统计整理</a:t>
            </a:r>
          </a:p>
        </p:txBody>
      </p:sp>
      <p:sp>
        <p:nvSpPr>
          <p:cNvPr id="63" name="TextBox 62"/>
          <p:cNvSpPr txBox="1"/>
          <p:nvPr/>
        </p:nvSpPr>
        <p:spPr>
          <a:xfrm>
            <a:off x="10561320" y="6291072"/>
            <a:ext cx="1115568" cy="256032"/>
          </a:xfrm>
          <a:prstGeom prst="rect">
            <a:avLst/>
          </a:prstGeom>
          <a:noFill/>
        </p:spPr>
        <p:txBody>
          <a:bodyPr wrap="square" lIns="0" rIns="0" tIns="0" bIns="0" anchor="ctr"/>
          <a:lstStyle/>
          <a:p>
            <a:pPr algn="r">
              <a:lnSpc>
                <a:spcPct val="112000"/>
              </a:lnSpc>
              <a:spcBef>
                <a:spcPts val="0"/>
              </a:spcBef>
              <a:spcAft>
                <a:spcPts val="0"/>
              </a:spcAft>
            </a:pPr>
            <a:r>
              <a:rPr sz="1000" b="0">
                <a:solidFill>
                  <a:srgbClr val="94A3B8"/>
                </a:solidFill>
                <a:latin typeface="Arial"/>
                <a:ea typeface="PingFang SC"/>
              </a:rPr>
              <a:t>07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gradFill rotWithShape="1">
            <a:gsLst>
              <a:gs pos="0">
                <a:srgbClr val="080F1F"/>
              </a:gs>
              <a:gs pos="100000">
                <a:srgbClr val="1E293B"/>
              </a:gs>
            </a:gsLst>
            <a:lin scaled="0" ang="189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49640" y="1234440"/>
            <a:ext cx="4389120" cy="4389120"/>
          </a:xfrm>
          <a:prstGeom prst="ellipse">
            <a:avLst/>
          </a:prstGeom>
          <a:noFill/>
          <a:ln w="12700">
            <a:solidFill>
              <a:srgbClr val="2655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46920" y="2331720"/>
            <a:ext cx="2194560" cy="2194560"/>
          </a:xfrm>
          <a:prstGeom prst="ellipse">
            <a:avLst/>
          </a:prstGeom>
          <a:noFill/>
          <a:ln w="12700">
            <a:solidFill>
              <a:srgbClr val="433A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 cy="6858000"/>
          </a:xfrm>
          <a:prstGeom prst="rect">
            <a:avLst/>
          </a:prstGeom>
          <a:gradFill rotWithShape="1">
            <a:gsLst>
              <a:gs pos="0">
                <a:srgbClr val="0284C7"/>
              </a:gs>
              <a:gs pos="100000">
                <a:srgbClr val="8B5CF6"/>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234440"/>
            <a:ext cx="9692640" cy="1554480"/>
          </a:xfrm>
          <a:prstGeom prst="rect">
            <a:avLst/>
          </a:prstGeom>
          <a:noFill/>
        </p:spPr>
        <p:txBody>
          <a:bodyPr wrap="square" lIns="0" rIns="0" tIns="0" bIns="0" anchor="t"/>
          <a:lstStyle/>
          <a:p>
            <a:pPr algn="l">
              <a:lnSpc>
                <a:spcPct val="112000"/>
              </a:lnSpc>
              <a:spcBef>
                <a:spcPts val="0"/>
              </a:spcBef>
              <a:spcAft>
                <a:spcPts val="0"/>
              </a:spcAft>
            </a:pPr>
            <a:r>
              <a:rPr sz="10400" b="1">
                <a:solidFill>
                  <a:srgbClr val="2C7AA3"/>
                </a:solidFill>
                <a:latin typeface="Arial"/>
                <a:ea typeface="PingFang SC"/>
              </a:rPr>
              <a:t>03</a:t>
            </a:r>
          </a:p>
        </p:txBody>
      </p:sp>
      <p:sp>
        <p:nvSpPr>
          <p:cNvPr id="7" name="Rectangle 6"/>
          <p:cNvSpPr/>
          <p:nvPr/>
        </p:nvSpPr>
        <p:spPr>
          <a:xfrm>
            <a:off x="658368" y="2926080"/>
            <a:ext cx="1463040" cy="45720"/>
          </a:xfrm>
          <a:prstGeom prst="rect">
            <a:avLst/>
          </a:prstGeom>
          <a:gradFill rotWithShape="1">
            <a:gsLst>
              <a:gs pos="0">
                <a:srgbClr val="38BDF8"/>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182112"/>
            <a:ext cx="9692640" cy="1188720"/>
          </a:xfrm>
          <a:prstGeom prst="rect">
            <a:avLst/>
          </a:prstGeom>
          <a:noFill/>
        </p:spPr>
        <p:txBody>
          <a:bodyPr wrap="square" lIns="0" rIns="0" tIns="0" bIns="0" anchor="t"/>
          <a:lstStyle/>
          <a:p>
            <a:pPr algn="l">
              <a:lnSpc>
                <a:spcPct val="108000"/>
              </a:lnSpc>
              <a:spcBef>
                <a:spcPts val="0"/>
              </a:spcBef>
              <a:spcAft>
                <a:spcPts val="0"/>
              </a:spcAft>
            </a:pPr>
            <a:r>
              <a:rPr sz="3200" b="1">
                <a:solidFill>
                  <a:srgbClr val="FFFFFF"/>
                </a:solidFill>
                <a:latin typeface="Arial"/>
                <a:ea typeface="PingFang SC"/>
              </a:rPr>
              <a:t>发现与解释</a:t>
            </a:r>
          </a:p>
        </p:txBody>
      </p:sp>
      <p:sp>
        <p:nvSpPr>
          <p:cNvPr id="9" name="TextBox 8"/>
          <p:cNvSpPr txBox="1"/>
          <p:nvPr/>
        </p:nvSpPr>
        <p:spPr>
          <a:xfrm>
            <a:off x="658368" y="4526280"/>
            <a:ext cx="8961120" cy="822960"/>
          </a:xfrm>
          <a:prstGeom prst="rect">
            <a:avLst/>
          </a:prstGeom>
          <a:noFill/>
        </p:spPr>
        <p:txBody>
          <a:bodyPr wrap="square" lIns="0" rIns="0" tIns="0" bIns="0" anchor="t"/>
          <a:lstStyle/>
          <a:p>
            <a:pPr algn="l">
              <a:lnSpc>
                <a:spcPct val="122000"/>
              </a:lnSpc>
              <a:spcBef>
                <a:spcPts val="0"/>
              </a:spcBef>
              <a:spcAft>
                <a:spcPts val="0"/>
              </a:spcAft>
            </a:pPr>
            <a:r>
              <a:rPr sz="1600" b="0">
                <a:solidFill>
                  <a:srgbClr val="94A3B8"/>
                </a:solidFill>
                <a:latin typeface="Arial"/>
                <a:ea typeface="PingFang SC"/>
              </a:rPr>
              <a:t>增长背后是结构性变化</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4008"/>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73968" cy="219456"/>
          </a:xfrm>
          <a:prstGeom prst="rect">
            <a:avLst/>
          </a:prstGeom>
          <a:noFill/>
        </p:spPr>
        <p:txBody>
          <a:bodyPr wrap="square" lIns="0" rIns="0" tIns="0" bIns="0" anchor="t"/>
          <a:lstStyle/>
          <a:p>
            <a:pPr algn="l">
              <a:lnSpc>
                <a:spcPct val="112000"/>
              </a:lnSpc>
              <a:spcBef>
                <a:spcPts val="0"/>
              </a:spcBef>
              <a:spcAft>
                <a:spcPts val="0"/>
              </a:spcAft>
            </a:pPr>
            <a:r>
              <a:rPr sz="1000" b="1">
                <a:solidFill>
                  <a:srgbClr val="0284C7"/>
                </a:solidFill>
                <a:latin typeface="Arial"/>
                <a:ea typeface="PingFang SC"/>
              </a:rPr>
              <a:t>03  FINDINGS</a:t>
            </a:r>
          </a:p>
        </p:txBody>
      </p:sp>
      <p:sp>
        <p:nvSpPr>
          <p:cNvPr id="4" name="TextBox 3"/>
          <p:cNvSpPr txBox="1"/>
          <p:nvPr/>
        </p:nvSpPr>
        <p:spPr>
          <a:xfrm>
            <a:off x="502920" y="347472"/>
            <a:ext cx="11173968" cy="713232"/>
          </a:xfrm>
          <a:prstGeom prst="rect">
            <a:avLst/>
          </a:prstGeom>
          <a:noFill/>
        </p:spPr>
        <p:txBody>
          <a:bodyPr wrap="square" lIns="0" rIns="0" tIns="0" bIns="0" anchor="b"/>
          <a:lstStyle/>
          <a:p>
            <a:pPr algn="l">
              <a:lnSpc>
                <a:spcPct val="105000"/>
              </a:lnSpc>
              <a:spcBef>
                <a:spcPts val="0"/>
              </a:spcBef>
              <a:spcAft>
                <a:spcPts val="0"/>
              </a:spcAft>
            </a:pPr>
            <a:r>
              <a:rPr sz="2200" b="1">
                <a:solidFill>
                  <a:srgbClr val="0F172A"/>
                </a:solidFill>
                <a:latin typeface="Arial"/>
                <a:ea typeface="PingFang SC"/>
              </a:rPr>
              <a:t>2021 年是产业从政策示范走向市场扩张的关键拐点</a:t>
            </a:r>
          </a:p>
        </p:txBody>
      </p:sp>
      <p:sp>
        <p:nvSpPr>
          <p:cNvPr id="5" name="Rectangle 4"/>
          <p:cNvSpPr/>
          <p:nvPr/>
        </p:nvSpPr>
        <p:spPr>
          <a:xfrm>
            <a:off x="502920" y="1115568"/>
            <a:ext cx="1051560" cy="32004"/>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54480" y="1124712"/>
            <a:ext cx="1012240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2075688"/>
            <a:ext cx="2670048" cy="1572768"/>
          </a:xfrm>
          <a:prstGeom prst="roundRect">
            <a:avLst>
              <a:gd name="adj" fmla="val 9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22376" y="2075688"/>
            <a:ext cx="801014" cy="45720"/>
          </a:xfrm>
          <a:prstGeom prst="rect">
            <a:avLst/>
          </a:prstGeom>
          <a:gradFill rotWithShape="1">
            <a:gsLst>
              <a:gs pos="0">
                <a:srgbClr val="0284C7"/>
              </a:gs>
              <a:gs pos="100000">
                <a:srgbClr val="74BBE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2276856"/>
            <a:ext cx="2286000" cy="713232"/>
          </a:xfrm>
          <a:prstGeom prst="rect">
            <a:avLst/>
          </a:prstGeom>
          <a:noFill/>
        </p:spPr>
        <p:txBody>
          <a:bodyPr wrap="square" lIns="0" rIns="0" tIns="0" bIns="0" anchor="b"/>
          <a:lstStyle/>
          <a:p>
            <a:pPr algn="l">
              <a:lnSpc>
                <a:spcPct val="112000"/>
              </a:lnSpc>
              <a:spcBef>
                <a:spcPts val="0"/>
              </a:spcBef>
              <a:spcAft>
                <a:spcPts val="0"/>
              </a:spcAft>
            </a:pPr>
            <a:r>
              <a:rPr sz="3200" b="1">
                <a:solidFill>
                  <a:srgbClr val="0284C7"/>
                </a:solidFill>
                <a:latin typeface="Arial"/>
                <a:ea typeface="PingFang SC"/>
              </a:rPr>
              <a:t>33.1→1649.0</a:t>
            </a:r>
          </a:p>
        </p:txBody>
      </p:sp>
      <p:sp>
        <p:nvSpPr>
          <p:cNvPr id="10" name="TextBox 9"/>
          <p:cNvSpPr txBox="1"/>
          <p:nvPr/>
        </p:nvSpPr>
        <p:spPr>
          <a:xfrm>
            <a:off x="722376" y="3026664"/>
            <a:ext cx="2286000" cy="256032"/>
          </a:xfrm>
          <a:prstGeom prst="rect">
            <a:avLst/>
          </a:prstGeom>
          <a:noFill/>
        </p:spPr>
        <p:txBody>
          <a:bodyPr wrap="square" lIns="0" rIns="0" tIns="0" bIns="0" anchor="t"/>
          <a:lstStyle/>
          <a:p>
            <a:pPr algn="l">
              <a:lnSpc>
                <a:spcPct val="112000"/>
              </a:lnSpc>
              <a:spcBef>
                <a:spcPts val="0"/>
              </a:spcBef>
              <a:spcAft>
                <a:spcPts val="0"/>
              </a:spcAft>
            </a:pPr>
            <a:r>
              <a:rPr sz="1200" b="1">
                <a:solidFill>
                  <a:srgbClr val="0F172A"/>
                </a:solidFill>
                <a:latin typeface="Arial"/>
                <a:ea typeface="PingFang SC"/>
              </a:rPr>
              <a:t>新能源汽车销量（万辆）</a:t>
            </a:r>
          </a:p>
        </p:txBody>
      </p:sp>
      <p:sp>
        <p:nvSpPr>
          <p:cNvPr id="11" name="TextBox 10"/>
          <p:cNvSpPr txBox="1"/>
          <p:nvPr/>
        </p:nvSpPr>
        <p:spPr>
          <a:xfrm>
            <a:off x="722376" y="3282696"/>
            <a:ext cx="2286000" cy="274320"/>
          </a:xfrm>
          <a:prstGeom prst="rect">
            <a:avLst/>
          </a:prstGeom>
          <a:noFill/>
        </p:spPr>
        <p:txBody>
          <a:bodyPr wrap="square" lIns="0" rIns="0" tIns="0" bIns="0" anchor="t"/>
          <a:lstStyle/>
          <a:p>
            <a:pPr algn="l">
              <a:lnSpc>
                <a:spcPct val="110000"/>
              </a:lnSpc>
              <a:spcBef>
                <a:spcPts val="0"/>
              </a:spcBef>
              <a:spcAft>
                <a:spcPts val="0"/>
              </a:spcAft>
            </a:pPr>
            <a:r>
              <a:rPr sz="1000" b="0">
                <a:solidFill>
                  <a:srgbClr val="94A3B8"/>
                </a:solidFill>
                <a:latin typeface="Arial"/>
                <a:ea typeface="PingFang SC"/>
              </a:rPr>
              <a:t>2015—2025，约增长 50 倍</a:t>
            </a:r>
          </a:p>
        </p:txBody>
      </p:sp>
      <p:sp>
        <p:nvSpPr>
          <p:cNvPr id="12" name="Rounded Rectangle 11"/>
          <p:cNvSpPr/>
          <p:nvPr/>
        </p:nvSpPr>
        <p:spPr>
          <a:xfrm>
            <a:off x="3337560" y="2075688"/>
            <a:ext cx="2670048" cy="1572768"/>
          </a:xfrm>
          <a:prstGeom prst="roundRect">
            <a:avLst>
              <a:gd name="adj" fmla="val 9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57016" y="2075688"/>
            <a:ext cx="801014" cy="45720"/>
          </a:xfrm>
          <a:prstGeom prst="rect">
            <a:avLst/>
          </a:prstGeom>
          <a:gradFill rotWithShape="1">
            <a:gsLst>
              <a:gs pos="0">
                <a:srgbClr val="8B5CF6"/>
              </a:gs>
              <a:gs pos="100000">
                <a:srgbClr val="BFA5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57016" y="2276856"/>
            <a:ext cx="2286000" cy="713232"/>
          </a:xfrm>
          <a:prstGeom prst="rect">
            <a:avLst/>
          </a:prstGeom>
          <a:noFill/>
        </p:spPr>
        <p:txBody>
          <a:bodyPr wrap="square" lIns="0" rIns="0" tIns="0" bIns="0" anchor="b"/>
          <a:lstStyle/>
          <a:p>
            <a:pPr algn="l">
              <a:lnSpc>
                <a:spcPct val="112000"/>
              </a:lnSpc>
              <a:spcBef>
                <a:spcPts val="0"/>
              </a:spcBef>
              <a:spcAft>
                <a:spcPts val="0"/>
              </a:spcAft>
            </a:pPr>
            <a:r>
              <a:rPr sz="3200" b="1">
                <a:solidFill>
                  <a:srgbClr val="8B5CF6"/>
                </a:solidFill>
                <a:latin typeface="Arial"/>
                <a:ea typeface="PingFang SC"/>
              </a:rPr>
              <a:t>1.3%→47.9%</a:t>
            </a:r>
          </a:p>
        </p:txBody>
      </p:sp>
      <p:sp>
        <p:nvSpPr>
          <p:cNvPr id="15" name="TextBox 14"/>
          <p:cNvSpPr txBox="1"/>
          <p:nvPr/>
        </p:nvSpPr>
        <p:spPr>
          <a:xfrm>
            <a:off x="3557016" y="3026664"/>
            <a:ext cx="2286000" cy="256032"/>
          </a:xfrm>
          <a:prstGeom prst="rect">
            <a:avLst/>
          </a:prstGeom>
          <a:noFill/>
        </p:spPr>
        <p:txBody>
          <a:bodyPr wrap="square" lIns="0" rIns="0" tIns="0" bIns="0" anchor="t"/>
          <a:lstStyle/>
          <a:p>
            <a:pPr algn="l">
              <a:lnSpc>
                <a:spcPct val="112000"/>
              </a:lnSpc>
              <a:spcBef>
                <a:spcPts val="0"/>
              </a:spcBef>
              <a:spcAft>
                <a:spcPts val="0"/>
              </a:spcAft>
            </a:pPr>
            <a:r>
              <a:rPr sz="1200" b="1">
                <a:solidFill>
                  <a:srgbClr val="0F172A"/>
                </a:solidFill>
                <a:latin typeface="Arial"/>
                <a:ea typeface="PingFang SC"/>
              </a:rPr>
              <a:t>新车渗透率</a:t>
            </a:r>
          </a:p>
        </p:txBody>
      </p:sp>
      <p:sp>
        <p:nvSpPr>
          <p:cNvPr id="16" name="TextBox 15"/>
          <p:cNvSpPr txBox="1"/>
          <p:nvPr/>
        </p:nvSpPr>
        <p:spPr>
          <a:xfrm>
            <a:off x="3557016" y="3282696"/>
            <a:ext cx="2286000" cy="274320"/>
          </a:xfrm>
          <a:prstGeom prst="rect">
            <a:avLst/>
          </a:prstGeom>
          <a:noFill/>
        </p:spPr>
        <p:txBody>
          <a:bodyPr wrap="square" lIns="0" rIns="0" tIns="0" bIns="0" anchor="t"/>
          <a:lstStyle/>
          <a:p>
            <a:pPr algn="l">
              <a:lnSpc>
                <a:spcPct val="110000"/>
              </a:lnSpc>
              <a:spcBef>
                <a:spcPts val="0"/>
              </a:spcBef>
              <a:spcAft>
                <a:spcPts val="0"/>
              </a:spcAft>
            </a:pPr>
            <a:r>
              <a:rPr sz="1000" b="0">
                <a:solidFill>
                  <a:srgbClr val="94A3B8"/>
                </a:solidFill>
                <a:latin typeface="Arial"/>
                <a:ea typeface="PingFang SC"/>
              </a:rPr>
              <a:t>国内新车口径，2025 年数据</a:t>
            </a:r>
          </a:p>
        </p:txBody>
      </p:sp>
      <p:sp>
        <p:nvSpPr>
          <p:cNvPr id="17" name="Rounded Rectangle 16"/>
          <p:cNvSpPr/>
          <p:nvPr/>
        </p:nvSpPr>
        <p:spPr>
          <a:xfrm>
            <a:off x="6172200" y="2075688"/>
            <a:ext cx="2670048" cy="1572768"/>
          </a:xfrm>
          <a:prstGeom prst="roundRect">
            <a:avLst>
              <a:gd name="adj" fmla="val 9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91656" y="2075688"/>
            <a:ext cx="801014" cy="45720"/>
          </a:xfrm>
          <a:prstGeom prst="rect">
            <a:avLst/>
          </a:prstGeom>
          <a:gradFill rotWithShape="1">
            <a:gsLst>
              <a:gs pos="0">
                <a:srgbClr val="10B981"/>
              </a:gs>
              <a:gs pos="100000">
                <a:srgbClr val="7CD8B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91656" y="2276856"/>
            <a:ext cx="2286000" cy="713232"/>
          </a:xfrm>
          <a:prstGeom prst="rect">
            <a:avLst/>
          </a:prstGeom>
          <a:noFill/>
        </p:spPr>
        <p:txBody>
          <a:bodyPr wrap="square" lIns="0" rIns="0" tIns="0" bIns="0" anchor="b"/>
          <a:lstStyle/>
          <a:p>
            <a:pPr algn="l">
              <a:lnSpc>
                <a:spcPct val="112000"/>
              </a:lnSpc>
              <a:spcBef>
                <a:spcPts val="0"/>
              </a:spcBef>
              <a:spcAft>
                <a:spcPts val="0"/>
              </a:spcAft>
            </a:pPr>
            <a:r>
              <a:rPr sz="3200" b="1">
                <a:solidFill>
                  <a:srgbClr val="10B981"/>
                </a:solidFill>
                <a:latin typeface="Arial"/>
                <a:ea typeface="PingFang SC"/>
              </a:rPr>
              <a:t>13.4%</a:t>
            </a:r>
          </a:p>
        </p:txBody>
      </p:sp>
      <p:sp>
        <p:nvSpPr>
          <p:cNvPr id="20" name="TextBox 19"/>
          <p:cNvSpPr txBox="1"/>
          <p:nvPr/>
        </p:nvSpPr>
        <p:spPr>
          <a:xfrm>
            <a:off x="6391656" y="3026664"/>
            <a:ext cx="2286000" cy="256032"/>
          </a:xfrm>
          <a:prstGeom prst="rect">
            <a:avLst/>
          </a:prstGeom>
          <a:noFill/>
        </p:spPr>
        <p:txBody>
          <a:bodyPr wrap="square" lIns="0" rIns="0" tIns="0" bIns="0" anchor="t"/>
          <a:lstStyle/>
          <a:p>
            <a:pPr algn="l">
              <a:lnSpc>
                <a:spcPct val="112000"/>
              </a:lnSpc>
              <a:spcBef>
                <a:spcPts val="0"/>
              </a:spcBef>
              <a:spcAft>
                <a:spcPts val="0"/>
              </a:spcAft>
            </a:pPr>
            <a:r>
              <a:rPr sz="1200" b="1">
                <a:solidFill>
                  <a:srgbClr val="0F172A"/>
                </a:solidFill>
                <a:latin typeface="Arial"/>
                <a:ea typeface="PingFang SC"/>
              </a:rPr>
              <a:t>2021 年渗透率</a:t>
            </a:r>
          </a:p>
        </p:txBody>
      </p:sp>
      <p:sp>
        <p:nvSpPr>
          <p:cNvPr id="21" name="TextBox 20"/>
          <p:cNvSpPr txBox="1"/>
          <p:nvPr/>
        </p:nvSpPr>
        <p:spPr>
          <a:xfrm>
            <a:off x="6391656" y="3282696"/>
            <a:ext cx="2286000" cy="274320"/>
          </a:xfrm>
          <a:prstGeom prst="rect">
            <a:avLst/>
          </a:prstGeom>
          <a:noFill/>
        </p:spPr>
        <p:txBody>
          <a:bodyPr wrap="square" lIns="0" rIns="0" tIns="0" bIns="0" anchor="t"/>
          <a:lstStyle/>
          <a:p>
            <a:pPr algn="l">
              <a:lnSpc>
                <a:spcPct val="110000"/>
              </a:lnSpc>
              <a:spcBef>
                <a:spcPts val="0"/>
              </a:spcBef>
              <a:spcAft>
                <a:spcPts val="0"/>
              </a:spcAft>
            </a:pPr>
            <a:r>
              <a:rPr sz="1000" b="0">
                <a:solidFill>
                  <a:srgbClr val="94A3B8"/>
                </a:solidFill>
                <a:latin typeface="Arial"/>
                <a:ea typeface="PingFang SC"/>
              </a:rPr>
              <a:t>首次明显越过 10% 阈值</a:t>
            </a:r>
          </a:p>
        </p:txBody>
      </p:sp>
      <p:sp>
        <p:nvSpPr>
          <p:cNvPr id="22" name="Rounded Rectangle 21"/>
          <p:cNvSpPr/>
          <p:nvPr/>
        </p:nvSpPr>
        <p:spPr>
          <a:xfrm>
            <a:off x="9006840" y="2075688"/>
            <a:ext cx="2670048" cy="1572768"/>
          </a:xfrm>
          <a:prstGeom prst="roundRect">
            <a:avLst>
              <a:gd name="adj" fmla="val 9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26296" y="2075688"/>
            <a:ext cx="801014" cy="45720"/>
          </a:xfrm>
          <a:prstGeom prst="rect">
            <a:avLst/>
          </a:prstGeom>
          <a:gradFill rotWithShape="1">
            <a:gsLst>
              <a:gs pos="0">
                <a:srgbClr val="F59E0B"/>
              </a:gs>
              <a:gs pos="100000">
                <a:srgbClr val="FACA79"/>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26296" y="2276856"/>
            <a:ext cx="2286000" cy="713232"/>
          </a:xfrm>
          <a:prstGeom prst="rect">
            <a:avLst/>
          </a:prstGeom>
          <a:noFill/>
        </p:spPr>
        <p:txBody>
          <a:bodyPr wrap="square" lIns="0" rIns="0" tIns="0" bIns="0" anchor="b"/>
          <a:lstStyle/>
          <a:p>
            <a:pPr algn="l">
              <a:lnSpc>
                <a:spcPct val="112000"/>
              </a:lnSpc>
              <a:spcBef>
                <a:spcPts val="0"/>
              </a:spcBef>
              <a:spcAft>
                <a:spcPts val="0"/>
              </a:spcAft>
            </a:pPr>
            <a:r>
              <a:rPr sz="3200" b="1">
                <a:solidFill>
                  <a:srgbClr val="F59E0B"/>
                </a:solidFill>
                <a:latin typeface="Arial"/>
                <a:ea typeface="PingFang SC"/>
              </a:rPr>
              <a:t>+28.2%</a:t>
            </a:r>
          </a:p>
        </p:txBody>
      </p:sp>
      <p:sp>
        <p:nvSpPr>
          <p:cNvPr id="25" name="TextBox 24"/>
          <p:cNvSpPr txBox="1"/>
          <p:nvPr/>
        </p:nvSpPr>
        <p:spPr>
          <a:xfrm>
            <a:off x="9226296" y="3026664"/>
            <a:ext cx="2286000" cy="256032"/>
          </a:xfrm>
          <a:prstGeom prst="rect">
            <a:avLst/>
          </a:prstGeom>
          <a:noFill/>
        </p:spPr>
        <p:txBody>
          <a:bodyPr wrap="square" lIns="0" rIns="0" tIns="0" bIns="0" anchor="t"/>
          <a:lstStyle/>
          <a:p>
            <a:pPr algn="l">
              <a:lnSpc>
                <a:spcPct val="112000"/>
              </a:lnSpc>
              <a:spcBef>
                <a:spcPts val="0"/>
              </a:spcBef>
              <a:spcAft>
                <a:spcPts val="0"/>
              </a:spcAft>
            </a:pPr>
            <a:r>
              <a:rPr sz="1200" b="1">
                <a:solidFill>
                  <a:srgbClr val="0F172A"/>
                </a:solidFill>
                <a:latin typeface="Arial"/>
                <a:ea typeface="PingFang SC"/>
              </a:rPr>
              <a:t>2025 年销量同比</a:t>
            </a:r>
          </a:p>
        </p:txBody>
      </p:sp>
      <p:sp>
        <p:nvSpPr>
          <p:cNvPr id="26" name="TextBox 25"/>
          <p:cNvSpPr txBox="1"/>
          <p:nvPr/>
        </p:nvSpPr>
        <p:spPr>
          <a:xfrm>
            <a:off x="9226296" y="3282696"/>
            <a:ext cx="2286000" cy="274320"/>
          </a:xfrm>
          <a:prstGeom prst="rect">
            <a:avLst/>
          </a:prstGeom>
          <a:noFill/>
        </p:spPr>
        <p:txBody>
          <a:bodyPr wrap="square" lIns="0" rIns="0" tIns="0" bIns="0" anchor="t"/>
          <a:lstStyle/>
          <a:p>
            <a:pPr algn="l">
              <a:lnSpc>
                <a:spcPct val="110000"/>
              </a:lnSpc>
              <a:spcBef>
                <a:spcPts val="0"/>
              </a:spcBef>
              <a:spcAft>
                <a:spcPts val="0"/>
              </a:spcAft>
            </a:pPr>
            <a:r>
              <a:rPr sz="1000" b="0">
                <a:solidFill>
                  <a:srgbClr val="94A3B8"/>
                </a:solidFill>
                <a:latin typeface="Arial"/>
                <a:ea typeface="PingFang SC"/>
              </a:rPr>
              <a:t>新能源汽车增速高于汽车大盘</a:t>
            </a:r>
          </a:p>
        </p:txBody>
      </p:sp>
      <p:sp>
        <p:nvSpPr>
          <p:cNvPr id="27" name="Rounded Rectangle 26"/>
          <p:cNvSpPr/>
          <p:nvPr/>
        </p:nvSpPr>
        <p:spPr>
          <a:xfrm>
            <a:off x="502920" y="3813048"/>
            <a:ext cx="11173968" cy="1234440"/>
          </a:xfrm>
          <a:prstGeom prst="roundRect">
            <a:avLst>
              <a:gd name="adj" fmla="val 10000"/>
            </a:avLst>
          </a:prstGeom>
          <a:gradFill rotWithShape="1">
            <a:gsLst>
              <a:gs pos="0">
                <a:srgbClr val="080F1F"/>
              </a:gs>
              <a:gs pos="100000">
                <a:srgbClr val="1E293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3813048"/>
            <a:ext cx="91440" cy="1234440"/>
          </a:xfrm>
          <a:prstGeom prst="rect">
            <a:avLst/>
          </a:prstGeom>
          <a:gradFill rotWithShape="1">
            <a:gsLst>
              <a:gs pos="0">
                <a:srgbClr val="38BDF8"/>
              </a:gs>
              <a:gs pos="100000">
                <a:srgbClr val="8B5CF6"/>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 y="3941064"/>
            <a:ext cx="10607040" cy="201168"/>
          </a:xfrm>
          <a:prstGeom prst="rect">
            <a:avLst/>
          </a:prstGeom>
          <a:noFill/>
        </p:spPr>
        <p:txBody>
          <a:bodyPr wrap="square" lIns="0" rIns="0" tIns="0" bIns="0" anchor="t"/>
          <a:lstStyle/>
          <a:p>
            <a:pPr algn="l">
              <a:lnSpc>
                <a:spcPct val="112000"/>
              </a:lnSpc>
              <a:spcBef>
                <a:spcPts val="0"/>
              </a:spcBef>
              <a:spcAft>
                <a:spcPts val="0"/>
              </a:spcAft>
            </a:pPr>
            <a:r>
              <a:rPr sz="1000" b="1">
                <a:solidFill>
                  <a:srgbClr val="38BDF8"/>
                </a:solidFill>
                <a:latin typeface="Arial"/>
                <a:ea typeface="PingFang SC"/>
              </a:rPr>
              <a:t>INTERPRETATION</a:t>
            </a:r>
          </a:p>
        </p:txBody>
      </p:sp>
      <p:sp>
        <p:nvSpPr>
          <p:cNvPr id="30" name="TextBox 29"/>
          <p:cNvSpPr txBox="1"/>
          <p:nvPr/>
        </p:nvSpPr>
        <p:spPr>
          <a:xfrm>
            <a:off x="841248" y="4178808"/>
            <a:ext cx="10515600" cy="758952"/>
          </a:xfrm>
          <a:prstGeom prst="rect">
            <a:avLst/>
          </a:prstGeom>
          <a:noFill/>
        </p:spPr>
        <p:txBody>
          <a:bodyPr wrap="square" lIns="0" rIns="0" tIns="0" bIns="0" anchor="t"/>
          <a:lstStyle/>
          <a:p>
            <a:pPr algn="l">
              <a:lnSpc>
                <a:spcPct val="118000"/>
              </a:lnSpc>
              <a:spcBef>
                <a:spcPts val="0"/>
              </a:spcBef>
              <a:spcAft>
                <a:spcPts val="0"/>
              </a:spcAft>
            </a:pPr>
            <a:r>
              <a:rPr sz="1600" b="1">
                <a:solidFill>
                  <a:srgbClr val="FFFFFF"/>
                </a:solidFill>
                <a:latin typeface="Arial"/>
                <a:ea typeface="PingFang SC"/>
              </a:rPr>
              <a:t>关键变化不是单纯卖得更多，而是需求、供给和基础设施在 2021 年后形成了更强的自我强化。</a:t>
            </a:r>
          </a:p>
        </p:txBody>
      </p:sp>
      <p:sp>
        <p:nvSpPr>
          <p:cNvPr id="31" name="Rectangle 30"/>
          <p:cNvSpPr/>
          <p:nvPr/>
        </p:nvSpPr>
        <p:spPr>
          <a:xfrm>
            <a:off x="502920" y="6199632"/>
            <a:ext cx="11173968" cy="1097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291072"/>
            <a:ext cx="8961120" cy="256032"/>
          </a:xfrm>
          <a:prstGeom prst="rect">
            <a:avLst/>
          </a:prstGeom>
          <a:noFill/>
        </p:spPr>
        <p:txBody>
          <a:bodyPr wrap="square" lIns="0" rIns="0" tIns="0" bIns="0" anchor="ctr"/>
          <a:lstStyle/>
          <a:p>
            <a:pPr algn="l">
              <a:lnSpc>
                <a:spcPct val="112000"/>
              </a:lnSpc>
              <a:spcBef>
                <a:spcPts val="0"/>
              </a:spcBef>
              <a:spcAft>
                <a:spcPts val="0"/>
              </a:spcAft>
            </a:pPr>
            <a:r>
              <a:rPr sz="1000" b="0">
                <a:solidFill>
                  <a:srgbClr val="94A3B8"/>
                </a:solidFill>
                <a:latin typeface="Arial"/>
                <a:ea typeface="PingFang SC"/>
              </a:rPr>
              <a:t>个人作品集项目 · 数据截止 2025.12 · 公开统计整理</a:t>
            </a:r>
          </a:p>
        </p:txBody>
      </p:sp>
      <p:sp>
        <p:nvSpPr>
          <p:cNvPr id="33" name="TextBox 32"/>
          <p:cNvSpPr txBox="1"/>
          <p:nvPr/>
        </p:nvSpPr>
        <p:spPr>
          <a:xfrm>
            <a:off x="10561320" y="6291072"/>
            <a:ext cx="1115568" cy="256032"/>
          </a:xfrm>
          <a:prstGeom prst="rect">
            <a:avLst/>
          </a:prstGeom>
          <a:noFill/>
        </p:spPr>
        <p:txBody>
          <a:bodyPr wrap="square" lIns="0" rIns="0" tIns="0" bIns="0" anchor="ctr"/>
          <a:lstStyle/>
          <a:p>
            <a:pPr algn="r">
              <a:lnSpc>
                <a:spcPct val="112000"/>
              </a:lnSpc>
              <a:spcBef>
                <a:spcPts val="0"/>
              </a:spcBef>
              <a:spcAft>
                <a:spcPts val="0"/>
              </a:spcAft>
            </a:pPr>
            <a:r>
              <a:rPr sz="1000" b="0">
                <a:solidFill>
                  <a:srgbClr val="94A3B8"/>
                </a:solidFill>
                <a:latin typeface="Arial"/>
                <a:ea typeface="PingFang SC"/>
              </a:rPr>
              <a:t>08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4008"/>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73968" cy="219456"/>
          </a:xfrm>
          <a:prstGeom prst="rect">
            <a:avLst/>
          </a:prstGeom>
          <a:noFill/>
        </p:spPr>
        <p:txBody>
          <a:bodyPr wrap="square" lIns="0" rIns="0" tIns="0" bIns="0" anchor="t"/>
          <a:lstStyle/>
          <a:p>
            <a:pPr algn="l">
              <a:lnSpc>
                <a:spcPct val="112000"/>
              </a:lnSpc>
              <a:spcBef>
                <a:spcPts val="0"/>
              </a:spcBef>
              <a:spcAft>
                <a:spcPts val="0"/>
              </a:spcAft>
            </a:pPr>
            <a:r>
              <a:rPr sz="1000" b="1">
                <a:solidFill>
                  <a:srgbClr val="0284C7"/>
                </a:solidFill>
                <a:latin typeface="Arial"/>
                <a:ea typeface="PingFang SC"/>
              </a:rPr>
              <a:t>03  FINDINGS</a:t>
            </a:r>
          </a:p>
        </p:txBody>
      </p:sp>
      <p:sp>
        <p:nvSpPr>
          <p:cNvPr id="4" name="TextBox 3"/>
          <p:cNvSpPr txBox="1"/>
          <p:nvPr/>
        </p:nvSpPr>
        <p:spPr>
          <a:xfrm>
            <a:off x="502920" y="347472"/>
            <a:ext cx="11173968" cy="713232"/>
          </a:xfrm>
          <a:prstGeom prst="rect">
            <a:avLst/>
          </a:prstGeom>
          <a:noFill/>
        </p:spPr>
        <p:txBody>
          <a:bodyPr wrap="square" lIns="0" rIns="0" tIns="0" bIns="0" anchor="b"/>
          <a:lstStyle/>
          <a:p>
            <a:pPr algn="l">
              <a:lnSpc>
                <a:spcPct val="105000"/>
              </a:lnSpc>
              <a:spcBef>
                <a:spcPts val="0"/>
              </a:spcBef>
              <a:spcAft>
                <a:spcPts val="0"/>
              </a:spcAft>
            </a:pPr>
            <a:r>
              <a:rPr sz="1800" b="1">
                <a:solidFill>
                  <a:srgbClr val="0F172A"/>
                </a:solidFill>
                <a:latin typeface="Arial"/>
                <a:ea typeface="PingFang SC"/>
              </a:rPr>
              <a:t>补能网络正在从公共设施驱动转向公私协同，但空间可达性仍值得继续研究</a:t>
            </a:r>
          </a:p>
        </p:txBody>
      </p:sp>
      <p:sp>
        <p:nvSpPr>
          <p:cNvPr id="5" name="Rectangle 4"/>
          <p:cNvSpPr/>
          <p:nvPr/>
        </p:nvSpPr>
        <p:spPr>
          <a:xfrm>
            <a:off x="502920" y="1115568"/>
            <a:ext cx="1051560" cy="32004"/>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54480" y="1124712"/>
            <a:ext cx="1012240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540763"/>
            <a:ext cx="5477256" cy="2743200"/>
          </a:xfrm>
          <a:prstGeom prst="roundRect">
            <a:avLst>
              <a:gd name="adj" fmla="val 7000"/>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540763"/>
            <a:ext cx="5477256" cy="54864"/>
          </a:xfrm>
          <a:prstGeom prst="rect">
            <a:avLst/>
          </a:prstGeom>
          <a:gradFill rotWithShape="1">
            <a:gsLst>
              <a:gs pos="0">
                <a:srgbClr val="94A3B8"/>
              </a:gs>
              <a:gs pos="100000">
                <a:srgbClr val="CAD1DC"/>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40664" y="1796795"/>
            <a:ext cx="1353312" cy="365760"/>
          </a:xfrm>
          <a:prstGeom prst="roundRect">
            <a:avLst>
              <a:gd name="adj" fmla="val 40000"/>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1796795"/>
            <a:ext cx="2103120" cy="365760"/>
          </a:xfrm>
          <a:prstGeom prst="rect">
            <a:avLst/>
          </a:prstGeom>
          <a:noFill/>
        </p:spPr>
        <p:txBody>
          <a:bodyPr wrap="square" lIns="0" rIns="0" tIns="0" bIns="0" anchor="ctr"/>
          <a:lstStyle/>
          <a:p>
            <a:pPr algn="l">
              <a:lnSpc>
                <a:spcPct val="112000"/>
              </a:lnSpc>
              <a:spcBef>
                <a:spcPts val="0"/>
              </a:spcBef>
              <a:spcAft>
                <a:spcPts val="0"/>
              </a:spcAft>
            </a:pPr>
            <a:r>
              <a:rPr sz="1100" b="1">
                <a:solidFill>
                  <a:srgbClr val="94A3B8"/>
                </a:solidFill>
                <a:latin typeface="Arial"/>
                <a:ea typeface="PingFang SC"/>
              </a:rPr>
              <a:t>规模同步扩张</a:t>
            </a:r>
          </a:p>
        </p:txBody>
      </p:sp>
      <p:sp>
        <p:nvSpPr>
          <p:cNvPr id="11" name="TextBox 10"/>
          <p:cNvSpPr txBox="1"/>
          <p:nvPr/>
        </p:nvSpPr>
        <p:spPr>
          <a:xfrm>
            <a:off x="740664" y="2290570"/>
            <a:ext cx="5001768" cy="566928"/>
          </a:xfrm>
          <a:prstGeom prst="rect">
            <a:avLst/>
          </a:prstGeom>
          <a:noFill/>
        </p:spPr>
        <p:txBody>
          <a:bodyPr wrap="square" lIns="0" rIns="0" tIns="0" bIns="0" anchor="t"/>
          <a:lstStyle/>
          <a:p>
            <a:pPr algn="l">
              <a:lnSpc>
                <a:spcPct val="108000"/>
              </a:lnSpc>
              <a:spcBef>
                <a:spcPts val="0"/>
              </a:spcBef>
              <a:spcAft>
                <a:spcPts val="0"/>
              </a:spcAft>
            </a:pPr>
            <a:r>
              <a:rPr sz="1800" b="1">
                <a:solidFill>
                  <a:srgbClr val="475569"/>
                </a:solidFill>
                <a:latin typeface="Arial"/>
                <a:ea typeface="PingFang SC"/>
              </a:rPr>
              <a:t>供给总量明显追上车辆保有量</a:t>
            </a:r>
          </a:p>
        </p:txBody>
      </p:sp>
      <p:sp>
        <p:nvSpPr>
          <p:cNvPr id="12" name="Rounded Rectangle 11"/>
          <p:cNvSpPr/>
          <p:nvPr/>
        </p:nvSpPr>
        <p:spPr>
          <a:xfrm>
            <a:off x="740664" y="3012947"/>
            <a:ext cx="292608" cy="292608"/>
          </a:xfrm>
          <a:prstGeom prst="roundRect">
            <a:avLst>
              <a:gd name="adj" fmla="val 40000"/>
            </a:avLst>
          </a:prstGeom>
          <a:solidFill>
            <a:srgbClr val="EA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3012947"/>
            <a:ext cx="292608" cy="292608"/>
          </a:xfrm>
          <a:prstGeom prst="rect">
            <a:avLst/>
          </a:prstGeom>
          <a:noFill/>
        </p:spPr>
        <p:txBody>
          <a:bodyPr wrap="square" lIns="0" rIns="0" tIns="0" bIns="0" anchor="ctr"/>
          <a:lstStyle/>
          <a:p>
            <a:pPr algn="ctr">
              <a:lnSpc>
                <a:spcPct val="112000"/>
              </a:lnSpc>
              <a:spcBef>
                <a:spcPts val="0"/>
              </a:spcBef>
              <a:spcAft>
                <a:spcPts val="0"/>
              </a:spcAft>
            </a:pPr>
            <a:r>
              <a:rPr sz="900" b="1">
                <a:solidFill>
                  <a:srgbClr val="94A3B8"/>
                </a:solidFill>
                <a:latin typeface="Arial"/>
                <a:ea typeface="PingFang SC"/>
              </a:rPr>
              <a:t>×</a:t>
            </a:r>
          </a:p>
        </p:txBody>
      </p:sp>
      <p:sp>
        <p:nvSpPr>
          <p:cNvPr id="14" name="TextBox 13"/>
          <p:cNvSpPr txBox="1"/>
          <p:nvPr/>
        </p:nvSpPr>
        <p:spPr>
          <a:xfrm>
            <a:off x="1143000" y="2967227"/>
            <a:ext cx="4562856" cy="384048"/>
          </a:xfrm>
          <a:prstGeom prst="rect">
            <a:avLst/>
          </a:prstGeom>
          <a:noFill/>
        </p:spPr>
        <p:txBody>
          <a:bodyPr wrap="square" lIns="0" rIns="0" tIns="0" bIns="0" anchor="ctr"/>
          <a:lstStyle/>
          <a:p>
            <a:pPr algn="l">
              <a:lnSpc>
                <a:spcPct val="116000"/>
              </a:lnSpc>
              <a:spcBef>
                <a:spcPts val="0"/>
              </a:spcBef>
              <a:spcAft>
                <a:spcPts val="0"/>
              </a:spcAft>
            </a:pPr>
            <a:r>
              <a:rPr sz="1300" b="0">
                <a:solidFill>
                  <a:srgbClr val="475569"/>
                </a:solidFill>
                <a:latin typeface="Arial"/>
                <a:ea typeface="PingFang SC"/>
              </a:rPr>
              <a:t>新能源汽车保有量由 492 万辆增至 4397 万辆</a:t>
            </a:r>
          </a:p>
        </p:txBody>
      </p:sp>
      <p:sp>
        <p:nvSpPr>
          <p:cNvPr id="15" name="Rounded Rectangle 14"/>
          <p:cNvSpPr/>
          <p:nvPr/>
        </p:nvSpPr>
        <p:spPr>
          <a:xfrm>
            <a:off x="740664" y="3396994"/>
            <a:ext cx="292608" cy="292608"/>
          </a:xfrm>
          <a:prstGeom prst="roundRect">
            <a:avLst>
              <a:gd name="adj" fmla="val 40000"/>
            </a:avLst>
          </a:prstGeom>
          <a:solidFill>
            <a:srgbClr val="EA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 y="3396994"/>
            <a:ext cx="292608" cy="292608"/>
          </a:xfrm>
          <a:prstGeom prst="rect">
            <a:avLst/>
          </a:prstGeom>
          <a:noFill/>
        </p:spPr>
        <p:txBody>
          <a:bodyPr wrap="square" lIns="0" rIns="0" tIns="0" bIns="0" anchor="ctr"/>
          <a:lstStyle/>
          <a:p>
            <a:pPr algn="ctr">
              <a:lnSpc>
                <a:spcPct val="112000"/>
              </a:lnSpc>
              <a:spcBef>
                <a:spcPts val="0"/>
              </a:spcBef>
              <a:spcAft>
                <a:spcPts val="0"/>
              </a:spcAft>
            </a:pPr>
            <a:r>
              <a:rPr sz="900" b="1">
                <a:solidFill>
                  <a:srgbClr val="94A3B8"/>
                </a:solidFill>
                <a:latin typeface="Arial"/>
                <a:ea typeface="PingFang SC"/>
              </a:rPr>
              <a:t>×</a:t>
            </a:r>
          </a:p>
        </p:txBody>
      </p:sp>
      <p:sp>
        <p:nvSpPr>
          <p:cNvPr id="17" name="TextBox 16"/>
          <p:cNvSpPr txBox="1"/>
          <p:nvPr/>
        </p:nvSpPr>
        <p:spPr>
          <a:xfrm>
            <a:off x="1143000" y="3351275"/>
            <a:ext cx="4562856" cy="384048"/>
          </a:xfrm>
          <a:prstGeom prst="rect">
            <a:avLst/>
          </a:prstGeom>
          <a:noFill/>
        </p:spPr>
        <p:txBody>
          <a:bodyPr wrap="square" lIns="0" rIns="0" tIns="0" bIns="0" anchor="ctr"/>
          <a:lstStyle/>
          <a:p>
            <a:pPr algn="l">
              <a:lnSpc>
                <a:spcPct val="116000"/>
              </a:lnSpc>
              <a:spcBef>
                <a:spcPts val="0"/>
              </a:spcBef>
              <a:spcAft>
                <a:spcPts val="0"/>
              </a:spcAft>
            </a:pPr>
            <a:r>
              <a:rPr sz="1300" b="0">
                <a:solidFill>
                  <a:srgbClr val="475569"/>
                </a:solidFill>
                <a:latin typeface="Arial"/>
                <a:ea typeface="PingFang SC"/>
              </a:rPr>
              <a:t>充电设施由 168.1 万个增至 2009.2 万个</a:t>
            </a:r>
          </a:p>
        </p:txBody>
      </p:sp>
      <p:sp>
        <p:nvSpPr>
          <p:cNvPr id="18" name="Rounded Rectangle 17"/>
          <p:cNvSpPr/>
          <p:nvPr/>
        </p:nvSpPr>
        <p:spPr>
          <a:xfrm>
            <a:off x="740664" y="3781042"/>
            <a:ext cx="292608" cy="292608"/>
          </a:xfrm>
          <a:prstGeom prst="roundRect">
            <a:avLst>
              <a:gd name="adj" fmla="val 40000"/>
            </a:avLst>
          </a:prstGeom>
          <a:solidFill>
            <a:srgbClr val="EA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 y="3781042"/>
            <a:ext cx="292608" cy="292608"/>
          </a:xfrm>
          <a:prstGeom prst="rect">
            <a:avLst/>
          </a:prstGeom>
          <a:noFill/>
        </p:spPr>
        <p:txBody>
          <a:bodyPr wrap="square" lIns="0" rIns="0" tIns="0" bIns="0" anchor="ctr"/>
          <a:lstStyle/>
          <a:p>
            <a:pPr algn="ctr">
              <a:lnSpc>
                <a:spcPct val="112000"/>
              </a:lnSpc>
              <a:spcBef>
                <a:spcPts val="0"/>
              </a:spcBef>
              <a:spcAft>
                <a:spcPts val="0"/>
              </a:spcAft>
            </a:pPr>
            <a:r>
              <a:rPr sz="900" b="1">
                <a:solidFill>
                  <a:srgbClr val="94A3B8"/>
                </a:solidFill>
                <a:latin typeface="Arial"/>
                <a:ea typeface="PingFang SC"/>
              </a:rPr>
              <a:t>×</a:t>
            </a:r>
          </a:p>
        </p:txBody>
      </p:sp>
      <p:sp>
        <p:nvSpPr>
          <p:cNvPr id="20" name="TextBox 19"/>
          <p:cNvSpPr txBox="1"/>
          <p:nvPr/>
        </p:nvSpPr>
        <p:spPr>
          <a:xfrm>
            <a:off x="1143000" y="3735323"/>
            <a:ext cx="4562856" cy="384048"/>
          </a:xfrm>
          <a:prstGeom prst="rect">
            <a:avLst/>
          </a:prstGeom>
          <a:noFill/>
        </p:spPr>
        <p:txBody>
          <a:bodyPr wrap="square" lIns="0" rIns="0" tIns="0" bIns="0" anchor="ctr"/>
          <a:lstStyle/>
          <a:p>
            <a:pPr algn="l">
              <a:lnSpc>
                <a:spcPct val="116000"/>
              </a:lnSpc>
              <a:spcBef>
                <a:spcPts val="0"/>
              </a:spcBef>
              <a:spcAft>
                <a:spcPts val="0"/>
              </a:spcAft>
            </a:pPr>
            <a:r>
              <a:rPr sz="1300" b="0">
                <a:solidFill>
                  <a:srgbClr val="475569"/>
                </a:solidFill>
                <a:latin typeface="Arial"/>
                <a:ea typeface="PingFang SC"/>
              </a:rPr>
              <a:t>车桩比由 2.93:1 降至 2.19:1</a:t>
            </a:r>
          </a:p>
        </p:txBody>
      </p:sp>
      <p:sp>
        <p:nvSpPr>
          <p:cNvPr id="21" name="Rounded Rectangle 20"/>
          <p:cNvSpPr/>
          <p:nvPr/>
        </p:nvSpPr>
        <p:spPr>
          <a:xfrm>
            <a:off x="6199632" y="1540763"/>
            <a:ext cx="5477256" cy="2743200"/>
          </a:xfrm>
          <a:prstGeom prst="roundRect">
            <a:avLst>
              <a:gd name="adj" fmla="val 7000"/>
            </a:avLst>
          </a:prstGeom>
          <a:solidFill>
            <a:srgbClr val="FFFFFF"/>
          </a:solidFill>
          <a:ln w="15875">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2" y="1540763"/>
            <a:ext cx="5477256" cy="54864"/>
          </a:xfrm>
          <a:prstGeom prst="rect">
            <a:avLst/>
          </a:prstGeom>
          <a:gradFill rotWithShape="1">
            <a:gsLst>
              <a:gs pos="0">
                <a:srgbClr val="0284C7"/>
              </a:gs>
              <a:gs pos="100000">
                <a:srgbClr val="80C2E3"/>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37376" y="1796795"/>
            <a:ext cx="1353312" cy="365760"/>
          </a:xfrm>
          <a:prstGeom prst="roundRect">
            <a:avLst>
              <a:gd name="adj" fmla="val 40000"/>
            </a:avLst>
          </a:prstGeom>
          <a:solidFill>
            <a:srgbClr val="DCE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1968" y="1796795"/>
            <a:ext cx="2103120" cy="365760"/>
          </a:xfrm>
          <a:prstGeom prst="rect">
            <a:avLst/>
          </a:prstGeom>
          <a:noFill/>
        </p:spPr>
        <p:txBody>
          <a:bodyPr wrap="square" lIns="0" rIns="0" tIns="0" bIns="0" anchor="ctr"/>
          <a:lstStyle/>
          <a:p>
            <a:pPr algn="l">
              <a:lnSpc>
                <a:spcPct val="112000"/>
              </a:lnSpc>
              <a:spcBef>
                <a:spcPts val="0"/>
              </a:spcBef>
              <a:spcAft>
                <a:spcPts val="0"/>
              </a:spcAft>
            </a:pPr>
            <a:r>
              <a:rPr sz="1100" b="1">
                <a:solidFill>
                  <a:srgbClr val="0284C7"/>
                </a:solidFill>
                <a:latin typeface="Arial"/>
                <a:ea typeface="PingFang SC"/>
              </a:rPr>
              <a:t>结构重新分工</a:t>
            </a:r>
          </a:p>
        </p:txBody>
      </p:sp>
      <p:sp>
        <p:nvSpPr>
          <p:cNvPr id="25" name="TextBox 24"/>
          <p:cNvSpPr txBox="1"/>
          <p:nvPr/>
        </p:nvSpPr>
        <p:spPr>
          <a:xfrm>
            <a:off x="6437376" y="2290570"/>
            <a:ext cx="5001768" cy="566928"/>
          </a:xfrm>
          <a:prstGeom prst="rect">
            <a:avLst/>
          </a:prstGeom>
          <a:noFill/>
        </p:spPr>
        <p:txBody>
          <a:bodyPr wrap="square" lIns="0" rIns="0" tIns="0" bIns="0" anchor="t"/>
          <a:lstStyle/>
          <a:p>
            <a:pPr algn="l">
              <a:lnSpc>
                <a:spcPct val="108000"/>
              </a:lnSpc>
              <a:spcBef>
                <a:spcPts val="0"/>
              </a:spcBef>
              <a:spcAft>
                <a:spcPts val="0"/>
              </a:spcAft>
            </a:pPr>
            <a:r>
              <a:rPr sz="1800" b="1">
                <a:solidFill>
                  <a:srgbClr val="0F172A"/>
                </a:solidFill>
                <a:latin typeface="Arial"/>
                <a:ea typeface="PingFang SC"/>
              </a:rPr>
              <a:t>私人桩成为日常补能的主要承担者</a:t>
            </a:r>
          </a:p>
        </p:txBody>
      </p:sp>
      <p:sp>
        <p:nvSpPr>
          <p:cNvPr id="26" name="Rounded Rectangle 25"/>
          <p:cNvSpPr/>
          <p:nvPr/>
        </p:nvSpPr>
        <p:spPr>
          <a:xfrm>
            <a:off x="6437376" y="3012947"/>
            <a:ext cx="292608" cy="292608"/>
          </a:xfrm>
          <a:prstGeom prst="roundRect">
            <a:avLst>
              <a:gd name="adj" fmla="val 40000"/>
            </a:avLst>
          </a:prstGeom>
          <a:solidFill>
            <a:srgbClr val="CCE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37376" y="3012947"/>
            <a:ext cx="292608" cy="292608"/>
          </a:xfrm>
          <a:prstGeom prst="rect">
            <a:avLst/>
          </a:prstGeom>
          <a:noFill/>
        </p:spPr>
        <p:txBody>
          <a:bodyPr wrap="square" lIns="0" rIns="0" tIns="0" bIns="0" anchor="ctr"/>
          <a:lstStyle/>
          <a:p>
            <a:pPr algn="ctr">
              <a:lnSpc>
                <a:spcPct val="112000"/>
              </a:lnSpc>
              <a:spcBef>
                <a:spcPts val="0"/>
              </a:spcBef>
              <a:spcAft>
                <a:spcPts val="0"/>
              </a:spcAft>
            </a:pPr>
            <a:r>
              <a:rPr sz="900" b="1">
                <a:solidFill>
                  <a:srgbClr val="0284C7"/>
                </a:solidFill>
                <a:latin typeface="Arial"/>
                <a:ea typeface="PingFang SC"/>
              </a:rPr>
              <a:t>✓</a:t>
            </a:r>
          </a:p>
        </p:txBody>
      </p:sp>
      <p:sp>
        <p:nvSpPr>
          <p:cNvPr id="28" name="TextBox 27"/>
          <p:cNvSpPr txBox="1"/>
          <p:nvPr/>
        </p:nvSpPr>
        <p:spPr>
          <a:xfrm>
            <a:off x="6839712" y="2967227"/>
            <a:ext cx="4562856" cy="384048"/>
          </a:xfrm>
          <a:prstGeom prst="rect">
            <a:avLst/>
          </a:prstGeom>
          <a:noFill/>
        </p:spPr>
        <p:txBody>
          <a:bodyPr wrap="square" lIns="0" rIns="0" tIns="0" bIns="0" anchor="ctr"/>
          <a:lstStyle/>
          <a:p>
            <a:pPr algn="l">
              <a:lnSpc>
                <a:spcPct val="116000"/>
              </a:lnSpc>
              <a:spcBef>
                <a:spcPts val="0"/>
              </a:spcBef>
              <a:spcAft>
                <a:spcPts val="0"/>
              </a:spcAft>
            </a:pPr>
            <a:r>
              <a:rPr sz="1300" b="0">
                <a:solidFill>
                  <a:srgbClr val="475569"/>
                </a:solidFill>
                <a:latin typeface="Arial"/>
                <a:ea typeface="PingFang SC"/>
              </a:rPr>
              <a:t>私人桩占比由 52.0% 升至 76.5%</a:t>
            </a:r>
          </a:p>
        </p:txBody>
      </p:sp>
      <p:sp>
        <p:nvSpPr>
          <p:cNvPr id="29" name="Rounded Rectangle 28"/>
          <p:cNvSpPr/>
          <p:nvPr/>
        </p:nvSpPr>
        <p:spPr>
          <a:xfrm>
            <a:off x="6437376" y="3396994"/>
            <a:ext cx="292608" cy="292608"/>
          </a:xfrm>
          <a:prstGeom prst="roundRect">
            <a:avLst>
              <a:gd name="adj" fmla="val 40000"/>
            </a:avLst>
          </a:prstGeom>
          <a:solidFill>
            <a:srgbClr val="CCE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7376" y="3396994"/>
            <a:ext cx="292608" cy="292608"/>
          </a:xfrm>
          <a:prstGeom prst="rect">
            <a:avLst/>
          </a:prstGeom>
          <a:noFill/>
        </p:spPr>
        <p:txBody>
          <a:bodyPr wrap="square" lIns="0" rIns="0" tIns="0" bIns="0" anchor="ctr"/>
          <a:lstStyle/>
          <a:p>
            <a:pPr algn="ctr">
              <a:lnSpc>
                <a:spcPct val="112000"/>
              </a:lnSpc>
              <a:spcBef>
                <a:spcPts val="0"/>
              </a:spcBef>
              <a:spcAft>
                <a:spcPts val="0"/>
              </a:spcAft>
            </a:pPr>
            <a:r>
              <a:rPr sz="900" b="1">
                <a:solidFill>
                  <a:srgbClr val="0284C7"/>
                </a:solidFill>
                <a:latin typeface="Arial"/>
                <a:ea typeface="PingFang SC"/>
              </a:rPr>
              <a:t>✓</a:t>
            </a:r>
          </a:p>
        </p:txBody>
      </p:sp>
      <p:sp>
        <p:nvSpPr>
          <p:cNvPr id="31" name="TextBox 30"/>
          <p:cNvSpPr txBox="1"/>
          <p:nvPr/>
        </p:nvSpPr>
        <p:spPr>
          <a:xfrm>
            <a:off x="6839712" y="3351275"/>
            <a:ext cx="4562856" cy="384048"/>
          </a:xfrm>
          <a:prstGeom prst="rect">
            <a:avLst/>
          </a:prstGeom>
          <a:noFill/>
        </p:spPr>
        <p:txBody>
          <a:bodyPr wrap="square" lIns="0" rIns="0" tIns="0" bIns="0" anchor="ctr"/>
          <a:lstStyle/>
          <a:p>
            <a:pPr algn="l">
              <a:lnSpc>
                <a:spcPct val="116000"/>
              </a:lnSpc>
              <a:spcBef>
                <a:spcPts val="0"/>
              </a:spcBef>
              <a:spcAft>
                <a:spcPts val="0"/>
              </a:spcAft>
            </a:pPr>
            <a:r>
              <a:rPr sz="1300" b="0">
                <a:solidFill>
                  <a:srgbClr val="475569"/>
                </a:solidFill>
                <a:latin typeface="Arial"/>
                <a:ea typeface="PingFang SC"/>
              </a:rPr>
              <a:t>公共桩仍承担跨区域和营运车辆补能</a:t>
            </a:r>
          </a:p>
        </p:txBody>
      </p:sp>
      <p:sp>
        <p:nvSpPr>
          <p:cNvPr id="32" name="Rounded Rectangle 31"/>
          <p:cNvSpPr/>
          <p:nvPr/>
        </p:nvSpPr>
        <p:spPr>
          <a:xfrm>
            <a:off x="6437376" y="3781042"/>
            <a:ext cx="292608" cy="292608"/>
          </a:xfrm>
          <a:prstGeom prst="roundRect">
            <a:avLst>
              <a:gd name="adj" fmla="val 40000"/>
            </a:avLst>
          </a:prstGeom>
          <a:solidFill>
            <a:srgbClr val="CCE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781042"/>
            <a:ext cx="292608" cy="292608"/>
          </a:xfrm>
          <a:prstGeom prst="rect">
            <a:avLst/>
          </a:prstGeom>
          <a:noFill/>
        </p:spPr>
        <p:txBody>
          <a:bodyPr wrap="square" lIns="0" rIns="0" tIns="0" bIns="0" anchor="ctr"/>
          <a:lstStyle/>
          <a:p>
            <a:pPr algn="ctr">
              <a:lnSpc>
                <a:spcPct val="112000"/>
              </a:lnSpc>
              <a:spcBef>
                <a:spcPts val="0"/>
              </a:spcBef>
              <a:spcAft>
                <a:spcPts val="0"/>
              </a:spcAft>
            </a:pPr>
            <a:r>
              <a:rPr sz="900" b="1">
                <a:solidFill>
                  <a:srgbClr val="0284C7"/>
                </a:solidFill>
                <a:latin typeface="Arial"/>
                <a:ea typeface="PingFang SC"/>
              </a:rPr>
              <a:t>✓</a:t>
            </a:r>
          </a:p>
        </p:txBody>
      </p:sp>
      <p:sp>
        <p:nvSpPr>
          <p:cNvPr id="34" name="TextBox 33"/>
          <p:cNvSpPr txBox="1"/>
          <p:nvPr/>
        </p:nvSpPr>
        <p:spPr>
          <a:xfrm>
            <a:off x="6839712" y="3735323"/>
            <a:ext cx="4562856" cy="384048"/>
          </a:xfrm>
          <a:prstGeom prst="rect">
            <a:avLst/>
          </a:prstGeom>
          <a:noFill/>
        </p:spPr>
        <p:txBody>
          <a:bodyPr wrap="square" lIns="0" rIns="0" tIns="0" bIns="0" anchor="ctr"/>
          <a:lstStyle/>
          <a:p>
            <a:pPr algn="l">
              <a:lnSpc>
                <a:spcPct val="116000"/>
              </a:lnSpc>
              <a:spcBef>
                <a:spcPts val="0"/>
              </a:spcBef>
              <a:spcAft>
                <a:spcPts val="0"/>
              </a:spcAft>
            </a:pPr>
            <a:r>
              <a:rPr sz="1300" b="0">
                <a:solidFill>
                  <a:srgbClr val="475569"/>
                </a:solidFill>
                <a:latin typeface="Arial"/>
                <a:ea typeface="PingFang SC"/>
              </a:rPr>
              <a:t>总量改善不等于城乡、社区和高速场景均衡</a:t>
            </a:r>
          </a:p>
        </p:txBody>
      </p:sp>
      <p:sp>
        <p:nvSpPr>
          <p:cNvPr id="35" name="Rounded Rectangle 34"/>
          <p:cNvSpPr/>
          <p:nvPr/>
        </p:nvSpPr>
        <p:spPr>
          <a:xfrm>
            <a:off x="502920" y="4411978"/>
            <a:ext cx="11173968" cy="1234440"/>
          </a:xfrm>
          <a:prstGeom prst="roundRect">
            <a:avLst>
              <a:gd name="adj" fmla="val 10000"/>
            </a:avLst>
          </a:prstGeom>
          <a:gradFill rotWithShape="1">
            <a:gsLst>
              <a:gs pos="0">
                <a:srgbClr val="080F1F"/>
              </a:gs>
              <a:gs pos="100000">
                <a:srgbClr val="1E293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 y="4411978"/>
            <a:ext cx="91440" cy="1234440"/>
          </a:xfrm>
          <a:prstGeom prst="rect">
            <a:avLst/>
          </a:prstGeom>
          <a:gradFill rotWithShape="1">
            <a:gsLst>
              <a:gs pos="0">
                <a:srgbClr val="38BDF8"/>
              </a:gs>
              <a:gs pos="100000">
                <a:srgbClr val="8B5CF6"/>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 y="4539994"/>
            <a:ext cx="10607040" cy="201168"/>
          </a:xfrm>
          <a:prstGeom prst="rect">
            <a:avLst/>
          </a:prstGeom>
          <a:noFill/>
        </p:spPr>
        <p:txBody>
          <a:bodyPr wrap="square" lIns="0" rIns="0" tIns="0" bIns="0" anchor="t"/>
          <a:lstStyle/>
          <a:p>
            <a:pPr algn="l">
              <a:lnSpc>
                <a:spcPct val="112000"/>
              </a:lnSpc>
              <a:spcBef>
                <a:spcPts val="0"/>
              </a:spcBef>
              <a:spcAft>
                <a:spcPts val="0"/>
              </a:spcAft>
            </a:pPr>
            <a:r>
              <a:rPr sz="1000" b="1">
                <a:solidFill>
                  <a:srgbClr val="38BDF8"/>
                </a:solidFill>
                <a:latin typeface="Arial"/>
                <a:ea typeface="PingFang SC"/>
              </a:rPr>
              <a:t>NEXT QUESTION</a:t>
            </a:r>
          </a:p>
        </p:txBody>
      </p:sp>
      <p:sp>
        <p:nvSpPr>
          <p:cNvPr id="38" name="TextBox 37"/>
          <p:cNvSpPr txBox="1"/>
          <p:nvPr/>
        </p:nvSpPr>
        <p:spPr>
          <a:xfrm>
            <a:off x="841248" y="4777739"/>
            <a:ext cx="10515600" cy="758952"/>
          </a:xfrm>
          <a:prstGeom prst="rect">
            <a:avLst/>
          </a:prstGeom>
          <a:noFill/>
        </p:spPr>
        <p:txBody>
          <a:bodyPr wrap="square" lIns="0" rIns="0" tIns="0" bIns="0" anchor="t"/>
          <a:lstStyle/>
          <a:p>
            <a:pPr algn="l">
              <a:lnSpc>
                <a:spcPct val="118000"/>
              </a:lnSpc>
              <a:spcBef>
                <a:spcPts val="0"/>
              </a:spcBef>
              <a:spcAft>
                <a:spcPts val="0"/>
              </a:spcAft>
            </a:pPr>
            <a:r>
              <a:rPr sz="1600" b="1">
                <a:solidFill>
                  <a:srgbClr val="FFFFFF"/>
                </a:solidFill>
                <a:latin typeface="Arial"/>
                <a:ea typeface="PingFang SC"/>
              </a:rPr>
              <a:t>下一步应把年度总量分析下沉到省级或城市级，加入充电功率、利用率、排队时间和空间可达性。</a:t>
            </a:r>
          </a:p>
        </p:txBody>
      </p:sp>
      <p:sp>
        <p:nvSpPr>
          <p:cNvPr id="39" name="Rectangle 38"/>
          <p:cNvSpPr/>
          <p:nvPr/>
        </p:nvSpPr>
        <p:spPr>
          <a:xfrm>
            <a:off x="502920" y="6199632"/>
            <a:ext cx="11173968" cy="1097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6291072"/>
            <a:ext cx="8961120" cy="256032"/>
          </a:xfrm>
          <a:prstGeom prst="rect">
            <a:avLst/>
          </a:prstGeom>
          <a:noFill/>
        </p:spPr>
        <p:txBody>
          <a:bodyPr wrap="square" lIns="0" rIns="0" tIns="0" bIns="0" anchor="ctr"/>
          <a:lstStyle/>
          <a:p>
            <a:pPr algn="l">
              <a:lnSpc>
                <a:spcPct val="112000"/>
              </a:lnSpc>
              <a:spcBef>
                <a:spcPts val="0"/>
              </a:spcBef>
              <a:spcAft>
                <a:spcPts val="0"/>
              </a:spcAft>
            </a:pPr>
            <a:r>
              <a:rPr sz="1000" b="0">
                <a:solidFill>
                  <a:srgbClr val="94A3B8"/>
                </a:solidFill>
                <a:latin typeface="Arial"/>
                <a:ea typeface="PingFang SC"/>
              </a:rPr>
              <a:t>个人作品集项目 · 数据截止 2025.12 · 公开统计整理</a:t>
            </a:r>
          </a:p>
        </p:txBody>
      </p:sp>
      <p:sp>
        <p:nvSpPr>
          <p:cNvPr id="41" name="TextBox 40"/>
          <p:cNvSpPr txBox="1"/>
          <p:nvPr/>
        </p:nvSpPr>
        <p:spPr>
          <a:xfrm>
            <a:off x="10561320" y="6291072"/>
            <a:ext cx="1115568" cy="256032"/>
          </a:xfrm>
          <a:prstGeom prst="rect">
            <a:avLst/>
          </a:prstGeom>
          <a:noFill/>
        </p:spPr>
        <p:txBody>
          <a:bodyPr wrap="square" lIns="0" rIns="0" tIns="0" bIns="0" anchor="ctr"/>
          <a:lstStyle/>
          <a:p>
            <a:pPr algn="r">
              <a:lnSpc>
                <a:spcPct val="112000"/>
              </a:lnSpc>
              <a:spcBef>
                <a:spcPts val="0"/>
              </a:spcBef>
              <a:spcAft>
                <a:spcPts val="0"/>
              </a:spcAft>
            </a:pPr>
            <a:r>
              <a:rPr sz="1000" b="0">
                <a:solidFill>
                  <a:srgbClr val="94A3B8"/>
                </a:solidFill>
                <a:latin typeface="Arial"/>
                <a:ea typeface="PingFang SC"/>
              </a:rPr>
              <a:t>09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4008"/>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73968" cy="219456"/>
          </a:xfrm>
          <a:prstGeom prst="rect">
            <a:avLst/>
          </a:prstGeom>
          <a:noFill/>
        </p:spPr>
        <p:txBody>
          <a:bodyPr wrap="square" lIns="0" rIns="0" tIns="0" bIns="0" anchor="t"/>
          <a:lstStyle/>
          <a:p>
            <a:pPr algn="l">
              <a:lnSpc>
                <a:spcPct val="112000"/>
              </a:lnSpc>
              <a:spcBef>
                <a:spcPts val="0"/>
              </a:spcBef>
              <a:spcAft>
                <a:spcPts val="0"/>
              </a:spcAft>
            </a:pPr>
            <a:r>
              <a:rPr sz="1000" b="1">
                <a:solidFill>
                  <a:srgbClr val="0284C7"/>
                </a:solidFill>
                <a:latin typeface="Arial"/>
                <a:ea typeface="PingFang SC"/>
              </a:rPr>
              <a:t>03  FINDINGS</a:t>
            </a:r>
          </a:p>
        </p:txBody>
      </p:sp>
      <p:sp>
        <p:nvSpPr>
          <p:cNvPr id="4" name="TextBox 3"/>
          <p:cNvSpPr txBox="1"/>
          <p:nvPr/>
        </p:nvSpPr>
        <p:spPr>
          <a:xfrm>
            <a:off x="502920" y="347472"/>
            <a:ext cx="11173968" cy="713232"/>
          </a:xfrm>
          <a:prstGeom prst="rect">
            <a:avLst/>
          </a:prstGeom>
          <a:noFill/>
        </p:spPr>
        <p:txBody>
          <a:bodyPr wrap="square" lIns="0" rIns="0" tIns="0" bIns="0" anchor="b"/>
          <a:lstStyle/>
          <a:p>
            <a:pPr algn="l">
              <a:lnSpc>
                <a:spcPct val="105000"/>
              </a:lnSpc>
              <a:spcBef>
                <a:spcPts val="0"/>
              </a:spcBef>
              <a:spcAft>
                <a:spcPts val="0"/>
              </a:spcAft>
            </a:pPr>
            <a:r>
              <a:rPr sz="1800" b="1">
                <a:solidFill>
                  <a:srgbClr val="0F172A"/>
                </a:solidFill>
                <a:latin typeface="Arial"/>
                <a:ea typeface="PingFang SC"/>
              </a:rPr>
              <a:t>电池与动力路线没有单一答案，而是在成本、安全、续航和场景之间重新分工</a:t>
            </a:r>
          </a:p>
        </p:txBody>
      </p:sp>
      <p:sp>
        <p:nvSpPr>
          <p:cNvPr id="5" name="Rectangle 4"/>
          <p:cNvSpPr/>
          <p:nvPr/>
        </p:nvSpPr>
        <p:spPr>
          <a:xfrm>
            <a:off x="502920" y="1115568"/>
            <a:ext cx="1051560" cy="32004"/>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54480" y="1124712"/>
            <a:ext cx="1012240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5623560" cy="256032"/>
          </a:xfrm>
          <a:prstGeom prst="rect">
            <a:avLst/>
          </a:prstGeom>
          <a:noFill/>
        </p:spPr>
        <p:txBody>
          <a:bodyPr wrap="square" lIns="0" rIns="0" tIns="0" bIns="0" anchor="t"/>
          <a:lstStyle/>
          <a:p>
            <a:pPr algn="l">
              <a:lnSpc>
                <a:spcPct val="112000"/>
              </a:lnSpc>
              <a:spcBef>
                <a:spcPts val="0"/>
              </a:spcBef>
              <a:spcAft>
                <a:spcPts val="0"/>
              </a:spcAft>
            </a:pPr>
            <a:r>
              <a:rPr sz="1100" b="1">
                <a:solidFill>
                  <a:srgbClr val="0EA5E9"/>
                </a:solidFill>
                <a:latin typeface="Arial"/>
                <a:ea typeface="PingFang SC"/>
              </a:rPr>
              <a:t>TECHNOLOGY STRUCTURE</a:t>
            </a:r>
          </a:p>
        </p:txBody>
      </p:sp>
      <p:sp>
        <p:nvSpPr>
          <p:cNvPr id="8" name="TextBox 7"/>
          <p:cNvSpPr txBox="1"/>
          <p:nvPr/>
        </p:nvSpPr>
        <p:spPr>
          <a:xfrm>
            <a:off x="502920" y="1609344"/>
            <a:ext cx="5623560" cy="1325880"/>
          </a:xfrm>
          <a:prstGeom prst="rect">
            <a:avLst/>
          </a:prstGeom>
          <a:noFill/>
        </p:spPr>
        <p:txBody>
          <a:bodyPr wrap="square" lIns="0" rIns="0" tIns="0" bIns="0" anchor="t"/>
          <a:lstStyle/>
          <a:p>
            <a:pPr algn="l">
              <a:lnSpc>
                <a:spcPct val="105000"/>
              </a:lnSpc>
              <a:spcBef>
                <a:spcPts val="0"/>
              </a:spcBef>
              <a:spcAft>
                <a:spcPts val="0"/>
              </a:spcAft>
            </a:pPr>
            <a:r>
              <a:rPr sz="2600" b="1">
                <a:solidFill>
                  <a:srgbClr val="0F172A"/>
                </a:solidFill>
                <a:latin typeface="Arial"/>
                <a:ea typeface="PingFang SC"/>
              </a:rPr>
              <a:t>从路线竞争转向场景分工</a:t>
            </a:r>
          </a:p>
        </p:txBody>
      </p:sp>
      <p:sp>
        <p:nvSpPr>
          <p:cNvPr id="9" name="TextBox 8"/>
          <p:cNvSpPr txBox="1"/>
          <p:nvPr/>
        </p:nvSpPr>
        <p:spPr>
          <a:xfrm>
            <a:off x="502920" y="3035808"/>
            <a:ext cx="5623560" cy="1005840"/>
          </a:xfrm>
          <a:prstGeom prst="rect">
            <a:avLst/>
          </a:prstGeom>
          <a:noFill/>
        </p:spPr>
        <p:txBody>
          <a:bodyPr wrap="square" lIns="0" rIns="0" tIns="0" bIns="0" anchor="t"/>
          <a:lstStyle/>
          <a:p>
            <a:pPr algn="l">
              <a:lnSpc>
                <a:spcPct val="122000"/>
              </a:lnSpc>
              <a:spcBef>
                <a:spcPts val="0"/>
              </a:spcBef>
              <a:spcAft>
                <a:spcPts val="0"/>
              </a:spcAft>
            </a:pPr>
            <a:r>
              <a:rPr sz="1400" b="0">
                <a:solidFill>
                  <a:srgbClr val="475569"/>
                </a:solidFill>
                <a:latin typeface="Arial"/>
                <a:ea typeface="PingFang SC"/>
              </a:rPr>
              <a:t>动力电池装车量由 55.3 GWh 增至 769.4 GWh；磷酸铁锂在 2021 年后持续占优，2025 年占比 81.3%。乘用车端插混含增程由 17.2% 上升至 35.6%，说明不同技术路线正在覆盖不同使用场景。</a:t>
            </a:r>
          </a:p>
        </p:txBody>
      </p:sp>
      <p:sp>
        <p:nvSpPr>
          <p:cNvPr id="10" name="Rounded Rectangle 9"/>
          <p:cNvSpPr/>
          <p:nvPr/>
        </p:nvSpPr>
        <p:spPr>
          <a:xfrm>
            <a:off x="6327648" y="1298448"/>
            <a:ext cx="5349240" cy="2880360"/>
          </a:xfrm>
          <a:prstGeom prst="roundRect">
            <a:avLst>
              <a:gd name="adj" fmla="val 7000"/>
            </a:avLst>
          </a:prstGeom>
          <a:gradFill rotWithShape="1">
            <a:gsLst>
              <a:gs pos="0">
                <a:srgbClr val="080F1F"/>
              </a:gs>
              <a:gs pos="100000">
                <a:srgbClr val="1E293B"/>
              </a:gs>
            </a:gsLst>
            <a:lin scaled="0" ang="189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27648" y="1298448"/>
            <a:ext cx="82296" cy="2880360"/>
          </a:xfrm>
          <a:prstGeom prst="rect">
            <a:avLst/>
          </a:prstGeom>
          <a:gradFill rotWithShape="1">
            <a:gsLst>
              <a:gs pos="0">
                <a:srgbClr val="38BDF8"/>
              </a:gs>
              <a:gs pos="100000">
                <a:srgbClr val="8B5CF6"/>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0256" y="1481328"/>
            <a:ext cx="4892040" cy="256032"/>
          </a:xfrm>
          <a:prstGeom prst="rect">
            <a:avLst/>
          </a:prstGeom>
          <a:noFill/>
        </p:spPr>
        <p:txBody>
          <a:bodyPr wrap="square" lIns="0" rIns="0" tIns="0" bIns="0" anchor="t"/>
          <a:lstStyle/>
          <a:p>
            <a:pPr algn="l">
              <a:lnSpc>
                <a:spcPct val="112000"/>
              </a:lnSpc>
              <a:spcBef>
                <a:spcPts val="0"/>
              </a:spcBef>
              <a:spcAft>
                <a:spcPts val="0"/>
              </a:spcAft>
            </a:pPr>
            <a:r>
              <a:rPr sz="1100" b="1">
                <a:solidFill>
                  <a:srgbClr val="38BDF8"/>
                </a:solidFill>
                <a:latin typeface="Arial"/>
                <a:ea typeface="PingFang SC"/>
              </a:rPr>
              <a:t>证据链</a:t>
            </a:r>
          </a:p>
        </p:txBody>
      </p:sp>
      <p:sp>
        <p:nvSpPr>
          <p:cNvPr id="13" name="Oval 12"/>
          <p:cNvSpPr/>
          <p:nvPr/>
        </p:nvSpPr>
        <p:spPr>
          <a:xfrm>
            <a:off x="6638544" y="2029968"/>
            <a:ext cx="91440" cy="91440"/>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865376"/>
            <a:ext cx="4572000" cy="402336"/>
          </a:xfrm>
          <a:prstGeom prst="rect">
            <a:avLst/>
          </a:prstGeom>
          <a:noFill/>
        </p:spPr>
        <p:txBody>
          <a:bodyPr wrap="square" lIns="0" rIns="0" tIns="0" bIns="0" anchor="ctr"/>
          <a:lstStyle/>
          <a:p>
            <a:pPr algn="l">
              <a:lnSpc>
                <a:spcPct val="112000"/>
              </a:lnSpc>
              <a:spcBef>
                <a:spcPts val="0"/>
              </a:spcBef>
              <a:spcAft>
                <a:spcPts val="0"/>
              </a:spcAft>
            </a:pPr>
            <a:r>
              <a:rPr sz="1400" b="1">
                <a:solidFill>
                  <a:srgbClr val="FFFFFF"/>
                </a:solidFill>
                <a:latin typeface="Arial"/>
                <a:ea typeface="PingFang SC"/>
              </a:rPr>
              <a:t>LFP：成本与安全优势增强</a:t>
            </a:r>
          </a:p>
        </p:txBody>
      </p:sp>
      <p:sp>
        <p:nvSpPr>
          <p:cNvPr id="15" name="Oval 14"/>
          <p:cNvSpPr/>
          <p:nvPr/>
        </p:nvSpPr>
        <p:spPr>
          <a:xfrm>
            <a:off x="6638544" y="2487168"/>
            <a:ext cx="91440" cy="9144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39712" y="2322576"/>
            <a:ext cx="4572000" cy="402336"/>
          </a:xfrm>
          <a:prstGeom prst="rect">
            <a:avLst/>
          </a:prstGeom>
          <a:noFill/>
        </p:spPr>
        <p:txBody>
          <a:bodyPr wrap="square" lIns="0" rIns="0" tIns="0" bIns="0" anchor="ctr"/>
          <a:lstStyle/>
          <a:p>
            <a:pPr algn="l">
              <a:lnSpc>
                <a:spcPct val="112000"/>
              </a:lnSpc>
              <a:spcBef>
                <a:spcPts val="0"/>
              </a:spcBef>
              <a:spcAft>
                <a:spcPts val="0"/>
              </a:spcAft>
            </a:pPr>
            <a:r>
              <a:rPr sz="1400" b="1">
                <a:solidFill>
                  <a:srgbClr val="FFFFFF"/>
                </a:solidFill>
                <a:latin typeface="Arial"/>
                <a:ea typeface="PingFang SC"/>
              </a:rPr>
              <a:t>三元：高能量密度仍有场景价值</a:t>
            </a:r>
          </a:p>
        </p:txBody>
      </p:sp>
      <p:sp>
        <p:nvSpPr>
          <p:cNvPr id="17" name="Oval 16"/>
          <p:cNvSpPr/>
          <p:nvPr/>
        </p:nvSpPr>
        <p:spPr>
          <a:xfrm>
            <a:off x="6638544" y="2944368"/>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39712" y="2779776"/>
            <a:ext cx="4572000" cy="402336"/>
          </a:xfrm>
          <a:prstGeom prst="rect">
            <a:avLst/>
          </a:prstGeom>
          <a:noFill/>
        </p:spPr>
        <p:txBody>
          <a:bodyPr wrap="square" lIns="0" rIns="0" tIns="0" bIns="0" anchor="ctr"/>
          <a:lstStyle/>
          <a:p>
            <a:pPr algn="l">
              <a:lnSpc>
                <a:spcPct val="112000"/>
              </a:lnSpc>
              <a:spcBef>
                <a:spcPts val="0"/>
              </a:spcBef>
              <a:spcAft>
                <a:spcPts val="0"/>
              </a:spcAft>
            </a:pPr>
            <a:r>
              <a:rPr sz="1400" b="1">
                <a:solidFill>
                  <a:srgbClr val="FFFFFF"/>
                </a:solidFill>
                <a:latin typeface="Arial"/>
                <a:ea typeface="PingFang SC"/>
              </a:rPr>
              <a:t>纯电：规模主线与基础设施协同</a:t>
            </a:r>
          </a:p>
        </p:txBody>
      </p:sp>
      <p:sp>
        <p:nvSpPr>
          <p:cNvPr id="19" name="Oval 18"/>
          <p:cNvSpPr/>
          <p:nvPr/>
        </p:nvSpPr>
        <p:spPr>
          <a:xfrm>
            <a:off x="6638544" y="3401568"/>
            <a:ext cx="91440" cy="914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236976"/>
            <a:ext cx="4572000" cy="402336"/>
          </a:xfrm>
          <a:prstGeom prst="rect">
            <a:avLst/>
          </a:prstGeom>
          <a:noFill/>
        </p:spPr>
        <p:txBody>
          <a:bodyPr wrap="square" lIns="0" rIns="0" tIns="0" bIns="0" anchor="ctr"/>
          <a:lstStyle/>
          <a:p>
            <a:pPr algn="l">
              <a:lnSpc>
                <a:spcPct val="112000"/>
              </a:lnSpc>
              <a:spcBef>
                <a:spcPts val="0"/>
              </a:spcBef>
              <a:spcAft>
                <a:spcPts val="0"/>
              </a:spcAft>
            </a:pPr>
            <a:r>
              <a:rPr sz="1400" b="1">
                <a:solidFill>
                  <a:srgbClr val="FFFFFF"/>
                </a:solidFill>
                <a:latin typeface="Arial"/>
                <a:ea typeface="PingFang SC"/>
              </a:rPr>
              <a:t>插混：缓解里程焦虑并拓展市场</a:t>
            </a:r>
          </a:p>
        </p:txBody>
      </p:sp>
      <p:sp>
        <p:nvSpPr>
          <p:cNvPr id="21" name="Rounded Rectangle 20"/>
          <p:cNvSpPr/>
          <p:nvPr/>
        </p:nvSpPr>
        <p:spPr>
          <a:xfrm>
            <a:off x="502920" y="4270248"/>
            <a:ext cx="11173968" cy="827531"/>
          </a:xfrm>
          <a:prstGeom prst="roundRect">
            <a:avLst>
              <a:gd name="adj" fmla="val 8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02920" y="4270248"/>
            <a:ext cx="64008" cy="827531"/>
          </a:xfrm>
          <a:prstGeom prst="roundRect">
            <a:avLst>
              <a:gd name="adj" fmla="val 4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49808" y="4446270"/>
            <a:ext cx="475488" cy="475488"/>
          </a:xfrm>
          <a:prstGeom prst="roundRect">
            <a:avLst>
              <a:gd name="adj" fmla="val 26000"/>
            </a:avLst>
          </a:prstGeom>
          <a:solidFill>
            <a:srgbClr val="DCE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4446270"/>
            <a:ext cx="475488" cy="475488"/>
          </a:xfrm>
          <a:prstGeom prst="rect">
            <a:avLst/>
          </a:prstGeom>
          <a:noFill/>
        </p:spPr>
        <p:txBody>
          <a:bodyPr wrap="square" lIns="0" rIns="0" tIns="0" bIns="0" anchor="ctr"/>
          <a:lstStyle/>
          <a:p>
            <a:pPr algn="ctr">
              <a:lnSpc>
                <a:spcPct val="112000"/>
              </a:lnSpc>
              <a:spcBef>
                <a:spcPts val="0"/>
              </a:spcBef>
              <a:spcAft>
                <a:spcPts val="0"/>
              </a:spcAft>
            </a:pPr>
            <a:r>
              <a:rPr sz="1500" b="1">
                <a:solidFill>
                  <a:srgbClr val="0284C7"/>
                </a:solidFill>
                <a:latin typeface="Arial"/>
                <a:ea typeface="PingFang SC"/>
              </a:rPr>
              <a:t>01</a:t>
            </a:r>
          </a:p>
        </p:txBody>
      </p:sp>
      <p:sp>
        <p:nvSpPr>
          <p:cNvPr id="25" name="TextBox 24"/>
          <p:cNvSpPr txBox="1"/>
          <p:nvPr/>
        </p:nvSpPr>
        <p:spPr>
          <a:xfrm>
            <a:off x="1389888" y="4416552"/>
            <a:ext cx="10149840" cy="329184"/>
          </a:xfrm>
          <a:prstGeom prst="rect">
            <a:avLst/>
          </a:prstGeom>
          <a:noFill/>
        </p:spPr>
        <p:txBody>
          <a:bodyPr wrap="square" lIns="0" rIns="0" tIns="0" bIns="0" anchor="t"/>
          <a:lstStyle/>
          <a:p>
            <a:pPr algn="l">
              <a:lnSpc>
                <a:spcPct val="112000"/>
              </a:lnSpc>
              <a:spcBef>
                <a:spcPts val="0"/>
              </a:spcBef>
              <a:spcAft>
                <a:spcPts val="0"/>
              </a:spcAft>
            </a:pPr>
            <a:r>
              <a:rPr sz="1600" b="1">
                <a:solidFill>
                  <a:srgbClr val="0F172A"/>
                </a:solidFill>
                <a:latin typeface="Arial"/>
                <a:ea typeface="PingFang SC"/>
              </a:rPr>
              <a:t>避免过度推断</a:t>
            </a:r>
          </a:p>
        </p:txBody>
      </p:sp>
      <p:sp>
        <p:nvSpPr>
          <p:cNvPr id="26" name="TextBox 25"/>
          <p:cNvSpPr txBox="1"/>
          <p:nvPr/>
        </p:nvSpPr>
        <p:spPr>
          <a:xfrm>
            <a:off x="1389888" y="4782312"/>
            <a:ext cx="10149840" cy="187451"/>
          </a:xfrm>
          <a:prstGeom prst="rect">
            <a:avLst/>
          </a:prstGeom>
          <a:noFill/>
        </p:spPr>
        <p:txBody>
          <a:bodyPr wrap="square" lIns="0" rIns="0" tIns="0" bIns="0" anchor="t"/>
          <a:lstStyle/>
          <a:p>
            <a:pPr algn="l">
              <a:lnSpc>
                <a:spcPct val="124000"/>
              </a:lnSpc>
              <a:spcBef>
                <a:spcPts val="0"/>
              </a:spcBef>
              <a:spcAft>
                <a:spcPts val="0"/>
              </a:spcAft>
            </a:pPr>
            <a:r>
              <a:rPr sz="1300" b="0">
                <a:solidFill>
                  <a:srgbClr val="475569"/>
                </a:solidFill>
                <a:latin typeface="Arial"/>
                <a:ea typeface="PingFang SC"/>
              </a:rPr>
              <a:t>结构占比变化能够支持路线分工判断，但不能单独证明某种路线在全生命周期中更低碳。</a:t>
            </a:r>
          </a:p>
        </p:txBody>
      </p:sp>
      <p:sp>
        <p:nvSpPr>
          <p:cNvPr id="27" name="Rounded Rectangle 26"/>
          <p:cNvSpPr/>
          <p:nvPr/>
        </p:nvSpPr>
        <p:spPr>
          <a:xfrm>
            <a:off x="502920" y="5207508"/>
            <a:ext cx="11173968" cy="827531"/>
          </a:xfrm>
          <a:prstGeom prst="roundRect">
            <a:avLst>
              <a:gd name="adj" fmla="val 8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02920" y="5207508"/>
            <a:ext cx="64008" cy="827531"/>
          </a:xfrm>
          <a:prstGeom prst="roundRect">
            <a:avLst>
              <a:gd name="adj" fmla="val 4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49808" y="5383530"/>
            <a:ext cx="475488" cy="475488"/>
          </a:xfrm>
          <a:prstGeom prst="roundRect">
            <a:avLst>
              <a:gd name="adj" fmla="val 26000"/>
            </a:avLst>
          </a:prstGeom>
          <a:solidFill>
            <a:srgbClr val="EFE8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5383530"/>
            <a:ext cx="475488" cy="475488"/>
          </a:xfrm>
          <a:prstGeom prst="rect">
            <a:avLst/>
          </a:prstGeom>
          <a:noFill/>
        </p:spPr>
        <p:txBody>
          <a:bodyPr wrap="square" lIns="0" rIns="0" tIns="0" bIns="0" anchor="ctr"/>
          <a:lstStyle/>
          <a:p>
            <a:pPr algn="ctr">
              <a:lnSpc>
                <a:spcPct val="112000"/>
              </a:lnSpc>
              <a:spcBef>
                <a:spcPts val="0"/>
              </a:spcBef>
              <a:spcAft>
                <a:spcPts val="0"/>
              </a:spcAft>
            </a:pPr>
            <a:r>
              <a:rPr sz="1500" b="1">
                <a:solidFill>
                  <a:srgbClr val="8B5CF6"/>
                </a:solidFill>
                <a:latin typeface="Arial"/>
                <a:ea typeface="PingFang SC"/>
              </a:rPr>
              <a:t>02</a:t>
            </a:r>
          </a:p>
        </p:txBody>
      </p:sp>
      <p:sp>
        <p:nvSpPr>
          <p:cNvPr id="31" name="TextBox 30"/>
          <p:cNvSpPr txBox="1"/>
          <p:nvPr/>
        </p:nvSpPr>
        <p:spPr>
          <a:xfrm>
            <a:off x="1389888" y="5353812"/>
            <a:ext cx="10149840" cy="329184"/>
          </a:xfrm>
          <a:prstGeom prst="rect">
            <a:avLst/>
          </a:prstGeom>
          <a:noFill/>
        </p:spPr>
        <p:txBody>
          <a:bodyPr wrap="square" lIns="0" rIns="0" tIns="0" bIns="0" anchor="t"/>
          <a:lstStyle/>
          <a:p>
            <a:pPr algn="l">
              <a:lnSpc>
                <a:spcPct val="112000"/>
              </a:lnSpc>
              <a:spcBef>
                <a:spcPts val="0"/>
              </a:spcBef>
              <a:spcAft>
                <a:spcPts val="0"/>
              </a:spcAft>
            </a:pPr>
            <a:r>
              <a:rPr sz="1600" b="1">
                <a:solidFill>
                  <a:srgbClr val="0F172A"/>
                </a:solidFill>
                <a:latin typeface="Arial"/>
                <a:ea typeface="PingFang SC"/>
              </a:rPr>
              <a:t>下一步研究</a:t>
            </a:r>
          </a:p>
        </p:txBody>
      </p:sp>
      <p:sp>
        <p:nvSpPr>
          <p:cNvPr id="32" name="TextBox 31"/>
          <p:cNvSpPr txBox="1"/>
          <p:nvPr/>
        </p:nvSpPr>
        <p:spPr>
          <a:xfrm>
            <a:off x="1389888" y="5719572"/>
            <a:ext cx="10149840" cy="187451"/>
          </a:xfrm>
          <a:prstGeom prst="rect">
            <a:avLst/>
          </a:prstGeom>
          <a:noFill/>
        </p:spPr>
        <p:txBody>
          <a:bodyPr wrap="square" lIns="0" rIns="0" tIns="0" bIns="0" anchor="t"/>
          <a:lstStyle/>
          <a:p>
            <a:pPr algn="l">
              <a:lnSpc>
                <a:spcPct val="124000"/>
              </a:lnSpc>
              <a:spcBef>
                <a:spcPts val="0"/>
              </a:spcBef>
              <a:spcAft>
                <a:spcPts val="0"/>
              </a:spcAft>
            </a:pPr>
            <a:r>
              <a:rPr sz="1300" b="0">
                <a:solidFill>
                  <a:srgbClr val="475569"/>
                </a:solidFill>
                <a:latin typeface="Arial"/>
                <a:ea typeface="PingFang SC"/>
              </a:rPr>
              <a:t>可加入价格、续航、事故安全、回收和区域电力结构，构建多指标技术评价。</a:t>
            </a:r>
          </a:p>
        </p:txBody>
      </p:sp>
      <p:sp>
        <p:nvSpPr>
          <p:cNvPr id="33" name="Rectangle 32"/>
          <p:cNvSpPr/>
          <p:nvPr/>
        </p:nvSpPr>
        <p:spPr>
          <a:xfrm>
            <a:off x="502920" y="6199632"/>
            <a:ext cx="11173968" cy="1097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291072"/>
            <a:ext cx="8961120" cy="256032"/>
          </a:xfrm>
          <a:prstGeom prst="rect">
            <a:avLst/>
          </a:prstGeom>
          <a:noFill/>
        </p:spPr>
        <p:txBody>
          <a:bodyPr wrap="square" lIns="0" rIns="0" tIns="0" bIns="0" anchor="ctr"/>
          <a:lstStyle/>
          <a:p>
            <a:pPr algn="l">
              <a:lnSpc>
                <a:spcPct val="112000"/>
              </a:lnSpc>
              <a:spcBef>
                <a:spcPts val="0"/>
              </a:spcBef>
              <a:spcAft>
                <a:spcPts val="0"/>
              </a:spcAft>
            </a:pPr>
            <a:r>
              <a:rPr sz="1000" b="0">
                <a:solidFill>
                  <a:srgbClr val="94A3B8"/>
                </a:solidFill>
                <a:latin typeface="Arial"/>
                <a:ea typeface="PingFang SC"/>
              </a:rPr>
              <a:t>个人作品集项目 · 数据截止 2025.12 · 公开统计整理</a:t>
            </a:r>
          </a:p>
        </p:txBody>
      </p:sp>
      <p:sp>
        <p:nvSpPr>
          <p:cNvPr id="35" name="TextBox 34"/>
          <p:cNvSpPr txBox="1"/>
          <p:nvPr/>
        </p:nvSpPr>
        <p:spPr>
          <a:xfrm>
            <a:off x="10561320" y="6291072"/>
            <a:ext cx="1115568" cy="256032"/>
          </a:xfrm>
          <a:prstGeom prst="rect">
            <a:avLst/>
          </a:prstGeom>
          <a:noFill/>
        </p:spPr>
        <p:txBody>
          <a:bodyPr wrap="square" lIns="0" rIns="0" tIns="0" bIns="0" anchor="ctr"/>
          <a:lstStyle/>
          <a:p>
            <a:pPr algn="r">
              <a:lnSpc>
                <a:spcPct val="112000"/>
              </a:lnSpc>
              <a:spcBef>
                <a:spcPts val="0"/>
              </a:spcBef>
              <a:spcAft>
                <a:spcPts val="0"/>
              </a:spcAft>
            </a:pPr>
            <a:r>
              <a:rPr sz="1000" b="0">
                <a:solidFill>
                  <a:srgbClr val="94A3B8"/>
                </a:solidFill>
                <a:latin typeface="Arial"/>
                <a:ea typeface="PingFang SC"/>
              </a:rPr>
              <a:t>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4008"/>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73968" cy="219456"/>
          </a:xfrm>
          <a:prstGeom prst="rect">
            <a:avLst/>
          </a:prstGeom>
          <a:noFill/>
        </p:spPr>
        <p:txBody>
          <a:bodyPr wrap="square" lIns="0" rIns="0" tIns="0" bIns="0" anchor="t"/>
          <a:lstStyle/>
          <a:p>
            <a:pPr algn="l">
              <a:lnSpc>
                <a:spcPct val="112000"/>
              </a:lnSpc>
              <a:spcBef>
                <a:spcPts val="0"/>
              </a:spcBef>
              <a:spcAft>
                <a:spcPts val="0"/>
              </a:spcAft>
            </a:pPr>
            <a:r>
              <a:rPr sz="1000" b="1">
                <a:solidFill>
                  <a:srgbClr val="0284C7"/>
                </a:solidFill>
                <a:latin typeface="Arial"/>
                <a:ea typeface="PingFang SC"/>
              </a:rPr>
              <a:t>03  FINDINGS</a:t>
            </a:r>
          </a:p>
        </p:txBody>
      </p:sp>
      <p:sp>
        <p:nvSpPr>
          <p:cNvPr id="4" name="TextBox 3"/>
          <p:cNvSpPr txBox="1"/>
          <p:nvPr/>
        </p:nvSpPr>
        <p:spPr>
          <a:xfrm>
            <a:off x="502920" y="347472"/>
            <a:ext cx="11173968" cy="713232"/>
          </a:xfrm>
          <a:prstGeom prst="rect">
            <a:avLst/>
          </a:prstGeom>
          <a:noFill/>
        </p:spPr>
        <p:txBody>
          <a:bodyPr wrap="square" lIns="0" rIns="0" tIns="0" bIns="0" anchor="b"/>
          <a:lstStyle/>
          <a:p>
            <a:pPr algn="l">
              <a:lnSpc>
                <a:spcPct val="105000"/>
              </a:lnSpc>
              <a:spcBef>
                <a:spcPts val="0"/>
              </a:spcBef>
              <a:spcAft>
                <a:spcPts val="0"/>
              </a:spcAft>
            </a:pPr>
            <a:r>
              <a:rPr sz="1800" b="1">
                <a:solidFill>
                  <a:srgbClr val="0F172A"/>
                </a:solidFill>
                <a:latin typeface="Arial"/>
                <a:ea typeface="PingFang SC"/>
              </a:rPr>
              <a:t>新能源出口和情景减排共同说明：产业竞争力正在从销量延伸到系统影响</a:t>
            </a:r>
          </a:p>
        </p:txBody>
      </p:sp>
      <p:sp>
        <p:nvSpPr>
          <p:cNvPr id="5" name="Rectangle 4"/>
          <p:cNvSpPr/>
          <p:nvPr/>
        </p:nvSpPr>
        <p:spPr>
          <a:xfrm>
            <a:off x="502920" y="1115568"/>
            <a:ext cx="1051560" cy="32004"/>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54480" y="1124712"/>
            <a:ext cx="1012240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642616"/>
            <a:ext cx="11173968" cy="36576"/>
          </a:xfrm>
          <a:prstGeom prst="rect">
            <a:avLst/>
          </a:prstGeom>
          <a:gradFill rotWithShape="1">
            <a:gsLst>
              <a:gs pos="0">
                <a:srgbClr val="0284C7"/>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57784" y="2075688"/>
            <a:ext cx="2011680" cy="384048"/>
          </a:xfrm>
          <a:prstGeom prst="roundRect">
            <a:avLst>
              <a:gd name="adj" fmla="val 40000"/>
            </a:avLst>
          </a:prstGeom>
          <a:solidFill>
            <a:srgbClr val="DCE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75688"/>
            <a:ext cx="1828800" cy="384048"/>
          </a:xfrm>
          <a:prstGeom prst="rect">
            <a:avLst/>
          </a:prstGeom>
          <a:noFill/>
        </p:spPr>
        <p:txBody>
          <a:bodyPr wrap="square" lIns="0" rIns="0" tIns="0" bIns="0" anchor="ctr"/>
          <a:lstStyle/>
          <a:p>
            <a:pPr algn="l">
              <a:lnSpc>
                <a:spcPct val="112000"/>
              </a:lnSpc>
              <a:spcBef>
                <a:spcPts val="0"/>
              </a:spcBef>
              <a:spcAft>
                <a:spcPts val="0"/>
              </a:spcAft>
            </a:pPr>
            <a:r>
              <a:rPr sz="1100" b="1">
                <a:solidFill>
                  <a:srgbClr val="0284C7"/>
                </a:solidFill>
                <a:latin typeface="Arial"/>
                <a:ea typeface="PingFang SC"/>
              </a:rPr>
              <a:t>2020</a:t>
            </a:r>
          </a:p>
        </p:txBody>
      </p:sp>
      <p:sp>
        <p:nvSpPr>
          <p:cNvPr id="10" name="Oval 9"/>
          <p:cNvSpPr/>
          <p:nvPr/>
        </p:nvSpPr>
        <p:spPr>
          <a:xfrm>
            <a:off x="1789938" y="2569464"/>
            <a:ext cx="219456" cy="219456"/>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935224"/>
            <a:ext cx="2610612" cy="1746504"/>
          </a:xfrm>
          <a:prstGeom prst="roundRect">
            <a:avLst>
              <a:gd name="adj" fmla="val 8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081528"/>
            <a:ext cx="2281428" cy="457200"/>
          </a:xfrm>
          <a:prstGeom prst="rect">
            <a:avLst/>
          </a:prstGeom>
          <a:noFill/>
        </p:spPr>
        <p:txBody>
          <a:bodyPr wrap="square" lIns="0" rIns="0" tIns="0" bIns="0" anchor="t"/>
          <a:lstStyle/>
          <a:p>
            <a:pPr algn="l">
              <a:lnSpc>
                <a:spcPct val="108000"/>
              </a:lnSpc>
              <a:spcBef>
                <a:spcPts val="0"/>
              </a:spcBef>
              <a:spcAft>
                <a:spcPts val="0"/>
              </a:spcAft>
            </a:pPr>
            <a:r>
              <a:rPr sz="1400" b="1">
                <a:solidFill>
                  <a:srgbClr val="0F172A"/>
                </a:solidFill>
                <a:latin typeface="Arial"/>
                <a:ea typeface="PingFang SC"/>
              </a:rPr>
              <a:t>出口仍是小规模补充</a:t>
            </a:r>
          </a:p>
        </p:txBody>
      </p:sp>
      <p:sp>
        <p:nvSpPr>
          <p:cNvPr id="13" name="TextBox 12"/>
          <p:cNvSpPr txBox="1"/>
          <p:nvPr/>
        </p:nvSpPr>
        <p:spPr>
          <a:xfrm>
            <a:off x="758952" y="3575304"/>
            <a:ext cx="2281428" cy="777240"/>
          </a:xfrm>
          <a:prstGeom prst="rect">
            <a:avLst/>
          </a:prstGeom>
          <a:noFill/>
        </p:spPr>
        <p:txBody>
          <a:bodyPr wrap="square" lIns="0" rIns="0" tIns="0" bIns="0" anchor="t"/>
          <a:lstStyle/>
          <a:p>
            <a:pPr algn="l">
              <a:lnSpc>
                <a:spcPct val="122000"/>
              </a:lnSpc>
              <a:spcBef>
                <a:spcPts val="0"/>
              </a:spcBef>
              <a:spcAft>
                <a:spcPts val="0"/>
              </a:spcAft>
            </a:pPr>
            <a:r>
              <a:rPr sz="1100" b="0">
                <a:solidFill>
                  <a:srgbClr val="475569"/>
                </a:solidFill>
                <a:latin typeface="Arial"/>
                <a:ea typeface="PingFang SC"/>
              </a:rPr>
              <a:t>新能源汽车出口 7.0 万辆，占汽车出口 7.0%，全球化仍处于早期阶段。</a:t>
            </a:r>
          </a:p>
        </p:txBody>
      </p:sp>
      <p:sp>
        <p:nvSpPr>
          <p:cNvPr id="14" name="TextBox 13"/>
          <p:cNvSpPr txBox="1"/>
          <p:nvPr/>
        </p:nvSpPr>
        <p:spPr>
          <a:xfrm>
            <a:off x="758952" y="4261104"/>
            <a:ext cx="2281428" cy="292608"/>
          </a:xfrm>
          <a:prstGeom prst="rect">
            <a:avLst/>
          </a:prstGeom>
          <a:noFill/>
        </p:spPr>
        <p:txBody>
          <a:bodyPr wrap="square" lIns="0" rIns="0" tIns="0" bIns="0" anchor="t"/>
          <a:lstStyle/>
          <a:p>
            <a:pPr algn="l">
              <a:lnSpc>
                <a:spcPct val="112000"/>
              </a:lnSpc>
              <a:spcBef>
                <a:spcPts val="0"/>
              </a:spcBef>
              <a:spcAft>
                <a:spcPts val="0"/>
              </a:spcAft>
            </a:pPr>
            <a:r>
              <a:rPr sz="1100" b="1">
                <a:solidFill>
                  <a:srgbClr val="0284C7"/>
                </a:solidFill>
                <a:latin typeface="Arial"/>
                <a:ea typeface="PingFang SC"/>
              </a:rPr>
              <a:t>7.0 万辆</a:t>
            </a:r>
          </a:p>
        </p:txBody>
      </p:sp>
      <p:sp>
        <p:nvSpPr>
          <p:cNvPr id="15" name="Rounded Rectangle 14"/>
          <p:cNvSpPr/>
          <p:nvPr/>
        </p:nvSpPr>
        <p:spPr>
          <a:xfrm>
            <a:off x="3351276" y="2075688"/>
            <a:ext cx="2011680" cy="384048"/>
          </a:xfrm>
          <a:prstGeom prst="roundRect">
            <a:avLst>
              <a:gd name="adj" fmla="val 40000"/>
            </a:avLst>
          </a:prstGeom>
          <a:solidFill>
            <a:srgbClr val="EFE8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9292" y="2075688"/>
            <a:ext cx="1828800" cy="384048"/>
          </a:xfrm>
          <a:prstGeom prst="rect">
            <a:avLst/>
          </a:prstGeom>
          <a:noFill/>
        </p:spPr>
        <p:txBody>
          <a:bodyPr wrap="square" lIns="0" rIns="0" tIns="0" bIns="0" anchor="ctr"/>
          <a:lstStyle/>
          <a:p>
            <a:pPr algn="l">
              <a:lnSpc>
                <a:spcPct val="112000"/>
              </a:lnSpc>
              <a:spcBef>
                <a:spcPts val="0"/>
              </a:spcBef>
              <a:spcAft>
                <a:spcPts val="0"/>
              </a:spcAft>
            </a:pPr>
            <a:r>
              <a:rPr sz="1100" b="1">
                <a:solidFill>
                  <a:srgbClr val="8B5CF6"/>
                </a:solidFill>
                <a:latin typeface="Arial"/>
                <a:ea typeface="PingFang SC"/>
              </a:rPr>
              <a:t>2021—2023</a:t>
            </a:r>
          </a:p>
        </p:txBody>
      </p:sp>
      <p:sp>
        <p:nvSpPr>
          <p:cNvPr id="17" name="Oval 16"/>
          <p:cNvSpPr/>
          <p:nvPr/>
        </p:nvSpPr>
        <p:spPr>
          <a:xfrm>
            <a:off x="4583430" y="2569464"/>
            <a:ext cx="219456" cy="219456"/>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387852" y="2935224"/>
            <a:ext cx="2610612" cy="1746504"/>
          </a:xfrm>
          <a:prstGeom prst="roundRect">
            <a:avLst>
              <a:gd name="adj" fmla="val 8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2444" y="3081528"/>
            <a:ext cx="2281428" cy="457200"/>
          </a:xfrm>
          <a:prstGeom prst="rect">
            <a:avLst/>
          </a:prstGeom>
          <a:noFill/>
        </p:spPr>
        <p:txBody>
          <a:bodyPr wrap="square" lIns="0" rIns="0" tIns="0" bIns="0" anchor="t"/>
          <a:lstStyle/>
          <a:p>
            <a:pPr algn="l">
              <a:lnSpc>
                <a:spcPct val="108000"/>
              </a:lnSpc>
              <a:spcBef>
                <a:spcPts val="0"/>
              </a:spcBef>
              <a:spcAft>
                <a:spcPts val="0"/>
              </a:spcAft>
            </a:pPr>
            <a:r>
              <a:rPr sz="1400" b="1">
                <a:solidFill>
                  <a:srgbClr val="0F172A"/>
                </a:solidFill>
                <a:latin typeface="Arial"/>
                <a:ea typeface="PingFang SC"/>
              </a:rPr>
              <a:t>出口与产业链同步放大</a:t>
            </a:r>
          </a:p>
        </p:txBody>
      </p:sp>
      <p:sp>
        <p:nvSpPr>
          <p:cNvPr id="20" name="TextBox 19"/>
          <p:cNvSpPr txBox="1"/>
          <p:nvPr/>
        </p:nvSpPr>
        <p:spPr>
          <a:xfrm>
            <a:off x="3552444" y="3575304"/>
            <a:ext cx="2281428" cy="777240"/>
          </a:xfrm>
          <a:prstGeom prst="rect">
            <a:avLst/>
          </a:prstGeom>
          <a:noFill/>
        </p:spPr>
        <p:txBody>
          <a:bodyPr wrap="square" lIns="0" rIns="0" tIns="0" bIns="0" anchor="t"/>
          <a:lstStyle/>
          <a:p>
            <a:pPr algn="l">
              <a:lnSpc>
                <a:spcPct val="122000"/>
              </a:lnSpc>
              <a:spcBef>
                <a:spcPts val="0"/>
              </a:spcBef>
              <a:spcAft>
                <a:spcPts val="0"/>
              </a:spcAft>
            </a:pPr>
            <a:r>
              <a:rPr sz="1100" b="0">
                <a:solidFill>
                  <a:srgbClr val="475569"/>
                </a:solidFill>
                <a:latin typeface="Arial"/>
                <a:ea typeface="PingFang SC"/>
              </a:rPr>
              <a:t>出口量由 31.0 万辆增至 120.3 万辆，新能源逐步成为汽车出口增量来源。</a:t>
            </a:r>
          </a:p>
        </p:txBody>
      </p:sp>
      <p:sp>
        <p:nvSpPr>
          <p:cNvPr id="21" name="TextBox 20"/>
          <p:cNvSpPr txBox="1"/>
          <p:nvPr/>
        </p:nvSpPr>
        <p:spPr>
          <a:xfrm>
            <a:off x="3552444" y="4261104"/>
            <a:ext cx="2281428" cy="292608"/>
          </a:xfrm>
          <a:prstGeom prst="rect">
            <a:avLst/>
          </a:prstGeom>
          <a:noFill/>
        </p:spPr>
        <p:txBody>
          <a:bodyPr wrap="square" lIns="0" rIns="0" tIns="0" bIns="0" anchor="t"/>
          <a:lstStyle/>
          <a:p>
            <a:pPr algn="l">
              <a:lnSpc>
                <a:spcPct val="112000"/>
              </a:lnSpc>
              <a:spcBef>
                <a:spcPts val="0"/>
              </a:spcBef>
              <a:spcAft>
                <a:spcPts val="0"/>
              </a:spcAft>
            </a:pPr>
            <a:r>
              <a:rPr sz="1100" b="1">
                <a:solidFill>
                  <a:srgbClr val="8B5CF6"/>
                </a:solidFill>
                <a:latin typeface="Arial"/>
                <a:ea typeface="PingFang SC"/>
              </a:rPr>
              <a:t>占比 24.5%</a:t>
            </a:r>
          </a:p>
        </p:txBody>
      </p:sp>
      <p:sp>
        <p:nvSpPr>
          <p:cNvPr id="22" name="Rounded Rectangle 21"/>
          <p:cNvSpPr/>
          <p:nvPr/>
        </p:nvSpPr>
        <p:spPr>
          <a:xfrm>
            <a:off x="6144768" y="2075688"/>
            <a:ext cx="2011680" cy="384048"/>
          </a:xfrm>
          <a:prstGeom prst="roundRect">
            <a:avLst>
              <a:gd name="adj" fmla="val 40000"/>
            </a:avLst>
          </a:prstGeom>
          <a:solidFill>
            <a:srgbClr val="DE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72784" y="2075688"/>
            <a:ext cx="1828800" cy="384048"/>
          </a:xfrm>
          <a:prstGeom prst="rect">
            <a:avLst/>
          </a:prstGeom>
          <a:noFill/>
        </p:spPr>
        <p:txBody>
          <a:bodyPr wrap="square" lIns="0" rIns="0" tIns="0" bIns="0" anchor="ctr"/>
          <a:lstStyle/>
          <a:p>
            <a:pPr algn="l">
              <a:lnSpc>
                <a:spcPct val="112000"/>
              </a:lnSpc>
              <a:spcBef>
                <a:spcPts val="0"/>
              </a:spcBef>
              <a:spcAft>
                <a:spcPts val="0"/>
              </a:spcAft>
            </a:pPr>
            <a:r>
              <a:rPr sz="1100" b="1">
                <a:solidFill>
                  <a:srgbClr val="10B981"/>
                </a:solidFill>
                <a:latin typeface="Arial"/>
                <a:ea typeface="PingFang SC"/>
              </a:rPr>
              <a:t>2024—2025</a:t>
            </a:r>
          </a:p>
        </p:txBody>
      </p:sp>
      <p:sp>
        <p:nvSpPr>
          <p:cNvPr id="24" name="Oval 23"/>
          <p:cNvSpPr/>
          <p:nvPr/>
        </p:nvSpPr>
        <p:spPr>
          <a:xfrm>
            <a:off x="7376922" y="2569464"/>
            <a:ext cx="219456" cy="21945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81344" y="2935224"/>
            <a:ext cx="2610612" cy="1746504"/>
          </a:xfrm>
          <a:prstGeom prst="roundRect">
            <a:avLst>
              <a:gd name="adj" fmla="val 8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45936" y="3081528"/>
            <a:ext cx="2281428" cy="457200"/>
          </a:xfrm>
          <a:prstGeom prst="rect">
            <a:avLst/>
          </a:prstGeom>
          <a:noFill/>
        </p:spPr>
        <p:txBody>
          <a:bodyPr wrap="square" lIns="0" rIns="0" tIns="0" bIns="0" anchor="t"/>
          <a:lstStyle/>
          <a:p>
            <a:pPr algn="l">
              <a:lnSpc>
                <a:spcPct val="108000"/>
              </a:lnSpc>
              <a:spcBef>
                <a:spcPts val="0"/>
              </a:spcBef>
              <a:spcAft>
                <a:spcPts val="0"/>
              </a:spcAft>
            </a:pPr>
            <a:r>
              <a:rPr sz="1400" b="1">
                <a:solidFill>
                  <a:srgbClr val="0F172A"/>
                </a:solidFill>
                <a:latin typeface="Arial"/>
                <a:ea typeface="PingFang SC"/>
              </a:rPr>
              <a:t>新能源成为核心引擎</a:t>
            </a:r>
          </a:p>
        </p:txBody>
      </p:sp>
      <p:sp>
        <p:nvSpPr>
          <p:cNvPr id="27" name="TextBox 26"/>
          <p:cNvSpPr txBox="1"/>
          <p:nvPr/>
        </p:nvSpPr>
        <p:spPr>
          <a:xfrm>
            <a:off x="6345936" y="3575304"/>
            <a:ext cx="2281428" cy="777240"/>
          </a:xfrm>
          <a:prstGeom prst="rect">
            <a:avLst/>
          </a:prstGeom>
          <a:noFill/>
        </p:spPr>
        <p:txBody>
          <a:bodyPr wrap="square" lIns="0" rIns="0" tIns="0" bIns="0" anchor="t"/>
          <a:lstStyle/>
          <a:p>
            <a:pPr algn="l">
              <a:lnSpc>
                <a:spcPct val="122000"/>
              </a:lnSpc>
              <a:spcBef>
                <a:spcPts val="0"/>
              </a:spcBef>
              <a:spcAft>
                <a:spcPts val="0"/>
              </a:spcAft>
            </a:pPr>
            <a:r>
              <a:rPr sz="1100" b="0">
                <a:solidFill>
                  <a:srgbClr val="475569"/>
                </a:solidFill>
                <a:latin typeface="Arial"/>
                <a:ea typeface="PingFang SC"/>
              </a:rPr>
              <a:t>2025 年新能源汽车出口 261.5 万辆，占汽车出口 36.8%，同比增长 103.7%。</a:t>
            </a:r>
          </a:p>
        </p:txBody>
      </p:sp>
      <p:sp>
        <p:nvSpPr>
          <p:cNvPr id="28" name="TextBox 27"/>
          <p:cNvSpPr txBox="1"/>
          <p:nvPr/>
        </p:nvSpPr>
        <p:spPr>
          <a:xfrm>
            <a:off x="6345936" y="4261104"/>
            <a:ext cx="2281428" cy="292608"/>
          </a:xfrm>
          <a:prstGeom prst="rect">
            <a:avLst/>
          </a:prstGeom>
          <a:noFill/>
        </p:spPr>
        <p:txBody>
          <a:bodyPr wrap="square" lIns="0" rIns="0" tIns="0" bIns="0" anchor="t"/>
          <a:lstStyle/>
          <a:p>
            <a:pPr algn="l">
              <a:lnSpc>
                <a:spcPct val="112000"/>
              </a:lnSpc>
              <a:spcBef>
                <a:spcPts val="0"/>
              </a:spcBef>
              <a:spcAft>
                <a:spcPts val="0"/>
              </a:spcAft>
            </a:pPr>
            <a:r>
              <a:rPr sz="1100" b="1">
                <a:solidFill>
                  <a:srgbClr val="10B981"/>
                </a:solidFill>
                <a:latin typeface="Arial"/>
                <a:ea typeface="PingFang SC"/>
              </a:rPr>
              <a:t>同比 +103.7%</a:t>
            </a:r>
          </a:p>
        </p:txBody>
      </p:sp>
      <p:sp>
        <p:nvSpPr>
          <p:cNvPr id="29" name="Rounded Rectangle 28"/>
          <p:cNvSpPr/>
          <p:nvPr/>
        </p:nvSpPr>
        <p:spPr>
          <a:xfrm>
            <a:off x="8938260" y="2075688"/>
            <a:ext cx="2011680" cy="384048"/>
          </a:xfrm>
          <a:prstGeom prst="roundRect">
            <a:avLst>
              <a:gd name="adj" fmla="val 40000"/>
            </a:avLst>
          </a:prstGeom>
          <a:solidFill>
            <a:srgbClr val="FE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66276" y="2075688"/>
            <a:ext cx="1828800" cy="384048"/>
          </a:xfrm>
          <a:prstGeom prst="rect">
            <a:avLst/>
          </a:prstGeom>
          <a:noFill/>
        </p:spPr>
        <p:txBody>
          <a:bodyPr wrap="square" lIns="0" rIns="0" tIns="0" bIns="0" anchor="ctr"/>
          <a:lstStyle/>
          <a:p>
            <a:pPr algn="l">
              <a:lnSpc>
                <a:spcPct val="112000"/>
              </a:lnSpc>
              <a:spcBef>
                <a:spcPts val="0"/>
              </a:spcBef>
              <a:spcAft>
                <a:spcPts val="0"/>
              </a:spcAft>
            </a:pPr>
            <a:r>
              <a:rPr sz="1100" b="1">
                <a:solidFill>
                  <a:srgbClr val="F59E0B"/>
                </a:solidFill>
                <a:latin typeface="Arial"/>
                <a:ea typeface="PingFang SC"/>
              </a:rPr>
              <a:t>情景估算</a:t>
            </a:r>
          </a:p>
        </p:txBody>
      </p:sp>
      <p:sp>
        <p:nvSpPr>
          <p:cNvPr id="31" name="Oval 30"/>
          <p:cNvSpPr/>
          <p:nvPr/>
        </p:nvSpPr>
        <p:spPr>
          <a:xfrm>
            <a:off x="10170414" y="2569464"/>
            <a:ext cx="219456" cy="21945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974836" y="2935224"/>
            <a:ext cx="2610612" cy="1746504"/>
          </a:xfrm>
          <a:prstGeom prst="roundRect">
            <a:avLst>
              <a:gd name="adj" fmla="val 8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39428" y="3081528"/>
            <a:ext cx="2281428" cy="457200"/>
          </a:xfrm>
          <a:prstGeom prst="rect">
            <a:avLst/>
          </a:prstGeom>
          <a:noFill/>
        </p:spPr>
        <p:txBody>
          <a:bodyPr wrap="square" lIns="0" rIns="0" tIns="0" bIns="0" anchor="t"/>
          <a:lstStyle/>
          <a:p>
            <a:pPr algn="l">
              <a:lnSpc>
                <a:spcPct val="108000"/>
              </a:lnSpc>
              <a:spcBef>
                <a:spcPts val="0"/>
              </a:spcBef>
              <a:spcAft>
                <a:spcPts val="0"/>
              </a:spcAft>
            </a:pPr>
            <a:r>
              <a:rPr sz="1400" b="1">
                <a:solidFill>
                  <a:srgbClr val="0F172A"/>
                </a:solidFill>
                <a:latin typeface="Arial"/>
                <a:ea typeface="PingFang SC"/>
              </a:rPr>
              <a:t>低碳价值需要透明假设</a:t>
            </a:r>
          </a:p>
        </p:txBody>
      </p:sp>
      <p:sp>
        <p:nvSpPr>
          <p:cNvPr id="34" name="TextBox 33"/>
          <p:cNvSpPr txBox="1"/>
          <p:nvPr/>
        </p:nvSpPr>
        <p:spPr>
          <a:xfrm>
            <a:off x="9139428" y="3575304"/>
            <a:ext cx="2281428" cy="777240"/>
          </a:xfrm>
          <a:prstGeom prst="rect">
            <a:avLst/>
          </a:prstGeom>
          <a:noFill/>
        </p:spPr>
        <p:txBody>
          <a:bodyPr wrap="square" lIns="0" rIns="0" tIns="0" bIns="0" anchor="t"/>
          <a:lstStyle/>
          <a:p>
            <a:pPr algn="l">
              <a:lnSpc>
                <a:spcPct val="122000"/>
              </a:lnSpc>
              <a:spcBef>
                <a:spcPts val="0"/>
              </a:spcBef>
              <a:spcAft>
                <a:spcPts val="0"/>
              </a:spcAft>
            </a:pPr>
            <a:r>
              <a:rPr sz="1100" b="0">
                <a:solidFill>
                  <a:srgbClr val="475569"/>
                </a:solidFill>
                <a:latin typeface="Arial"/>
                <a:ea typeface="PingFang SC"/>
              </a:rPr>
              <a:t>按 1.5 吨 CO₂/车·年的中值系数，2025 年年度减碳约 0.66 亿吨，累计约 1.97 亿吨。</a:t>
            </a:r>
          </a:p>
        </p:txBody>
      </p:sp>
      <p:sp>
        <p:nvSpPr>
          <p:cNvPr id="35" name="TextBox 34"/>
          <p:cNvSpPr txBox="1"/>
          <p:nvPr/>
        </p:nvSpPr>
        <p:spPr>
          <a:xfrm>
            <a:off x="9139428" y="4261104"/>
            <a:ext cx="2281428" cy="292608"/>
          </a:xfrm>
          <a:prstGeom prst="rect">
            <a:avLst/>
          </a:prstGeom>
          <a:noFill/>
        </p:spPr>
        <p:txBody>
          <a:bodyPr wrap="square" lIns="0" rIns="0" tIns="0" bIns="0" anchor="t"/>
          <a:lstStyle/>
          <a:p>
            <a:pPr algn="l">
              <a:lnSpc>
                <a:spcPct val="112000"/>
              </a:lnSpc>
              <a:spcBef>
                <a:spcPts val="0"/>
              </a:spcBef>
              <a:spcAft>
                <a:spcPts val="0"/>
              </a:spcAft>
            </a:pPr>
            <a:r>
              <a:rPr sz="1100" b="1">
                <a:solidFill>
                  <a:srgbClr val="F59E0B"/>
                </a:solidFill>
                <a:latin typeface="Arial"/>
                <a:ea typeface="PingFang SC"/>
              </a:rPr>
              <a:t>估算，不是官方值</a:t>
            </a:r>
          </a:p>
        </p:txBody>
      </p:sp>
      <p:sp>
        <p:nvSpPr>
          <p:cNvPr id="36" name="Rectangle 35"/>
          <p:cNvSpPr/>
          <p:nvPr/>
        </p:nvSpPr>
        <p:spPr>
          <a:xfrm>
            <a:off x="502920" y="6199632"/>
            <a:ext cx="11173968" cy="1097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291072"/>
            <a:ext cx="8961120" cy="256032"/>
          </a:xfrm>
          <a:prstGeom prst="rect">
            <a:avLst/>
          </a:prstGeom>
          <a:noFill/>
        </p:spPr>
        <p:txBody>
          <a:bodyPr wrap="square" lIns="0" rIns="0" tIns="0" bIns="0" anchor="ctr"/>
          <a:lstStyle/>
          <a:p>
            <a:pPr algn="l">
              <a:lnSpc>
                <a:spcPct val="112000"/>
              </a:lnSpc>
              <a:spcBef>
                <a:spcPts val="0"/>
              </a:spcBef>
              <a:spcAft>
                <a:spcPts val="0"/>
              </a:spcAft>
            </a:pPr>
            <a:r>
              <a:rPr sz="1000" b="0">
                <a:solidFill>
                  <a:srgbClr val="94A3B8"/>
                </a:solidFill>
                <a:latin typeface="Arial"/>
                <a:ea typeface="PingFang SC"/>
              </a:rPr>
              <a:t>个人作品集项目 · 数据截止 2025.12 · 公开统计整理</a:t>
            </a:r>
          </a:p>
        </p:txBody>
      </p:sp>
      <p:sp>
        <p:nvSpPr>
          <p:cNvPr id="38" name="TextBox 37"/>
          <p:cNvSpPr txBox="1"/>
          <p:nvPr/>
        </p:nvSpPr>
        <p:spPr>
          <a:xfrm>
            <a:off x="10561320" y="6291072"/>
            <a:ext cx="1115568" cy="256032"/>
          </a:xfrm>
          <a:prstGeom prst="rect">
            <a:avLst/>
          </a:prstGeom>
          <a:noFill/>
        </p:spPr>
        <p:txBody>
          <a:bodyPr wrap="square" lIns="0" rIns="0" tIns="0" bIns="0" anchor="ctr"/>
          <a:lstStyle/>
          <a:p>
            <a:pPr algn="r">
              <a:lnSpc>
                <a:spcPct val="112000"/>
              </a:lnSpc>
              <a:spcBef>
                <a:spcPts val="0"/>
              </a:spcBef>
              <a:spcAft>
                <a:spcPts val="0"/>
              </a:spcAft>
            </a:pPr>
            <a:r>
              <a:rPr sz="1000" b="0">
                <a:solidFill>
                  <a:srgbClr val="94A3B8"/>
                </a:solidFill>
                <a:latin typeface="Arial"/>
                <a:ea typeface="PingFang SC"/>
              </a:rPr>
              <a:t>11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gradFill rotWithShape="1">
            <a:gsLst>
              <a:gs pos="0">
                <a:srgbClr val="080F1F"/>
              </a:gs>
              <a:gs pos="100000">
                <a:srgbClr val="1E293B"/>
              </a:gs>
            </a:gsLst>
            <a:lin scaled="0" ang="189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49640" y="1234440"/>
            <a:ext cx="4389120" cy="4389120"/>
          </a:xfrm>
          <a:prstGeom prst="ellipse">
            <a:avLst/>
          </a:prstGeom>
          <a:noFill/>
          <a:ln w="12700">
            <a:solidFill>
              <a:srgbClr val="2655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46920" y="2331720"/>
            <a:ext cx="2194560" cy="2194560"/>
          </a:xfrm>
          <a:prstGeom prst="ellipse">
            <a:avLst/>
          </a:prstGeom>
          <a:noFill/>
          <a:ln w="12700">
            <a:solidFill>
              <a:srgbClr val="433A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 cy="6858000"/>
          </a:xfrm>
          <a:prstGeom prst="rect">
            <a:avLst/>
          </a:prstGeom>
          <a:gradFill rotWithShape="1">
            <a:gsLst>
              <a:gs pos="0">
                <a:srgbClr val="0284C7"/>
              </a:gs>
              <a:gs pos="100000">
                <a:srgbClr val="8B5CF6"/>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234440"/>
            <a:ext cx="9692640" cy="1554480"/>
          </a:xfrm>
          <a:prstGeom prst="rect">
            <a:avLst/>
          </a:prstGeom>
          <a:noFill/>
        </p:spPr>
        <p:txBody>
          <a:bodyPr wrap="square" lIns="0" rIns="0" tIns="0" bIns="0" anchor="t"/>
          <a:lstStyle/>
          <a:p>
            <a:pPr algn="l">
              <a:lnSpc>
                <a:spcPct val="112000"/>
              </a:lnSpc>
              <a:spcBef>
                <a:spcPts val="0"/>
              </a:spcBef>
              <a:spcAft>
                <a:spcPts val="0"/>
              </a:spcAft>
            </a:pPr>
            <a:r>
              <a:rPr sz="10400" b="1">
                <a:solidFill>
                  <a:srgbClr val="2C7AA3"/>
                </a:solidFill>
                <a:latin typeface="Arial"/>
                <a:ea typeface="PingFang SC"/>
              </a:rPr>
              <a:t>04</a:t>
            </a:r>
          </a:p>
        </p:txBody>
      </p:sp>
      <p:sp>
        <p:nvSpPr>
          <p:cNvPr id="7" name="Rectangle 6"/>
          <p:cNvSpPr/>
          <p:nvPr/>
        </p:nvSpPr>
        <p:spPr>
          <a:xfrm>
            <a:off x="658368" y="2926080"/>
            <a:ext cx="1463040" cy="45720"/>
          </a:xfrm>
          <a:prstGeom prst="rect">
            <a:avLst/>
          </a:prstGeom>
          <a:gradFill rotWithShape="1">
            <a:gsLst>
              <a:gs pos="0">
                <a:srgbClr val="38BDF8"/>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182112"/>
            <a:ext cx="9692640" cy="1188720"/>
          </a:xfrm>
          <a:prstGeom prst="rect">
            <a:avLst/>
          </a:prstGeom>
          <a:noFill/>
        </p:spPr>
        <p:txBody>
          <a:bodyPr wrap="square" lIns="0" rIns="0" tIns="0" bIns="0" anchor="t"/>
          <a:lstStyle/>
          <a:p>
            <a:pPr algn="l">
              <a:lnSpc>
                <a:spcPct val="108000"/>
              </a:lnSpc>
              <a:spcBef>
                <a:spcPts val="0"/>
              </a:spcBef>
              <a:spcAft>
                <a:spcPts val="0"/>
              </a:spcAft>
            </a:pPr>
            <a:r>
              <a:rPr sz="3200" b="1">
                <a:solidFill>
                  <a:srgbClr val="FFFFFF"/>
                </a:solidFill>
                <a:latin typeface="Arial"/>
                <a:ea typeface="PingFang SC"/>
              </a:rPr>
              <a:t>反思与延展</a:t>
            </a:r>
          </a:p>
        </p:txBody>
      </p:sp>
      <p:sp>
        <p:nvSpPr>
          <p:cNvPr id="9" name="TextBox 8"/>
          <p:cNvSpPr txBox="1"/>
          <p:nvPr/>
        </p:nvSpPr>
        <p:spPr>
          <a:xfrm>
            <a:off x="658368" y="4526280"/>
            <a:ext cx="8961120" cy="822960"/>
          </a:xfrm>
          <a:prstGeom prst="rect">
            <a:avLst/>
          </a:prstGeom>
          <a:noFill/>
        </p:spPr>
        <p:txBody>
          <a:bodyPr wrap="square" lIns="0" rIns="0" tIns="0" bIns="0" anchor="t"/>
          <a:lstStyle/>
          <a:p>
            <a:pPr algn="l">
              <a:lnSpc>
                <a:spcPct val="122000"/>
              </a:lnSpc>
              <a:spcBef>
                <a:spcPts val="0"/>
              </a:spcBef>
              <a:spcAft>
                <a:spcPts val="0"/>
              </a:spcAft>
            </a:pPr>
            <a:r>
              <a:rPr sz="1600" b="0">
                <a:solidFill>
                  <a:srgbClr val="94A3B8"/>
                </a:solidFill>
                <a:latin typeface="Arial"/>
                <a:ea typeface="PingFang SC"/>
              </a:rPr>
              <a:t>把分析边界变成下一轮研究问题</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gradFill rotWithShape="1">
            <a:gsLst>
              <a:gs pos="0">
                <a:srgbClr val="080F1F"/>
              </a:gs>
              <a:gs pos="100000">
                <a:srgbClr val="1E293B"/>
              </a:gs>
            </a:gsLst>
            <a:lin scaled="0" ang="189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49640" y="1234440"/>
            <a:ext cx="4389120" cy="4389120"/>
          </a:xfrm>
          <a:prstGeom prst="ellipse">
            <a:avLst/>
          </a:prstGeom>
          <a:noFill/>
          <a:ln w="12700">
            <a:solidFill>
              <a:srgbClr val="2655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46920" y="2331720"/>
            <a:ext cx="2194560" cy="2194560"/>
          </a:xfrm>
          <a:prstGeom prst="ellipse">
            <a:avLst/>
          </a:prstGeom>
          <a:noFill/>
          <a:ln w="12700">
            <a:solidFill>
              <a:srgbClr val="433A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 cy="6858000"/>
          </a:xfrm>
          <a:prstGeom prst="rect">
            <a:avLst/>
          </a:prstGeom>
          <a:gradFill rotWithShape="1">
            <a:gsLst>
              <a:gs pos="0">
                <a:srgbClr val="0284C7"/>
              </a:gs>
              <a:gs pos="100000">
                <a:srgbClr val="8B5CF6"/>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566928"/>
            <a:ext cx="4206240" cy="365760"/>
          </a:xfrm>
          <a:prstGeom prst="roundRect">
            <a:avLst>
              <a:gd name="adj" fmla="val 40000"/>
            </a:avLst>
          </a:prstGeom>
          <a:solidFill>
            <a:srgbClr val="0632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566928"/>
            <a:ext cx="3840480" cy="365760"/>
          </a:xfrm>
          <a:prstGeom prst="rect">
            <a:avLst/>
          </a:prstGeom>
          <a:noFill/>
        </p:spPr>
        <p:txBody>
          <a:bodyPr wrap="square" lIns="0" rIns="0" tIns="0" bIns="0" anchor="ctr"/>
          <a:lstStyle/>
          <a:p>
            <a:pPr algn="l">
              <a:lnSpc>
                <a:spcPct val="112000"/>
              </a:lnSpc>
              <a:spcBef>
                <a:spcPts val="0"/>
              </a:spcBef>
              <a:spcAft>
                <a:spcPts val="0"/>
              </a:spcAft>
            </a:pPr>
            <a:r>
              <a:rPr sz="1100" b="1">
                <a:solidFill>
                  <a:srgbClr val="38BDF8"/>
                </a:solidFill>
                <a:latin typeface="Arial"/>
                <a:ea typeface="PingFang SC"/>
              </a:rPr>
              <a:t>REFLECTION · NEXT ITERATION</a:t>
            </a:r>
          </a:p>
        </p:txBody>
      </p:sp>
      <p:sp>
        <p:nvSpPr>
          <p:cNvPr id="8" name="TextBox 7"/>
          <p:cNvSpPr txBox="1"/>
          <p:nvPr/>
        </p:nvSpPr>
        <p:spPr>
          <a:xfrm>
            <a:off x="7863840" y="603504"/>
            <a:ext cx="3639312" cy="292608"/>
          </a:xfrm>
          <a:prstGeom prst="rect">
            <a:avLst/>
          </a:prstGeom>
          <a:noFill/>
        </p:spPr>
        <p:txBody>
          <a:bodyPr wrap="square" lIns="0" rIns="0" tIns="0" bIns="0" anchor="t"/>
          <a:lstStyle/>
          <a:p>
            <a:pPr algn="r">
              <a:lnSpc>
                <a:spcPct val="112000"/>
              </a:lnSpc>
              <a:spcBef>
                <a:spcPts val="0"/>
              </a:spcBef>
              <a:spcAft>
                <a:spcPts val="0"/>
              </a:spcAft>
            </a:pPr>
            <a:r>
              <a:rPr sz="1200" b="1">
                <a:solidFill>
                  <a:srgbClr val="94A3B8"/>
                </a:solidFill>
                <a:latin typeface="Arial"/>
                <a:ea typeface="PingFang SC"/>
              </a:rPr>
              <a:t>闫佳玉</a:t>
            </a:r>
          </a:p>
        </p:txBody>
      </p:sp>
      <p:sp>
        <p:nvSpPr>
          <p:cNvPr id="9" name="TextBox 8"/>
          <p:cNvSpPr txBox="1"/>
          <p:nvPr/>
        </p:nvSpPr>
        <p:spPr>
          <a:xfrm>
            <a:off x="658368" y="1874519"/>
            <a:ext cx="9784080" cy="1554480"/>
          </a:xfrm>
          <a:prstGeom prst="rect">
            <a:avLst/>
          </a:prstGeom>
          <a:noFill/>
        </p:spPr>
        <p:txBody>
          <a:bodyPr wrap="square" lIns="0" rIns="0" tIns="0" bIns="0" anchor="t"/>
          <a:lstStyle/>
          <a:p>
            <a:pPr algn="l">
              <a:lnSpc>
                <a:spcPct val="108000"/>
              </a:lnSpc>
              <a:spcBef>
                <a:spcPts val="0"/>
              </a:spcBef>
              <a:spcAft>
                <a:spcPts val="0"/>
              </a:spcAft>
            </a:pPr>
            <a:r>
              <a:rPr sz="3400" b="1">
                <a:solidFill>
                  <a:srgbClr val="FFFFFF"/>
                </a:solidFill>
                <a:latin typeface="Arial"/>
                <a:ea typeface="PingFang SC"/>
              </a:rPr>
              <a:t>一个可复现的项目，也必须诚实标注它还不能回答什么</a:t>
            </a:r>
          </a:p>
        </p:txBody>
      </p:sp>
      <p:sp>
        <p:nvSpPr>
          <p:cNvPr id="10" name="Rectangle 9"/>
          <p:cNvSpPr/>
          <p:nvPr/>
        </p:nvSpPr>
        <p:spPr>
          <a:xfrm>
            <a:off x="658368" y="3401568"/>
            <a:ext cx="1463040" cy="45720"/>
          </a:xfrm>
          <a:prstGeom prst="rect">
            <a:avLst/>
          </a:prstGeom>
          <a:gradFill rotWithShape="1">
            <a:gsLst>
              <a:gs pos="0">
                <a:srgbClr val="38BDF8"/>
              </a:gs>
              <a:gs pos="100000">
                <a:srgbClr val="8B5CF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639312"/>
            <a:ext cx="9052560" cy="1051560"/>
          </a:xfrm>
          <a:prstGeom prst="rect">
            <a:avLst/>
          </a:prstGeom>
          <a:noFill/>
        </p:spPr>
        <p:txBody>
          <a:bodyPr wrap="square" lIns="0" rIns="0" tIns="0" bIns="0" anchor="t"/>
          <a:lstStyle/>
          <a:p>
            <a:pPr algn="l">
              <a:lnSpc>
                <a:spcPct val="124000"/>
              </a:lnSpc>
              <a:spcBef>
                <a:spcPts val="0"/>
              </a:spcBef>
              <a:spcAft>
                <a:spcPts val="0"/>
              </a:spcAft>
            </a:pPr>
            <a:r>
              <a:rPr sz="1800" b="0">
                <a:solidFill>
                  <a:srgbClr val="94A3B8"/>
                </a:solidFill>
                <a:latin typeface="Arial"/>
                <a:ea typeface="PingFang SC"/>
              </a:rPr>
              <a:t>下一版将加入空间粒度、生命周期边界、敏感性分析与交互式探索，把年度趋势推进到可决策的系统研究。</a:t>
            </a:r>
          </a:p>
        </p:txBody>
      </p:sp>
      <p:sp>
        <p:nvSpPr>
          <p:cNvPr id="12" name="Rounded Rectangle 11"/>
          <p:cNvSpPr/>
          <p:nvPr/>
        </p:nvSpPr>
        <p:spPr>
          <a:xfrm>
            <a:off x="658368" y="5870448"/>
            <a:ext cx="2990088" cy="402336"/>
          </a:xfrm>
          <a:prstGeom prst="roundRect">
            <a:avLst>
              <a:gd name="adj" fmla="val 40000"/>
            </a:avLst>
          </a:prstGeom>
          <a:solidFill>
            <a:srgbClr val="072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 y="6044184"/>
            <a:ext cx="82296" cy="82296"/>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5870448"/>
            <a:ext cx="2478024" cy="402336"/>
          </a:xfrm>
          <a:prstGeom prst="rect">
            <a:avLst/>
          </a:prstGeom>
          <a:noFill/>
        </p:spPr>
        <p:txBody>
          <a:bodyPr wrap="square" lIns="0" rIns="0" tIns="0" bIns="0" anchor="ctr"/>
          <a:lstStyle/>
          <a:p>
            <a:pPr algn="l">
              <a:lnSpc>
                <a:spcPct val="112000"/>
              </a:lnSpc>
              <a:spcBef>
                <a:spcPts val="0"/>
              </a:spcBef>
              <a:spcAft>
                <a:spcPts val="0"/>
              </a:spcAft>
            </a:pPr>
            <a:r>
              <a:rPr sz="1100" b="1">
                <a:solidFill>
                  <a:srgbClr val="FFFFFF"/>
                </a:solidFill>
                <a:latin typeface="Arial"/>
                <a:ea typeface="PingFang SC"/>
              </a:rPr>
              <a:t>Research Mindset</a:t>
            </a:r>
          </a:p>
        </p:txBody>
      </p:sp>
      <p:sp>
        <p:nvSpPr>
          <p:cNvPr id="15" name="Rounded Rectangle 14"/>
          <p:cNvSpPr/>
          <p:nvPr/>
        </p:nvSpPr>
        <p:spPr>
          <a:xfrm>
            <a:off x="3776472" y="5870448"/>
            <a:ext cx="2834640" cy="402336"/>
          </a:xfrm>
          <a:prstGeom prst="roundRect">
            <a:avLst>
              <a:gd name="adj" fmla="val 40000"/>
            </a:avLst>
          </a:prstGeom>
          <a:solidFill>
            <a:srgbClr val="252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995928" y="6044184"/>
            <a:ext cx="82296" cy="82296"/>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78808" y="5870448"/>
            <a:ext cx="2322576" cy="402336"/>
          </a:xfrm>
          <a:prstGeom prst="rect">
            <a:avLst/>
          </a:prstGeom>
          <a:noFill/>
        </p:spPr>
        <p:txBody>
          <a:bodyPr wrap="square" lIns="0" rIns="0" tIns="0" bIns="0" anchor="ctr"/>
          <a:lstStyle/>
          <a:p>
            <a:pPr algn="l">
              <a:lnSpc>
                <a:spcPct val="112000"/>
              </a:lnSpc>
              <a:spcBef>
                <a:spcPts val="0"/>
              </a:spcBef>
              <a:spcAft>
                <a:spcPts val="0"/>
              </a:spcAft>
            </a:pPr>
            <a:r>
              <a:rPr sz="1100" b="1">
                <a:solidFill>
                  <a:srgbClr val="FFFFFF"/>
                </a:solidFill>
                <a:latin typeface="Arial"/>
                <a:ea typeface="PingFang SC"/>
              </a:rPr>
              <a:t>Reproducibility</a:t>
            </a:r>
          </a:p>
        </p:txBody>
      </p:sp>
      <p:sp>
        <p:nvSpPr>
          <p:cNvPr id="18" name="Rounded Rectangle 17"/>
          <p:cNvSpPr/>
          <p:nvPr/>
        </p:nvSpPr>
        <p:spPr>
          <a:xfrm>
            <a:off x="6739128" y="5870448"/>
            <a:ext cx="4544568" cy="402336"/>
          </a:xfrm>
          <a:prstGeom prst="roundRect">
            <a:avLst>
              <a:gd name="adj" fmla="val 40000"/>
            </a:avLst>
          </a:prstGeom>
          <a:solidFill>
            <a:srgbClr val="0A34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958584" y="6044184"/>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41464" y="5870448"/>
            <a:ext cx="4032504" cy="402336"/>
          </a:xfrm>
          <a:prstGeom prst="rect">
            <a:avLst/>
          </a:prstGeom>
          <a:noFill/>
        </p:spPr>
        <p:txBody>
          <a:bodyPr wrap="square" lIns="0" rIns="0" tIns="0" bIns="0" anchor="ctr"/>
          <a:lstStyle/>
          <a:p>
            <a:pPr algn="l">
              <a:lnSpc>
                <a:spcPct val="112000"/>
              </a:lnSpc>
              <a:spcBef>
                <a:spcPts val="0"/>
              </a:spcBef>
              <a:spcAft>
                <a:spcPts val="0"/>
              </a:spcAft>
            </a:pPr>
            <a:r>
              <a:rPr sz="1100" b="1">
                <a:solidFill>
                  <a:srgbClr val="FFFFFF"/>
                </a:solidFill>
                <a:latin typeface="Arial"/>
                <a:ea typeface="PingFang SC"/>
              </a:rPr>
              <a:t>Responsible Interpretation</a:t>
            </a:r>
          </a:p>
        </p:txBody>
      </p:sp>
      <p:sp>
        <p:nvSpPr>
          <p:cNvPr id="21" name="Rounded Rectangle 20"/>
          <p:cNvSpPr/>
          <p:nvPr/>
        </p:nvSpPr>
        <p:spPr>
          <a:xfrm>
            <a:off x="11411712" y="5870448"/>
            <a:ext cx="1901952" cy="402336"/>
          </a:xfrm>
          <a:prstGeom prst="roundRect">
            <a:avLst>
              <a:gd name="adj" fmla="val 40000"/>
            </a:avLst>
          </a:prstGeom>
          <a:solidFill>
            <a:srgbClr val="3C2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631168" y="6044184"/>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14048" y="5870448"/>
            <a:ext cx="1389888" cy="402336"/>
          </a:xfrm>
          <a:prstGeom prst="rect">
            <a:avLst/>
          </a:prstGeom>
          <a:noFill/>
        </p:spPr>
        <p:txBody>
          <a:bodyPr wrap="square" lIns="0" rIns="0" tIns="0" bIns="0" anchor="ctr"/>
          <a:lstStyle/>
          <a:p>
            <a:pPr algn="l">
              <a:lnSpc>
                <a:spcPct val="112000"/>
              </a:lnSpc>
              <a:spcBef>
                <a:spcPts val="0"/>
              </a:spcBef>
              <a:spcAft>
                <a:spcPts val="0"/>
              </a:spcAft>
            </a:pPr>
            <a:r>
              <a:rPr sz="1100" b="1">
                <a:solidFill>
                  <a:srgbClr val="FFFFFF"/>
                </a:solidFill>
                <a:latin typeface="Arial"/>
                <a:ea typeface="PingFang SC"/>
              </a:rPr>
              <a:t>Next Step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